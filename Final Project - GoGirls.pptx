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10287000" cx="18288000"/>
  <p:notesSz cx="6858000" cy="9144000"/>
  <p:embeddedFontLst>
    <p:embeddedFont>
      <p:font typeface="Roboto"/>
      <p:regular r:id="rId30"/>
      <p:bold r:id="rId31"/>
      <p:italic r:id="rId32"/>
      <p:boldItalic r:id="rId33"/>
    </p:embeddedFont>
    <p:embeddedFont>
      <p:font typeface="Amiri"/>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8" roundtripDataSignature="AMtx7mhp21nR8cZlCR+p3qAwnMpoNx0C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7425F4A-E098-4873-A9FF-942C90C0A458}">
  <a:tblStyle styleId="{77425F4A-E098-4873-A9FF-942C90C0A45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5.xml"/><Relationship Id="rId33" Type="http://schemas.openxmlformats.org/officeDocument/2006/relationships/font" Target="fonts/Roboto-boldItalic.fntdata"/><Relationship Id="rId10" Type="http://schemas.openxmlformats.org/officeDocument/2006/relationships/slide" Target="slides/slide4.xml"/><Relationship Id="rId32" Type="http://schemas.openxmlformats.org/officeDocument/2006/relationships/font" Target="fonts/Roboto-italic.fntdata"/><Relationship Id="rId13" Type="http://schemas.openxmlformats.org/officeDocument/2006/relationships/slide" Target="slides/slide7.xml"/><Relationship Id="rId35" Type="http://schemas.openxmlformats.org/officeDocument/2006/relationships/font" Target="fonts/Amiri-bold.fntdata"/><Relationship Id="rId12" Type="http://schemas.openxmlformats.org/officeDocument/2006/relationships/slide" Target="slides/slide6.xml"/><Relationship Id="rId34" Type="http://schemas.openxmlformats.org/officeDocument/2006/relationships/font" Target="fonts/Amiri-regular.fntdata"/><Relationship Id="rId15" Type="http://schemas.openxmlformats.org/officeDocument/2006/relationships/slide" Target="slides/slide9.xml"/><Relationship Id="rId37" Type="http://schemas.openxmlformats.org/officeDocument/2006/relationships/font" Target="fonts/Amiri-boldItalic.fntdata"/><Relationship Id="rId14" Type="http://schemas.openxmlformats.org/officeDocument/2006/relationships/slide" Target="slides/slide8.xml"/><Relationship Id="rId36" Type="http://schemas.openxmlformats.org/officeDocument/2006/relationships/font" Target="fonts/Amiri-italic.fntdata"/><Relationship Id="rId17" Type="http://schemas.openxmlformats.org/officeDocument/2006/relationships/slide" Target="slides/slide11.xml"/><Relationship Id="rId16" Type="http://schemas.openxmlformats.org/officeDocument/2006/relationships/slide" Target="slides/slide10.xml"/><Relationship Id="rId38" Type="http://customschemas.google.com/relationships/presentationmetadata" Target="meta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300">
                <a:solidFill>
                  <a:schemeClr val="dk1"/>
                </a:solidFill>
              </a:rPr>
              <a:t>Good afternoon, everyone. Today, we will be presenting our group project on enhancing grocery store marketing using customer segmentation and campaign prediction. My name is Ellie, and I’m joined by Joanne, Joanna, and Tilly.</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t>Here is our agenda today. Firstly, I’ll introduce the dataset and the exploratory data analysis. Then, we’ll show our clustering for customer segmentation, campaign prediction, and finally our recommendation.</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300">
                <a:solidFill>
                  <a:schemeClr val="dk1"/>
                </a:solidFill>
              </a:rPr>
              <a:t>We are a grocery store that sells a wide range of products through multiple channels, both in-store and online. However, we are facing challenges with sales growth. We had a low and inconsistent engagement in our promotional campaigns, making it difficult to optimize marketing strategies. Therefore, we aim to use ML methods and data-driven insights to improve customer engagement, enhance the shopping experience, and ultimately increase sales.</a:t>
            </a:r>
            <a:endParaRPr/>
          </a:p>
        </p:txBody>
      </p:sp>
      <p:sp>
        <p:nvSpPr>
          <p:cNvPr id="112" name="Google Shape;11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3f545acea5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300">
                <a:solidFill>
                  <a:schemeClr val="dk1"/>
                </a:solidFill>
              </a:rPr>
              <a:t>Our dataset consists of four key components: customer information, products spending, which acrosses various categories such as wine and fruit, purchase channels, and their response to promotional campaigns.</a:t>
            </a:r>
            <a:endParaRPr/>
          </a:p>
        </p:txBody>
      </p:sp>
      <p:sp>
        <p:nvSpPr>
          <p:cNvPr id="135" name="Google Shape;135;g33f545acea5_1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358c15f5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sz="1300">
                <a:solidFill>
                  <a:schemeClr val="dk1"/>
                </a:solidFill>
              </a:rPr>
              <a:t>To gain a deeper understanding of our customers, we conducted an exploratory data analysis. Firstly, we observed that in-store purchases are our primary sales channel, accounting for nearly half of all transactions.</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None/>
            </a:pPr>
            <a:r>
              <a:rPr lang="en-US" sz="1300">
                <a:solidFill>
                  <a:schemeClr val="dk1"/>
                </a:solidFill>
              </a:rPr>
              <a:t>The pie charts on the right illustrate two key insights: the </a:t>
            </a:r>
            <a:r>
              <a:rPr b="1" lang="en-US" sz="1300">
                <a:solidFill>
                  <a:schemeClr val="dk1"/>
                </a:solidFill>
              </a:rPr>
              <a:t>Percentage of Customers Accepting at Least One Campaign</a:t>
            </a:r>
            <a:r>
              <a:rPr lang="en-US" sz="1300">
                <a:solidFill>
                  <a:schemeClr val="dk1"/>
                </a:solidFill>
              </a:rPr>
              <a:t> and the</a:t>
            </a:r>
            <a:r>
              <a:rPr b="1" lang="en-US" sz="1300">
                <a:solidFill>
                  <a:schemeClr val="dk1"/>
                </a:solidFill>
              </a:rPr>
              <a:t> average Percentage of Acceptance Across All Campaigns</a:t>
            </a:r>
            <a:r>
              <a:rPr lang="en-US" sz="1300">
                <a:solidFill>
                  <a:schemeClr val="dk1"/>
                </a:solidFill>
              </a:rPr>
              <a:t>. While over 20% of customers responded to at least one promotion, the average acceptance rate for individual campaigns is only 6%.</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a:p>
            <a:pPr indent="0" lvl="0" marL="0" rtl="0" algn="l">
              <a:lnSpc>
                <a:spcPct val="115000"/>
              </a:lnSpc>
              <a:spcBef>
                <a:spcPts val="0"/>
              </a:spcBef>
              <a:spcAft>
                <a:spcPts val="0"/>
              </a:spcAft>
              <a:buNone/>
            </a:pPr>
            <a:r>
              <a:rPr lang="en-US" sz="1300">
                <a:solidFill>
                  <a:schemeClr val="dk1"/>
                </a:solidFill>
              </a:rPr>
              <a:t>This implies that although many customers are open to promotions, they are selective and only engage with offers that </a:t>
            </a:r>
            <a:r>
              <a:rPr b="1" lang="en-US" sz="1300">
                <a:solidFill>
                  <a:schemeClr val="dk1"/>
                </a:solidFill>
              </a:rPr>
              <a:t>align with their specific interests</a:t>
            </a:r>
            <a:r>
              <a:rPr lang="en-US" sz="1300">
                <a:solidFill>
                  <a:schemeClr val="dk1"/>
                </a:solidFill>
              </a:rPr>
              <a:t>. This highlights the need for more targeted and personalized marketing strategies to improve individual campaign effectiveness and overall customer engagement.</a:t>
            </a:r>
            <a:endParaRPr sz="1300">
              <a:solidFill>
                <a:schemeClr val="dk1"/>
              </a:solidFill>
            </a:endParaRPr>
          </a:p>
          <a:p>
            <a:pPr indent="0" lvl="0" marL="0" rtl="0" algn="l">
              <a:lnSpc>
                <a:spcPct val="115000"/>
              </a:lnSpc>
              <a:spcBef>
                <a:spcPts val="0"/>
              </a:spcBef>
              <a:spcAft>
                <a:spcPts val="0"/>
              </a:spcAft>
              <a:buNone/>
            </a:pPr>
            <a:r>
              <a:t/>
            </a:r>
            <a:endParaRPr sz="1300">
              <a:solidFill>
                <a:schemeClr val="dk1"/>
              </a:solidFill>
            </a:endParaRPr>
          </a:p>
        </p:txBody>
      </p:sp>
      <p:sp>
        <p:nvSpPr>
          <p:cNvPr id="169" name="Google Shape;169;g3358c15f51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3f545acea5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g33f545acea5_1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3592dbd1e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g33592dbd1e6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3f91133ea5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300"/>
              <a:t>Now that we’ve grouped our customers using K-Means clustering, let’s take a closer look at who they are</a:t>
            </a:r>
            <a:endParaRPr sz="1300"/>
          </a:p>
          <a:p>
            <a:pPr indent="0" lvl="0" marL="0" rtl="0" algn="l">
              <a:spcBef>
                <a:spcPts val="0"/>
              </a:spcBef>
              <a:spcAft>
                <a:spcPts val="0"/>
              </a:spcAft>
              <a:buNone/>
            </a:pPr>
            <a:r>
              <a:rPr i="1" lang="en-US" sz="1300">
                <a:solidFill>
                  <a:schemeClr val="dk1"/>
                </a:solidFill>
              </a:rPr>
              <a:t>First up, we have </a:t>
            </a:r>
            <a:r>
              <a:rPr b="1" i="1" lang="en-US" sz="1300">
                <a:solidFill>
                  <a:schemeClr val="dk1"/>
                </a:solidFill>
              </a:rPr>
              <a:t>Premium Shoppers</a:t>
            </a:r>
            <a:r>
              <a:rPr i="1" lang="en-US" sz="1300">
                <a:solidFill>
                  <a:schemeClr val="dk1"/>
                </a:solidFill>
              </a:rPr>
              <a:t>. These customers tend to be older, have high incomes, and live in smaller households without kids. They prefer high-quality, premium products like fine wine and gourmet food. Convenience and exclusivity matter to them, and since they already spend more than most, they also tend to be more loyal to brands and stores that meet their expectations."</a:t>
            </a:r>
            <a:endParaRPr i="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500">
                <a:solidFill>
                  <a:schemeClr val="dk1"/>
                </a:solidFill>
              </a:rPr>
              <a:t>Budget-Conscious Young</a:t>
            </a:r>
            <a:endParaRPr b="1"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US" sz="1300">
                <a:solidFill>
                  <a:schemeClr val="dk1"/>
                </a:solidFill>
              </a:rPr>
              <a:t>"Next, we have the </a:t>
            </a:r>
            <a:r>
              <a:rPr b="1" i="1" lang="en-US" sz="1300">
                <a:solidFill>
                  <a:schemeClr val="dk1"/>
                </a:solidFill>
              </a:rPr>
              <a:t>Budget-Conscious Young</a:t>
            </a:r>
            <a:r>
              <a:rPr i="1" lang="en-US" sz="1300">
                <a:solidFill>
                  <a:schemeClr val="dk1"/>
                </a:solidFill>
              </a:rPr>
              <a:t> shoppers. This group is younger, from lower-income households, and often supporting larger families. </a:t>
            </a:r>
            <a:r>
              <a:rPr i="1" lang="en-US" sz="1300">
                <a:solidFill>
                  <a:schemeClr val="dk1"/>
                </a:solidFill>
              </a:rPr>
              <a:t>they’re very price-sensitive. and interestingly, </a:t>
            </a:r>
            <a:r>
              <a:rPr i="1" lang="en-US" sz="1300">
                <a:solidFill>
                  <a:schemeClr val="dk1"/>
                </a:solidFill>
              </a:rPr>
              <a:t>They visit the store </a:t>
            </a:r>
            <a:r>
              <a:rPr b="1" i="1" lang="en-US" sz="1300">
                <a:solidFill>
                  <a:schemeClr val="dk1"/>
                </a:solidFill>
              </a:rPr>
              <a:t>the most but buy the least</a:t>
            </a:r>
            <a:r>
              <a:rPr i="1" lang="en-US" sz="1300">
                <a:solidFill>
                  <a:schemeClr val="dk1"/>
                </a:solidFill>
              </a:rPr>
              <a:t>—. BUT Even though their individual purchases are small, their frequent visits make them a active group."</a:t>
            </a:r>
            <a:endParaRPr i="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500">
                <a:solidFill>
                  <a:schemeClr val="dk1"/>
                </a:solidFill>
              </a:rPr>
              <a:t>Senior Deal Hunters</a:t>
            </a:r>
            <a:endParaRPr b="1"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US" sz="1300">
                <a:solidFill>
                  <a:schemeClr val="dk1"/>
                </a:solidFill>
              </a:rPr>
              <a:t>"Then, we have the </a:t>
            </a:r>
            <a:r>
              <a:rPr b="1" i="1" lang="en-US" sz="1300">
                <a:solidFill>
                  <a:schemeClr val="dk1"/>
                </a:solidFill>
              </a:rPr>
              <a:t>Senior Deal Hunters</a:t>
            </a:r>
            <a:r>
              <a:rPr i="1" lang="en-US" sz="1300">
                <a:solidFill>
                  <a:schemeClr val="dk1"/>
                </a:solidFill>
              </a:rPr>
              <a:t>. These are our oldest customers, with moderate incomes and the largest family sizes. They don’t shop as often, but when they do, they make it count. Instead of frequent small purchases, they love looking for deals and often buy in bulk."</a:t>
            </a:r>
            <a:endParaRPr i="1" sz="13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1500">
                <a:solidFill>
                  <a:schemeClr val="dk1"/>
                </a:solidFill>
              </a:rPr>
              <a:t>Balanced Shoppers</a:t>
            </a:r>
            <a:endParaRPr b="1"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i="1" lang="en-US" sz="1300">
                <a:solidFill>
                  <a:schemeClr val="dk1"/>
                </a:solidFill>
              </a:rPr>
              <a:t>"And finally, we have the </a:t>
            </a:r>
            <a:r>
              <a:rPr b="1" i="1" lang="en-US" sz="1300">
                <a:solidFill>
                  <a:schemeClr val="dk1"/>
                </a:solidFill>
              </a:rPr>
              <a:t>Balanced Shoppers</a:t>
            </a:r>
            <a:r>
              <a:rPr i="1" lang="en-US" sz="1300">
                <a:solidFill>
                  <a:schemeClr val="dk1"/>
                </a:solidFill>
              </a:rPr>
              <a:t>—a middle-ground between all the other groups. These customers are middle-aged, with moderate incomes and mid-sized families. They balance their spending, mixing both essentials and premium products. And they appreciate variety and convenience in their shopping experience."</a:t>
            </a:r>
            <a:endParaRPr i="1" sz="1300">
              <a:solidFill>
                <a:schemeClr val="dk1"/>
              </a:solidFill>
            </a:endParaRPr>
          </a:p>
          <a:p>
            <a:pPr indent="0" lvl="0" marL="0" rtl="0" algn="l">
              <a:spcBef>
                <a:spcPts val="1200"/>
              </a:spcBef>
              <a:spcAft>
                <a:spcPts val="0"/>
              </a:spcAft>
              <a:buNone/>
            </a:pPr>
            <a:r>
              <a:t/>
            </a:r>
            <a:endParaRPr sz="1300"/>
          </a:p>
        </p:txBody>
      </p:sp>
      <p:sp>
        <p:nvSpPr>
          <p:cNvPr id="260" name="Google Shape;260;g33f91133ea5_0_1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3f91133ea5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300"/>
              <a:t>Now that we understand our customer segments, let’s dive into how they interact with different product categories.</a:t>
            </a:r>
            <a:endParaRPr sz="1300"/>
          </a:p>
          <a:p>
            <a:pPr indent="0" lvl="0" marL="0" rtl="0" algn="l">
              <a:spcBef>
                <a:spcPts val="0"/>
              </a:spcBef>
              <a:spcAft>
                <a:spcPts val="0"/>
              </a:spcAft>
              <a:buNone/>
            </a:pPr>
            <a:r>
              <a:t/>
            </a:r>
            <a:endParaRPr sz="1300"/>
          </a:p>
          <a:p>
            <a:pPr indent="-311150" lvl="0" marL="457200" rtl="0" algn="l">
              <a:lnSpc>
                <a:spcPct val="115000"/>
              </a:lnSpc>
              <a:spcBef>
                <a:spcPts val="1200"/>
              </a:spcBef>
              <a:spcAft>
                <a:spcPts val="0"/>
              </a:spcAft>
              <a:buClr>
                <a:schemeClr val="dk1"/>
              </a:buClr>
              <a:buSzPts val="1300"/>
              <a:buChar char="●"/>
            </a:pPr>
            <a:r>
              <a:rPr b="1" lang="en-US" sz="1300">
                <a:solidFill>
                  <a:schemeClr val="dk1"/>
                </a:solidFill>
              </a:rPr>
              <a:t>Premium Shoppers</a:t>
            </a:r>
            <a:r>
              <a:rPr lang="en-US" sz="1300">
                <a:solidFill>
                  <a:schemeClr val="dk1"/>
                </a:solidFill>
              </a:rPr>
              <a:t> and </a:t>
            </a:r>
            <a:r>
              <a:rPr b="1" lang="en-US" sz="1300">
                <a:solidFill>
                  <a:schemeClr val="dk1"/>
                </a:solidFill>
              </a:rPr>
              <a:t>Balanced Shoppers</a:t>
            </a:r>
            <a:r>
              <a:rPr lang="en-US" sz="1300">
                <a:solidFill>
                  <a:schemeClr val="dk1"/>
                </a:solidFill>
              </a:rPr>
              <a:t> tend to have a </a:t>
            </a:r>
            <a:r>
              <a:rPr b="1" lang="en-US" sz="1300">
                <a:solidFill>
                  <a:schemeClr val="dk1"/>
                </a:solidFill>
              </a:rPr>
              <a:t>mixed basket</a:t>
            </a:r>
            <a:r>
              <a:rPr lang="en-US" sz="1300">
                <a:solidFill>
                  <a:schemeClr val="dk1"/>
                </a:solidFill>
              </a:rPr>
              <a:t>—they’re picking up both everyday essentials and higher-end products, with a clear preference for things like </a:t>
            </a:r>
            <a:r>
              <a:rPr b="1" lang="en-US" sz="1300">
                <a:solidFill>
                  <a:schemeClr val="dk1"/>
                </a:solidFill>
              </a:rPr>
              <a:t>wine and meat</a:t>
            </a:r>
            <a:r>
              <a:rPr lang="en-US" sz="1300">
                <a:solidFill>
                  <a:schemeClr val="dk1"/>
                </a:solidFill>
              </a:rPr>
              <a:t>.</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US" sz="1300">
                <a:solidFill>
                  <a:schemeClr val="dk1"/>
                </a:solidFill>
              </a:rPr>
              <a:t>On the other hand, </a:t>
            </a:r>
            <a:r>
              <a:rPr b="1" lang="en-US" sz="1300">
                <a:solidFill>
                  <a:schemeClr val="dk1"/>
                </a:solidFill>
              </a:rPr>
              <a:t>Budget-Conscious Young</a:t>
            </a:r>
            <a:r>
              <a:rPr lang="en-US" sz="1300">
                <a:solidFill>
                  <a:schemeClr val="dk1"/>
                </a:solidFill>
              </a:rPr>
              <a:t> and </a:t>
            </a:r>
            <a:r>
              <a:rPr b="1" lang="en-US" sz="1300">
                <a:solidFill>
                  <a:schemeClr val="dk1"/>
                </a:solidFill>
              </a:rPr>
              <a:t>Senior Deal Hunters</a:t>
            </a:r>
            <a:r>
              <a:rPr lang="en-US" sz="1300">
                <a:solidFill>
                  <a:schemeClr val="dk1"/>
                </a:solidFill>
              </a:rPr>
              <a:t> are more </a:t>
            </a:r>
            <a:r>
              <a:rPr b="1" lang="en-US" sz="1300">
                <a:solidFill>
                  <a:schemeClr val="dk1"/>
                </a:solidFill>
              </a:rPr>
              <a:t>focused on the basics</a:t>
            </a:r>
            <a:r>
              <a:rPr lang="en-US" sz="1300">
                <a:solidFill>
                  <a:schemeClr val="dk1"/>
                </a:solidFill>
              </a:rPr>
              <a:t>, spending as little as possible on premium items</a:t>
            </a:r>
            <a:endParaRPr sz="1300">
              <a:solidFill>
                <a:schemeClr val="dk1"/>
              </a:solidFill>
            </a:endParaRPr>
          </a:p>
          <a:p>
            <a:pPr indent="0" lvl="0" marL="0" rtl="0" algn="l">
              <a:lnSpc>
                <a:spcPct val="115000"/>
              </a:lnSpc>
              <a:spcBef>
                <a:spcPts val="1200"/>
              </a:spcBef>
              <a:spcAft>
                <a:spcPts val="0"/>
              </a:spcAft>
              <a:buNone/>
            </a:pPr>
            <a:r>
              <a:rPr lang="en-US" sz="1300">
                <a:solidFill>
                  <a:schemeClr val="dk1"/>
                </a:solidFill>
              </a:rPr>
              <a:t>So while some shoppers enjoy indulging in high-quality products, others are making every dollar count. This difference really shapes how we think about product positioning</a:t>
            </a:r>
            <a:endParaRPr sz="1300">
              <a:solidFill>
                <a:schemeClr val="dk1"/>
              </a:solidFill>
            </a:endParaRPr>
          </a:p>
          <a:p>
            <a:pPr indent="0" lvl="0" marL="0" rtl="0" algn="l">
              <a:lnSpc>
                <a:spcPct val="115000"/>
              </a:lnSpc>
              <a:spcBef>
                <a:spcPts val="1200"/>
              </a:spcBef>
              <a:spcAft>
                <a:spcPts val="0"/>
              </a:spcAft>
              <a:buNone/>
            </a:pPr>
            <a:r>
              <a:t/>
            </a:r>
            <a:endParaRPr sz="1300">
              <a:solidFill>
                <a:schemeClr val="dk1"/>
              </a:solidFill>
            </a:endParaRPr>
          </a:p>
          <a:p>
            <a:pPr indent="0" lvl="0" marL="0" rtl="0" algn="l">
              <a:spcBef>
                <a:spcPts val="1200"/>
              </a:spcBef>
              <a:spcAft>
                <a:spcPts val="0"/>
              </a:spcAft>
              <a:buNone/>
            </a:pPr>
            <a:r>
              <a:t/>
            </a:r>
            <a:endParaRPr sz="1300"/>
          </a:p>
        </p:txBody>
      </p:sp>
      <p:sp>
        <p:nvSpPr>
          <p:cNvPr id="308" name="Google Shape;308;g33f91133ea5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3f91133ea5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US" sz="1300">
                <a:solidFill>
                  <a:schemeClr val="dk1"/>
                </a:solidFill>
              </a:rPr>
              <a:t>*"Price sensitivity also varies across our customer groups:</a:t>
            </a:r>
            <a:endParaRPr b="1" sz="1300">
              <a:solidFill>
                <a:schemeClr val="dk1"/>
              </a:solidFill>
            </a:endParaRPr>
          </a:p>
          <a:p>
            <a:pPr indent="0" lvl="0" marL="0" rtl="0" algn="l">
              <a:spcBef>
                <a:spcPts val="1200"/>
              </a:spcBef>
              <a:spcAft>
                <a:spcPts val="0"/>
              </a:spcAft>
              <a:buNone/>
            </a:pPr>
            <a:r>
              <a:rPr b="1" lang="en-US" sz="1300">
                <a:solidFill>
                  <a:schemeClr val="dk1"/>
                </a:solidFill>
              </a:rPr>
              <a:t>Premium Shoppers</a:t>
            </a:r>
            <a:r>
              <a:rPr lang="en-US" sz="1300">
                <a:solidFill>
                  <a:schemeClr val="dk1"/>
                </a:solidFill>
              </a:rPr>
              <a:t> have </a:t>
            </a:r>
            <a:r>
              <a:rPr b="1" lang="en-US" sz="1300">
                <a:solidFill>
                  <a:schemeClr val="dk1"/>
                </a:solidFill>
              </a:rPr>
              <a:t>the highest income and spending</a:t>
            </a:r>
            <a:r>
              <a:rPr lang="en-US" sz="1300">
                <a:solidFill>
                  <a:schemeClr val="dk1"/>
                </a:solidFill>
              </a:rPr>
              <a:t>, meaning they’re less sensitive to price changes.</a:t>
            </a:r>
            <a:endParaRPr sz="1300">
              <a:solidFill>
                <a:schemeClr val="dk1"/>
              </a:solidFill>
            </a:endParaRPr>
          </a:p>
          <a:p>
            <a:pPr indent="0" lvl="0" marL="0" rtl="0" algn="l">
              <a:spcBef>
                <a:spcPts val="0"/>
              </a:spcBef>
              <a:spcAft>
                <a:spcPts val="0"/>
              </a:spcAft>
              <a:buNone/>
            </a:pPr>
            <a:r>
              <a:rPr b="1" lang="en-US" sz="1300">
                <a:solidFill>
                  <a:schemeClr val="dk1"/>
                </a:solidFill>
              </a:rPr>
              <a:t>Budget-Conscious Young</a:t>
            </a:r>
            <a:r>
              <a:rPr lang="en-US" sz="1300">
                <a:solidFill>
                  <a:schemeClr val="dk1"/>
                </a:solidFill>
              </a:rPr>
              <a:t> shoppers are completely the opposite. tehy are </a:t>
            </a:r>
            <a:r>
              <a:rPr b="1" lang="en-US" sz="1300">
                <a:solidFill>
                  <a:schemeClr val="dk1"/>
                </a:solidFill>
              </a:rPr>
              <a:t>the most price-sensitive</a:t>
            </a:r>
            <a:r>
              <a:rPr lang="en-US" sz="1300">
                <a:solidFill>
                  <a:schemeClr val="dk1"/>
                </a:solidFill>
              </a:rPr>
              <a:t>, carefully considering every purchase.</a:t>
            </a:r>
            <a:br>
              <a:rPr lang="en-US" sz="1300">
                <a:solidFill>
                  <a:schemeClr val="dk1"/>
                </a:solidFill>
              </a:rPr>
            </a:br>
            <a:r>
              <a:rPr b="1" lang="en-US" sz="1300">
                <a:solidFill>
                  <a:schemeClr val="dk1"/>
                </a:solidFill>
              </a:rPr>
              <a:t>Senior Deal Hunters</a:t>
            </a:r>
            <a:r>
              <a:rPr lang="en-US" sz="1300">
                <a:solidFill>
                  <a:schemeClr val="dk1"/>
                </a:solidFill>
              </a:rPr>
              <a:t> have </a:t>
            </a:r>
            <a:r>
              <a:rPr b="1" lang="en-US" sz="1300">
                <a:solidFill>
                  <a:schemeClr val="dk1"/>
                </a:solidFill>
              </a:rPr>
              <a:t>moderate incomes</a:t>
            </a:r>
            <a:r>
              <a:rPr lang="en-US" sz="1300">
                <a:solidFill>
                  <a:schemeClr val="dk1"/>
                </a:solidFill>
              </a:rPr>
              <a:t>, but they’re all about </a:t>
            </a:r>
            <a:r>
              <a:rPr b="1" lang="en-US" sz="1300">
                <a:solidFill>
                  <a:schemeClr val="dk1"/>
                </a:solidFill>
              </a:rPr>
              <a:t>getting the most for their money</a:t>
            </a:r>
            <a:r>
              <a:rPr lang="en-US" sz="1300">
                <a:solidFill>
                  <a:schemeClr val="dk1"/>
                </a:solidFill>
              </a:rPr>
              <a:t>, so they tend to buy only when they see a good deal</a:t>
            </a:r>
            <a:endParaRPr sz="1300">
              <a:solidFill>
                <a:schemeClr val="dk1"/>
              </a:solidFill>
            </a:endParaRPr>
          </a:p>
          <a:p>
            <a:pPr indent="0" lvl="0" marL="0" rtl="0" algn="l">
              <a:spcBef>
                <a:spcPts val="0"/>
              </a:spcBef>
              <a:spcAft>
                <a:spcPts val="0"/>
              </a:spcAft>
              <a:buNone/>
            </a:pPr>
            <a:r>
              <a:rPr b="1" lang="en-US" sz="1300">
                <a:solidFill>
                  <a:schemeClr val="dk1"/>
                </a:solidFill>
              </a:rPr>
              <a:t>Balanced Shoppers</a:t>
            </a:r>
            <a:r>
              <a:rPr lang="en-US" sz="1300">
                <a:solidFill>
                  <a:schemeClr val="dk1"/>
                </a:solidFill>
              </a:rPr>
              <a:t> fall somewhere in between, with </a:t>
            </a:r>
            <a:r>
              <a:rPr b="1" lang="en-US" sz="1300">
                <a:solidFill>
                  <a:schemeClr val="dk1"/>
                </a:solidFill>
              </a:rPr>
              <a:t>moderate income and spending</a:t>
            </a:r>
            <a:r>
              <a:rPr lang="en-US" sz="1300">
                <a:solidFill>
                  <a:schemeClr val="dk1"/>
                </a:solidFill>
              </a:rPr>
              <a:t>, making them more flexible with their purchasing decisions.</a:t>
            </a:r>
            <a:endParaRPr sz="1300">
              <a:solidFill>
                <a:schemeClr val="dk1"/>
              </a:solidFill>
            </a:endParaRPr>
          </a:p>
        </p:txBody>
      </p:sp>
      <p:sp>
        <p:nvSpPr>
          <p:cNvPr id="335" name="Google Shape;335;g33f91133ea5_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3f91133ea5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When it comes to promotions, some groups jump at the chance, while others barely notice.</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Premium Shoppers and Balanced Shoppers engage with promotions at a moderate level, around </a:t>
            </a:r>
            <a:r>
              <a:rPr b="1" lang="en-US" sz="1300">
                <a:solidFill>
                  <a:schemeClr val="dk1"/>
                </a:solidFill>
              </a:rPr>
              <a:t>20% and 10%</a:t>
            </a:r>
            <a:r>
              <a:rPr lang="en-US" sz="1300">
                <a:solidFill>
                  <a:schemeClr val="dk1"/>
                </a:solidFill>
              </a:rPr>
              <a:t>, respectively.</a:t>
            </a:r>
            <a:br>
              <a:rPr lang="en-US" sz="1300">
                <a:solidFill>
                  <a:schemeClr val="dk1"/>
                </a:solidFill>
              </a:rPr>
            </a:br>
            <a:r>
              <a:rPr lang="en-US" sz="1300">
                <a:solidFill>
                  <a:schemeClr val="dk1"/>
                </a:solidFill>
              </a:rPr>
              <a:t> Meanwhile, </a:t>
            </a:r>
            <a:r>
              <a:rPr b="1" lang="en-US" sz="1300">
                <a:solidFill>
                  <a:schemeClr val="dk1"/>
                </a:solidFill>
              </a:rPr>
              <a:t>Budget-Conscious Young</a:t>
            </a:r>
            <a:r>
              <a:rPr lang="en-US" sz="1300">
                <a:solidFill>
                  <a:schemeClr val="dk1"/>
                </a:solidFill>
              </a:rPr>
              <a:t> and </a:t>
            </a:r>
            <a:r>
              <a:rPr b="1" lang="en-US" sz="1300">
                <a:solidFill>
                  <a:schemeClr val="dk1"/>
                </a:solidFill>
              </a:rPr>
              <a:t>Senior Deal Hunters</a:t>
            </a:r>
            <a:r>
              <a:rPr lang="en-US" sz="1300">
                <a:solidFill>
                  <a:schemeClr val="dk1"/>
                </a:solidFill>
              </a:rPr>
              <a:t>—who are the ones we’d expect to care most about discounts—actually respond the least, at </a:t>
            </a:r>
            <a:r>
              <a:rPr b="1" lang="en-US" sz="1300">
                <a:solidFill>
                  <a:schemeClr val="dk1"/>
                </a:solidFill>
              </a:rPr>
              <a:t>5% or lower</a:t>
            </a:r>
            <a:r>
              <a:rPr lang="en-US" sz="1300">
                <a:solidFill>
                  <a:schemeClr val="dk1"/>
                </a:solidFill>
              </a:rPr>
              <a:t>.</a:t>
            </a:r>
            <a:endParaRPr sz="1300">
              <a:solidFill>
                <a:schemeClr val="dk1"/>
              </a:solidFill>
            </a:endParaRPr>
          </a:p>
          <a:p>
            <a:pPr indent="0" lvl="0" marL="0" rtl="0" algn="l">
              <a:lnSpc>
                <a:spcPct val="115000"/>
              </a:lnSpc>
              <a:spcBef>
                <a:spcPts val="1200"/>
              </a:spcBef>
              <a:spcAft>
                <a:spcPts val="0"/>
              </a:spcAft>
              <a:buNone/>
            </a:pPr>
            <a:r>
              <a:rPr lang="en-US" sz="1300">
                <a:solidFill>
                  <a:schemeClr val="dk1"/>
                </a:solidFill>
              </a:rPr>
              <a:t>At first, this seems surprising, but it makes sense. These shoppers </a:t>
            </a:r>
            <a:r>
              <a:rPr b="1" lang="en-US" sz="1300">
                <a:solidFill>
                  <a:schemeClr val="dk1"/>
                </a:solidFill>
              </a:rPr>
              <a:t>aren’t waiting for promotions</a:t>
            </a:r>
            <a:r>
              <a:rPr lang="en-US" sz="1300">
                <a:solidFill>
                  <a:schemeClr val="dk1"/>
                </a:solidFill>
              </a:rPr>
              <a:t>—they’re already hunting for low prices on their own. </a:t>
            </a:r>
            <a:endParaRPr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But here comes opportunity: </a:t>
            </a:r>
            <a:r>
              <a:rPr b="1" lang="en-US" sz="1300">
                <a:solidFill>
                  <a:schemeClr val="dk1"/>
                </a:solidFill>
              </a:rPr>
              <a:t>this low engagement doesn’t mean they’re uninterested in discounts—it just means our current promotions might not be reaching them effectively</a:t>
            </a:r>
            <a:r>
              <a:rPr lang="en-US" sz="1300">
                <a:solidFill>
                  <a:schemeClr val="dk1"/>
                </a:solidFill>
              </a:rPr>
              <a:t>. There’s a huge potential to refine our approach and create promotions that truly capture their attention and drive engagement.</a:t>
            </a:r>
            <a:endParaRPr sz="1300">
              <a:solidFill>
                <a:schemeClr val="dk1"/>
              </a:solidFill>
            </a:endParaRPr>
          </a:p>
          <a:p>
            <a:pPr indent="0" lvl="0" marL="0" rtl="0" algn="l">
              <a:spcBef>
                <a:spcPts val="1200"/>
              </a:spcBef>
              <a:spcAft>
                <a:spcPts val="0"/>
              </a:spcAft>
              <a:buNone/>
            </a:pPr>
            <a:r>
              <a:t/>
            </a:r>
            <a:endParaRPr sz="1300"/>
          </a:p>
        </p:txBody>
      </p:sp>
      <p:sp>
        <p:nvSpPr>
          <p:cNvPr id="362" name="Google Shape;362;g33f91133ea5_0_1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3f91133ea5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300">
                <a:solidFill>
                  <a:schemeClr val="dk1"/>
                </a:solidFill>
              </a:rPr>
              <a:t>And finally, where do these shoppers prefer to buy?</a:t>
            </a:r>
            <a:endParaRPr sz="1300">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US" sz="1300">
                <a:solidFill>
                  <a:schemeClr val="dk1"/>
                </a:solidFill>
              </a:rPr>
              <a:t>Premium Shoppers</a:t>
            </a:r>
            <a:r>
              <a:rPr lang="en-US" sz="1300">
                <a:solidFill>
                  <a:schemeClr val="dk1"/>
                </a:solidFill>
              </a:rPr>
              <a:t> love shopping through </a:t>
            </a:r>
            <a:r>
              <a:rPr b="1" lang="en-US" sz="1300">
                <a:solidFill>
                  <a:schemeClr val="dk1"/>
                </a:solidFill>
              </a:rPr>
              <a:t>catalogs</a:t>
            </a:r>
            <a:r>
              <a:rPr lang="en-US" sz="1300">
                <a:solidFill>
                  <a:schemeClr val="dk1"/>
                </a:solidFill>
              </a:rPr>
              <a:t>, which suggests they enjoy a more </a:t>
            </a:r>
            <a:r>
              <a:rPr b="1" lang="en-US" sz="1300">
                <a:solidFill>
                  <a:schemeClr val="dk1"/>
                </a:solidFill>
              </a:rPr>
              <a:t>personalized, high-end shopping experience</a:t>
            </a:r>
            <a:r>
              <a:rPr lang="en-US" sz="1300">
                <a:solidFill>
                  <a:schemeClr val="dk1"/>
                </a:solidFill>
              </a:rPr>
              <a:t>.</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US" sz="1300">
                <a:solidFill>
                  <a:schemeClr val="dk1"/>
                </a:solidFill>
              </a:rPr>
              <a:t>Budget-Conscious Young</a:t>
            </a:r>
            <a:r>
              <a:rPr lang="en-US" sz="1300">
                <a:solidFill>
                  <a:schemeClr val="dk1"/>
                </a:solidFill>
              </a:rPr>
              <a:t> and </a:t>
            </a:r>
            <a:r>
              <a:rPr b="1" lang="en-US" sz="1300">
                <a:solidFill>
                  <a:schemeClr val="dk1"/>
                </a:solidFill>
              </a:rPr>
              <a:t>Senior Deal Hunters</a:t>
            </a:r>
            <a:r>
              <a:rPr lang="en-US" sz="1300">
                <a:solidFill>
                  <a:schemeClr val="dk1"/>
                </a:solidFill>
              </a:rPr>
              <a:t> are all about </a:t>
            </a:r>
            <a:r>
              <a:rPr b="1" lang="en-US" sz="1300">
                <a:solidFill>
                  <a:schemeClr val="dk1"/>
                </a:solidFill>
              </a:rPr>
              <a:t>in-store shopping</a:t>
            </a:r>
            <a:r>
              <a:rPr lang="en-US" sz="1300">
                <a:solidFill>
                  <a:schemeClr val="dk1"/>
                </a:solidFill>
              </a:rPr>
              <a:t>. They want to see the deals for themselves and compare prices in real-time.</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US" sz="1300">
                <a:solidFill>
                  <a:schemeClr val="dk1"/>
                </a:solidFill>
              </a:rPr>
              <a:t>Balanced Shoppers</a:t>
            </a:r>
            <a:r>
              <a:rPr lang="en-US" sz="1300">
                <a:solidFill>
                  <a:schemeClr val="dk1"/>
                </a:solidFill>
              </a:rPr>
              <a:t>, as their name suggests, shop </a:t>
            </a:r>
            <a:r>
              <a:rPr b="1" lang="en-US" sz="1300">
                <a:solidFill>
                  <a:schemeClr val="dk1"/>
                </a:solidFill>
              </a:rPr>
              <a:t>everywhere</a:t>
            </a:r>
            <a:r>
              <a:rPr lang="en-US" sz="1300">
                <a:solidFill>
                  <a:schemeClr val="dk1"/>
                </a:solidFill>
              </a:rPr>
              <a:t>—online, in-store, and through catalogs. They’re the most flexible in terms of shopping habits.</a:t>
            </a:r>
            <a:endParaRPr sz="1300">
              <a:solidFill>
                <a:schemeClr val="dk1"/>
              </a:solidFill>
            </a:endParaRPr>
          </a:p>
          <a:p>
            <a:pPr indent="0" lvl="0" marL="0" rtl="0" algn="l">
              <a:spcBef>
                <a:spcPts val="1200"/>
              </a:spcBef>
              <a:spcAft>
                <a:spcPts val="0"/>
              </a:spcAft>
              <a:buNone/>
            </a:pPr>
            <a:r>
              <a:t/>
            </a:r>
            <a:endParaRPr sz="1300"/>
          </a:p>
        </p:txBody>
      </p:sp>
      <p:sp>
        <p:nvSpPr>
          <p:cNvPr id="389" name="Google Shape;389;g33f91133ea5_0_1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3f545acea5_1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sz="1550">
                <a:solidFill>
                  <a:schemeClr val="dk1"/>
                </a:solidFill>
              </a:rPr>
              <a:t>For example, in cluster 1, Our </a:t>
            </a:r>
            <a:r>
              <a:rPr lang="en-US" sz="1550">
                <a:solidFill>
                  <a:schemeClr val="dk1"/>
                </a:solidFill>
              </a:rPr>
              <a:t>model is </a:t>
            </a:r>
            <a:r>
              <a:rPr b="1" lang="en-US" sz="1550">
                <a:solidFill>
                  <a:schemeClr val="dk1"/>
                </a:solidFill>
              </a:rPr>
              <a:t>96% accurate</a:t>
            </a:r>
            <a:r>
              <a:rPr lang="en-US" sz="1550">
                <a:solidFill>
                  <a:schemeClr val="dk1"/>
                </a:solidFill>
              </a:rPr>
              <a:t> in distinguishing between responders and non-responders.</a:t>
            </a:r>
            <a:endParaRPr sz="15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550">
                <a:solidFill>
                  <a:schemeClr val="dk1"/>
                </a:solidFill>
              </a:rPr>
              <a:t>This is a </a:t>
            </a:r>
            <a:r>
              <a:rPr b="1" lang="en-US" sz="1550">
                <a:solidFill>
                  <a:schemeClr val="dk1"/>
                </a:solidFill>
              </a:rPr>
              <a:t>strong indicator</a:t>
            </a:r>
            <a:r>
              <a:rPr lang="en-US" sz="1550">
                <a:solidFill>
                  <a:schemeClr val="dk1"/>
                </a:solidFill>
              </a:rPr>
              <a:t> of a high-performing model, suitable for real-world deployment.</a:t>
            </a:r>
            <a:endParaRPr sz="155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1550">
                <a:solidFill>
                  <a:schemeClr val="dk1"/>
                </a:solidFill>
              </a:rPr>
              <a:t>We can confidently use this model to target high-response customers, optimizing marketing spend and improving ROI.</a:t>
            </a:r>
            <a:endParaRPr sz="1550">
              <a:solidFill>
                <a:schemeClr val="dk1"/>
              </a:solidFill>
            </a:endParaRPr>
          </a:p>
          <a:p>
            <a:pPr indent="0" lvl="0" marL="0" rtl="0" algn="l">
              <a:spcBef>
                <a:spcPts val="0"/>
              </a:spcBef>
              <a:spcAft>
                <a:spcPts val="0"/>
              </a:spcAft>
              <a:buNone/>
            </a:pPr>
            <a:r>
              <a:t/>
            </a:r>
            <a:endParaRPr b="1" sz="1200">
              <a:solidFill>
                <a:schemeClr val="dk1"/>
              </a:solidFill>
              <a:latin typeface="Roboto"/>
              <a:ea typeface="Roboto"/>
              <a:cs typeface="Roboto"/>
              <a:sym typeface="Roboto"/>
            </a:endParaRPr>
          </a:p>
        </p:txBody>
      </p:sp>
      <p:sp>
        <p:nvSpPr>
          <p:cNvPr id="416" name="Google Shape;416;g33f545acea5_1_1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3f5385c82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g33f5385c820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3f5385c82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g33f5385c820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3f5385c820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g33f5385c820_0_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3f545acea5_1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g33f545acea5_1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3f545acea5_1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g33f545acea5_1_1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33fd9592919_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g33fd9592919_2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3f91133ea5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g33f91133ea5_0_2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359ef02b44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g3359ef02b44_1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359ef02b44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g3359ef02b44_1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359ef02b44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g3359ef02b44_1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0"/>
          <p:cNvSpPr/>
          <p:nvPr>
            <p:ph idx="2" type="pic"/>
          </p:nvPr>
        </p:nvSpPr>
        <p:spPr>
          <a:xfrm>
            <a:off x="1792288" y="612775"/>
            <a:ext cx="5486400" cy="4114800"/>
          </a:xfrm>
          <a:prstGeom prst="rect">
            <a:avLst/>
          </a:prstGeom>
          <a:noFill/>
          <a:ln>
            <a:noFill/>
          </a:ln>
        </p:spPr>
      </p:sp>
      <p:sp>
        <p:nvSpPr>
          <p:cNvPr id="64" name="Google Shape;64;p2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2.png"/><Relationship Id="rId6"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2.png"/><Relationship Id="rId11" Type="http://schemas.openxmlformats.org/officeDocument/2006/relationships/image" Target="../media/image3.jpg"/><Relationship Id="rId10" Type="http://schemas.openxmlformats.org/officeDocument/2006/relationships/image" Target="../media/image4.jpg"/><Relationship Id="rId9" Type="http://schemas.openxmlformats.org/officeDocument/2006/relationships/image" Target="../media/image2.png"/><Relationship Id="rId5" Type="http://schemas.openxmlformats.org/officeDocument/2006/relationships/image" Target="../media/image17.png"/><Relationship Id="rId6" Type="http://schemas.openxmlformats.org/officeDocument/2006/relationships/image" Target="../media/image6.png"/><Relationship Id="rId7" Type="http://schemas.openxmlformats.org/officeDocument/2006/relationships/image" Target="../media/image13.png"/><Relationship Id="rId8"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13.png"/><Relationship Id="rId5" Type="http://schemas.openxmlformats.org/officeDocument/2006/relationships/image" Target="../media/image9.png"/><Relationship Id="rId6" Type="http://schemas.openxmlformats.org/officeDocument/2006/relationships/image" Target="../media/image6.png"/><Relationship Id="rId7"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11.png"/><Relationship Id="rId10" Type="http://schemas.openxmlformats.org/officeDocument/2006/relationships/image" Target="../media/image13.png"/><Relationship Id="rId9" Type="http://schemas.openxmlformats.org/officeDocument/2006/relationships/image" Target="../media/image6.png"/><Relationship Id="rId5" Type="http://schemas.openxmlformats.org/officeDocument/2006/relationships/image" Target="../media/image20.png"/><Relationship Id="rId6" Type="http://schemas.openxmlformats.org/officeDocument/2006/relationships/image" Target="../media/image16.png"/><Relationship Id="rId7" Type="http://schemas.openxmlformats.org/officeDocument/2006/relationships/image" Target="../media/image9.png"/><Relationship Id="rId8"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6.png"/><Relationship Id="rId5" Type="http://schemas.openxmlformats.org/officeDocument/2006/relationships/image" Target="../media/image13.png"/><Relationship Id="rId6" Type="http://schemas.openxmlformats.org/officeDocument/2006/relationships/image" Target="../media/image9.png"/><Relationship Id="rId7"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6.png"/><Relationship Id="rId9" Type="http://schemas.openxmlformats.org/officeDocument/2006/relationships/image" Target="../media/image23.png"/><Relationship Id="rId5" Type="http://schemas.openxmlformats.org/officeDocument/2006/relationships/image" Target="../media/image13.png"/><Relationship Id="rId6" Type="http://schemas.openxmlformats.org/officeDocument/2006/relationships/image" Target="../media/image9.png"/><Relationship Id="rId7" Type="http://schemas.openxmlformats.org/officeDocument/2006/relationships/image" Target="../media/image26.png"/><Relationship Id="rId8"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6.png"/><Relationship Id="rId10" Type="http://schemas.openxmlformats.org/officeDocument/2006/relationships/image" Target="../media/image25.png"/><Relationship Id="rId9" Type="http://schemas.openxmlformats.org/officeDocument/2006/relationships/image" Target="../media/image21.png"/><Relationship Id="rId5" Type="http://schemas.openxmlformats.org/officeDocument/2006/relationships/image" Target="../media/image13.png"/><Relationship Id="rId6" Type="http://schemas.openxmlformats.org/officeDocument/2006/relationships/image" Target="../media/image9.png"/><Relationship Id="rId7" Type="http://schemas.openxmlformats.org/officeDocument/2006/relationships/image" Target="../media/image27.png"/><Relationship Id="rId8" Type="http://schemas.openxmlformats.org/officeDocument/2006/relationships/image" Target="../media/image3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17.png"/><Relationship Id="rId6" Type="http://schemas.openxmlformats.org/officeDocument/2006/relationships/image" Target="../media/image9.png"/><Relationship Id="rId7" Type="http://schemas.openxmlformats.org/officeDocument/2006/relationships/image" Target="../media/image4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17.png"/><Relationship Id="rId6" Type="http://schemas.openxmlformats.org/officeDocument/2006/relationships/image" Target="../media/image9.png"/><Relationship Id="rId7" Type="http://schemas.openxmlformats.org/officeDocument/2006/relationships/image" Target="../media/image4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17.png"/><Relationship Id="rId6" Type="http://schemas.openxmlformats.org/officeDocument/2006/relationships/image" Target="../media/image9.png"/><Relationship Id="rId7" Type="http://schemas.openxmlformats.org/officeDocument/2006/relationships/image" Target="../media/image3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17.png"/><Relationship Id="rId6" Type="http://schemas.openxmlformats.org/officeDocument/2006/relationships/image" Target="../media/image9.png"/><Relationship Id="rId7" Type="http://schemas.openxmlformats.org/officeDocument/2006/relationships/image" Target="../media/image3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6.png"/><Relationship Id="rId10" Type="http://schemas.openxmlformats.org/officeDocument/2006/relationships/image" Target="../media/image29.png"/><Relationship Id="rId9"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9.png"/><Relationship Id="rId7" Type="http://schemas.openxmlformats.org/officeDocument/2006/relationships/image" Target="../media/image30.png"/><Relationship Id="rId8"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6.png"/><Relationship Id="rId10" Type="http://schemas.openxmlformats.org/officeDocument/2006/relationships/image" Target="../media/image37.png"/><Relationship Id="rId9" Type="http://schemas.openxmlformats.org/officeDocument/2006/relationships/image" Target="../media/image34.png"/><Relationship Id="rId5" Type="http://schemas.openxmlformats.org/officeDocument/2006/relationships/image" Target="../media/image13.png"/><Relationship Id="rId6" Type="http://schemas.openxmlformats.org/officeDocument/2006/relationships/image" Target="../media/image9.png"/><Relationship Id="rId7" Type="http://schemas.openxmlformats.org/officeDocument/2006/relationships/image" Target="../media/image31.png"/><Relationship Id="rId8" Type="http://schemas.openxmlformats.org/officeDocument/2006/relationships/image" Target="../media/image3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6.png"/><Relationship Id="rId5" Type="http://schemas.openxmlformats.org/officeDocument/2006/relationships/image" Target="../media/image13.png"/><Relationship Id="rId6"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6.png"/><Relationship Id="rId5" Type="http://schemas.openxmlformats.org/officeDocument/2006/relationships/image" Target="../media/image13.png"/><Relationship Id="rId6" Type="http://schemas.openxmlformats.org/officeDocument/2006/relationships/image" Target="../media/image9.png"/><Relationship Id="rId7" Type="http://schemas.openxmlformats.org/officeDocument/2006/relationships/image" Target="../media/image2.png"/><Relationship Id="rId8"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7.png"/><Relationship Id="rId4" Type="http://schemas.openxmlformats.org/officeDocument/2006/relationships/image" Target="../media/image6.png"/><Relationship Id="rId10" Type="http://schemas.openxmlformats.org/officeDocument/2006/relationships/image" Target="../media/image41.png"/><Relationship Id="rId9" Type="http://schemas.openxmlformats.org/officeDocument/2006/relationships/image" Target="../media/image36.png"/><Relationship Id="rId5" Type="http://schemas.openxmlformats.org/officeDocument/2006/relationships/image" Target="../media/image13.png"/><Relationship Id="rId6" Type="http://schemas.openxmlformats.org/officeDocument/2006/relationships/image" Target="../media/image9.png"/><Relationship Id="rId7" Type="http://schemas.openxmlformats.org/officeDocument/2006/relationships/image" Target="../media/image40.png"/><Relationship Id="rId8"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7.png"/><Relationship Id="rId4" Type="http://schemas.openxmlformats.org/officeDocument/2006/relationships/image" Target="../media/image6.png"/><Relationship Id="rId10" Type="http://schemas.openxmlformats.org/officeDocument/2006/relationships/image" Target="../media/image46.png"/><Relationship Id="rId9" Type="http://schemas.openxmlformats.org/officeDocument/2006/relationships/image" Target="../media/image44.png"/><Relationship Id="rId5" Type="http://schemas.openxmlformats.org/officeDocument/2006/relationships/image" Target="../media/image13.png"/><Relationship Id="rId6" Type="http://schemas.openxmlformats.org/officeDocument/2006/relationships/image" Target="../media/image9.png"/><Relationship Id="rId7" Type="http://schemas.openxmlformats.org/officeDocument/2006/relationships/image" Target="../media/image45.png"/><Relationship Id="rId8" Type="http://schemas.openxmlformats.org/officeDocument/2006/relationships/image" Target="../media/image4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6.png"/><Relationship Id="rId5" Type="http://schemas.openxmlformats.org/officeDocument/2006/relationships/image" Target="../media/image13.png"/><Relationship Id="rId6" Type="http://schemas.openxmlformats.org/officeDocument/2006/relationships/image" Target="../media/image9.png"/><Relationship Id="rId7" Type="http://schemas.openxmlformats.org/officeDocument/2006/relationships/hyperlink" Target="https://docs.google.com/spreadsheets/d/1snVPhKFs-buUIon_h7S3_HFifOqQ-O2oSkzyPTm2LVE/edit?usp=drive_link" TargetMode="External"/><Relationship Id="rId8" Type="http://schemas.openxmlformats.org/officeDocument/2006/relationships/image" Target="../media/image5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7.png"/><Relationship Id="rId4" Type="http://schemas.openxmlformats.org/officeDocument/2006/relationships/image" Target="../media/image6.png"/><Relationship Id="rId10" Type="http://schemas.openxmlformats.org/officeDocument/2006/relationships/image" Target="../media/image48.png"/><Relationship Id="rId9" Type="http://schemas.openxmlformats.org/officeDocument/2006/relationships/image" Target="../media/image49.png"/><Relationship Id="rId5" Type="http://schemas.openxmlformats.org/officeDocument/2006/relationships/image" Target="../media/image13.png"/><Relationship Id="rId6" Type="http://schemas.openxmlformats.org/officeDocument/2006/relationships/image" Target="../media/image9.png"/><Relationship Id="rId7" Type="http://schemas.openxmlformats.org/officeDocument/2006/relationships/hyperlink" Target="https://docs.google.com/spreadsheets/d/1F3KmWcoglkfmJNcTBFIW4pEwhk5vUy5qGL0Qw6lOUuA/edit?usp=drive_link" TargetMode="External"/><Relationship Id="rId8" Type="http://schemas.openxmlformats.org/officeDocument/2006/relationships/image" Target="../media/image5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7.png"/><Relationship Id="rId4" Type="http://schemas.openxmlformats.org/officeDocument/2006/relationships/image" Target="../media/image6.png"/><Relationship Id="rId5" Type="http://schemas.openxmlformats.org/officeDocument/2006/relationships/image" Target="../media/image13.png"/><Relationship Id="rId6" Type="http://schemas.openxmlformats.org/officeDocument/2006/relationships/image" Target="../media/image9.png"/><Relationship Id="rId7" Type="http://schemas.openxmlformats.org/officeDocument/2006/relationships/image" Target="../media/image5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7.png"/><Relationship Id="rId4" Type="http://schemas.openxmlformats.org/officeDocument/2006/relationships/image" Target="../media/image6.png"/><Relationship Id="rId5" Type="http://schemas.openxmlformats.org/officeDocument/2006/relationships/image" Target="../media/image13.png"/><Relationship Id="rId6" Type="http://schemas.openxmlformats.org/officeDocument/2006/relationships/image" Target="../media/image9.png"/><Relationship Id="rId7"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D5732"/>
        </a:solidFill>
      </p:bgPr>
    </p:bg>
    <p:spTree>
      <p:nvGrpSpPr>
        <p:cNvPr id="83" name="Shape 83"/>
        <p:cNvGrpSpPr/>
        <p:nvPr/>
      </p:nvGrpSpPr>
      <p:grpSpPr>
        <a:xfrm>
          <a:off x="0" y="0"/>
          <a:ext cx="0" cy="0"/>
          <a:chOff x="0" y="0"/>
          <a:chExt cx="0" cy="0"/>
        </a:xfrm>
      </p:grpSpPr>
      <p:sp>
        <p:nvSpPr>
          <p:cNvPr id="84" name="Google Shape;84;p1"/>
          <p:cNvSpPr/>
          <p:nvPr/>
        </p:nvSpPr>
        <p:spPr>
          <a:xfrm>
            <a:off x="10756482" y="-294494"/>
            <a:ext cx="10882688" cy="10882688"/>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3">
              <a:alphaModFix/>
            </a:blip>
            <a:stretch>
              <a:fillRect b="0" l="-24998" r="-24998" t="0"/>
            </a:stretch>
          </a:blipFill>
          <a:ln cap="sq" cmpd="sng" w="152400">
            <a:solidFill>
              <a:srgbClr val="FBB603"/>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
          <p:cNvSpPr txBox="1"/>
          <p:nvPr/>
        </p:nvSpPr>
        <p:spPr>
          <a:xfrm>
            <a:off x="2184775" y="2450375"/>
            <a:ext cx="8138700" cy="3842100"/>
          </a:xfrm>
          <a:prstGeom prst="rect">
            <a:avLst/>
          </a:prstGeom>
          <a:noFill/>
          <a:ln>
            <a:noFill/>
          </a:ln>
        </p:spPr>
        <p:txBody>
          <a:bodyPr anchorCtr="0" anchor="t" bIns="0" lIns="0" spcFirstLastPara="1" rIns="0" wrap="square" tIns="0">
            <a:spAutoFit/>
          </a:bodyPr>
          <a:lstStyle/>
          <a:p>
            <a:pPr indent="0" lvl="0" marL="0" marR="0" rtl="0" algn="r">
              <a:lnSpc>
                <a:spcPct val="140002"/>
              </a:lnSpc>
              <a:spcBef>
                <a:spcPts val="0"/>
              </a:spcBef>
              <a:spcAft>
                <a:spcPts val="0"/>
              </a:spcAft>
              <a:buNone/>
            </a:pPr>
            <a:r>
              <a:rPr b="1" lang="en-US" sz="4800">
                <a:solidFill>
                  <a:srgbClr val="EEE3B1"/>
                </a:solidFill>
              </a:rPr>
              <a:t>Enhancing Grocery Store Marketing with </a:t>
            </a:r>
            <a:endParaRPr b="1" sz="4800">
              <a:solidFill>
                <a:srgbClr val="EEE3B1"/>
              </a:solidFill>
            </a:endParaRPr>
          </a:p>
          <a:p>
            <a:pPr indent="0" lvl="0" marL="0" marR="0" rtl="0" algn="r">
              <a:lnSpc>
                <a:spcPct val="140002"/>
              </a:lnSpc>
              <a:spcBef>
                <a:spcPts val="0"/>
              </a:spcBef>
              <a:spcAft>
                <a:spcPts val="0"/>
              </a:spcAft>
              <a:buNone/>
            </a:pPr>
            <a:r>
              <a:rPr b="1" lang="en-US" sz="4800">
                <a:solidFill>
                  <a:srgbClr val="EEE3B1"/>
                </a:solidFill>
              </a:rPr>
              <a:t>Customer Segmentation </a:t>
            </a:r>
            <a:endParaRPr b="1" sz="4800">
              <a:solidFill>
                <a:srgbClr val="EEE3B1"/>
              </a:solidFill>
            </a:endParaRPr>
          </a:p>
          <a:p>
            <a:pPr indent="0" lvl="0" marL="0" marR="0" rtl="0" algn="r">
              <a:lnSpc>
                <a:spcPct val="140002"/>
              </a:lnSpc>
              <a:spcBef>
                <a:spcPts val="0"/>
              </a:spcBef>
              <a:spcAft>
                <a:spcPts val="0"/>
              </a:spcAft>
              <a:buNone/>
            </a:pPr>
            <a:r>
              <a:rPr b="1" lang="en-US" sz="4800">
                <a:solidFill>
                  <a:srgbClr val="EEE3B1"/>
                </a:solidFill>
              </a:rPr>
              <a:t>&amp; </a:t>
            </a:r>
            <a:r>
              <a:rPr b="1" lang="en-US" sz="4800">
                <a:solidFill>
                  <a:srgbClr val="EEE3B1"/>
                </a:solidFill>
              </a:rPr>
              <a:t>Campaign</a:t>
            </a:r>
            <a:r>
              <a:rPr b="1" lang="en-US" sz="4800">
                <a:solidFill>
                  <a:srgbClr val="EEE3B1"/>
                </a:solidFill>
              </a:rPr>
              <a:t> Prediction</a:t>
            </a:r>
            <a:endParaRPr sz="4800"/>
          </a:p>
        </p:txBody>
      </p:sp>
      <p:sp>
        <p:nvSpPr>
          <p:cNvPr id="86" name="Google Shape;86;p1"/>
          <p:cNvSpPr txBox="1"/>
          <p:nvPr/>
        </p:nvSpPr>
        <p:spPr>
          <a:xfrm>
            <a:off x="705275" y="8786075"/>
            <a:ext cx="7480200" cy="432600"/>
          </a:xfrm>
          <a:prstGeom prst="rect">
            <a:avLst/>
          </a:prstGeom>
          <a:noFill/>
          <a:ln>
            <a:noFill/>
          </a:ln>
        </p:spPr>
        <p:txBody>
          <a:bodyPr anchorCtr="0" anchor="t" bIns="0" lIns="0" spcFirstLastPara="1" rIns="0" wrap="square" tIns="0">
            <a:spAutoFit/>
          </a:bodyPr>
          <a:lstStyle/>
          <a:p>
            <a:pPr indent="0" lvl="0" marL="0" marR="0" rtl="0" algn="ctr">
              <a:lnSpc>
                <a:spcPct val="140026"/>
              </a:lnSpc>
              <a:spcBef>
                <a:spcPts val="0"/>
              </a:spcBef>
              <a:spcAft>
                <a:spcPts val="0"/>
              </a:spcAft>
              <a:buNone/>
            </a:pPr>
            <a:r>
              <a:rPr lang="en-US" sz="2811">
                <a:solidFill>
                  <a:srgbClr val="FFFCF0"/>
                </a:solidFill>
                <a:latin typeface="Amiri"/>
                <a:ea typeface="Amiri"/>
                <a:cs typeface="Amiri"/>
                <a:sym typeface="Amiri"/>
              </a:rPr>
              <a:t>Ellie Zou, Joanne Zhou, Joanna Zhou, Tilly Hu</a:t>
            </a:r>
            <a:endParaRPr sz="19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3B1"/>
        </a:solidFill>
      </p:bgPr>
    </p:bg>
    <p:spTree>
      <p:nvGrpSpPr>
        <p:cNvPr id="90" name="Shape 90"/>
        <p:cNvGrpSpPr/>
        <p:nvPr/>
      </p:nvGrpSpPr>
      <p:grpSpPr>
        <a:xfrm>
          <a:off x="0" y="0"/>
          <a:ext cx="0" cy="0"/>
          <a:chOff x="0" y="0"/>
          <a:chExt cx="0" cy="0"/>
        </a:xfrm>
      </p:grpSpPr>
      <p:grpSp>
        <p:nvGrpSpPr>
          <p:cNvPr id="91" name="Google Shape;91;p2"/>
          <p:cNvGrpSpPr/>
          <p:nvPr/>
        </p:nvGrpSpPr>
        <p:grpSpPr>
          <a:xfrm>
            <a:off x="0" y="-108496"/>
            <a:ext cx="18288000" cy="3300855"/>
            <a:chOff x="0" y="-28575"/>
            <a:chExt cx="4816593" cy="869361"/>
          </a:xfrm>
        </p:grpSpPr>
        <p:sp>
          <p:nvSpPr>
            <p:cNvPr id="92" name="Google Shape;92;p2"/>
            <p:cNvSpPr/>
            <p:nvPr/>
          </p:nvSpPr>
          <p:spPr>
            <a:xfrm>
              <a:off x="0" y="0"/>
              <a:ext cx="4816592" cy="840786"/>
            </a:xfrm>
            <a:custGeom>
              <a:rect b="b" l="l" r="r" t="t"/>
              <a:pathLst>
                <a:path extrusionOk="0" h="840786" w="4816592">
                  <a:moveTo>
                    <a:pt x="0" y="0"/>
                  </a:moveTo>
                  <a:lnTo>
                    <a:pt x="4816592" y="0"/>
                  </a:lnTo>
                  <a:lnTo>
                    <a:pt x="4816592" y="840786"/>
                  </a:lnTo>
                  <a:lnTo>
                    <a:pt x="0" y="840786"/>
                  </a:lnTo>
                  <a:close/>
                </a:path>
              </a:pathLst>
            </a:custGeom>
            <a:solidFill>
              <a:srgbClr val="1D5732"/>
            </a:solidFill>
            <a:ln>
              <a:noFill/>
            </a:ln>
          </p:spPr>
        </p:sp>
        <p:sp>
          <p:nvSpPr>
            <p:cNvPr id="93" name="Google Shape;93;p2"/>
            <p:cNvSpPr txBox="1"/>
            <p:nvPr/>
          </p:nvSpPr>
          <p:spPr>
            <a:xfrm>
              <a:off x="0" y="-28575"/>
              <a:ext cx="4816593" cy="869361"/>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4" name="Google Shape;94;p2"/>
          <p:cNvSpPr/>
          <p:nvPr/>
        </p:nvSpPr>
        <p:spPr>
          <a:xfrm rot="1281561">
            <a:off x="15119858" y="-480358"/>
            <a:ext cx="1349684" cy="1391427"/>
          </a:xfrm>
          <a:custGeom>
            <a:rect b="b" l="l" r="r" t="t"/>
            <a:pathLst>
              <a:path extrusionOk="0" h="1391427" w="1349684">
                <a:moveTo>
                  <a:pt x="0" y="0"/>
                </a:moveTo>
                <a:lnTo>
                  <a:pt x="1349684" y="0"/>
                </a:lnTo>
                <a:lnTo>
                  <a:pt x="1349684" y="1391427"/>
                </a:lnTo>
                <a:lnTo>
                  <a:pt x="0" y="1391427"/>
                </a:lnTo>
                <a:lnTo>
                  <a:pt x="0" y="0"/>
                </a:lnTo>
                <a:close/>
              </a:path>
            </a:pathLst>
          </a:custGeom>
          <a:blipFill rotWithShape="1">
            <a:blip r:embed="rId3">
              <a:alphaModFix/>
            </a:blip>
            <a:stretch>
              <a:fillRect b="0" l="0" r="0" t="0"/>
            </a:stretch>
          </a:blipFill>
          <a:ln>
            <a:noFill/>
          </a:ln>
        </p:spPr>
      </p:sp>
      <p:sp>
        <p:nvSpPr>
          <p:cNvPr id="95" name="Google Shape;95;p2"/>
          <p:cNvSpPr/>
          <p:nvPr/>
        </p:nvSpPr>
        <p:spPr>
          <a:xfrm>
            <a:off x="16809683" y="239852"/>
            <a:ext cx="1258008" cy="1289163"/>
          </a:xfrm>
          <a:custGeom>
            <a:rect b="b" l="l" r="r" t="t"/>
            <a:pathLst>
              <a:path extrusionOk="0" h="1289163" w="1258008">
                <a:moveTo>
                  <a:pt x="0" y="0"/>
                </a:moveTo>
                <a:lnTo>
                  <a:pt x="1258007" y="0"/>
                </a:lnTo>
                <a:lnTo>
                  <a:pt x="1258007" y="1289163"/>
                </a:lnTo>
                <a:lnTo>
                  <a:pt x="0" y="1289163"/>
                </a:lnTo>
                <a:lnTo>
                  <a:pt x="0" y="0"/>
                </a:lnTo>
                <a:close/>
              </a:path>
            </a:pathLst>
          </a:custGeom>
          <a:blipFill rotWithShape="1">
            <a:blip r:embed="rId4">
              <a:alphaModFix/>
            </a:blip>
            <a:stretch>
              <a:fillRect b="0" l="0" r="0" t="0"/>
            </a:stretch>
          </a:blipFill>
          <a:ln>
            <a:noFill/>
          </a:ln>
        </p:spPr>
      </p:sp>
      <p:sp>
        <p:nvSpPr>
          <p:cNvPr id="96" name="Google Shape;96;p2"/>
          <p:cNvSpPr/>
          <p:nvPr/>
        </p:nvSpPr>
        <p:spPr>
          <a:xfrm flipH="1" rot="699633">
            <a:off x="14689622" y="1109072"/>
            <a:ext cx="2382231" cy="1560361"/>
          </a:xfrm>
          <a:custGeom>
            <a:rect b="b" l="l" r="r" t="t"/>
            <a:pathLst>
              <a:path extrusionOk="0" h="1560361" w="2382231">
                <a:moveTo>
                  <a:pt x="2382231" y="0"/>
                </a:moveTo>
                <a:lnTo>
                  <a:pt x="0" y="0"/>
                </a:lnTo>
                <a:lnTo>
                  <a:pt x="0" y="1560361"/>
                </a:lnTo>
                <a:lnTo>
                  <a:pt x="2382231" y="1560361"/>
                </a:lnTo>
                <a:lnTo>
                  <a:pt x="2382231" y="0"/>
                </a:lnTo>
                <a:close/>
              </a:path>
            </a:pathLst>
          </a:custGeom>
          <a:blipFill rotWithShape="1">
            <a:blip r:embed="rId5">
              <a:alphaModFix/>
            </a:blip>
            <a:stretch>
              <a:fillRect b="0" l="0" r="0" t="0"/>
            </a:stretch>
          </a:blipFill>
          <a:ln>
            <a:noFill/>
          </a:ln>
        </p:spPr>
      </p:sp>
      <p:sp>
        <p:nvSpPr>
          <p:cNvPr id="97" name="Google Shape;97;p2"/>
          <p:cNvSpPr/>
          <p:nvPr/>
        </p:nvSpPr>
        <p:spPr>
          <a:xfrm>
            <a:off x="17204956" y="1230323"/>
            <a:ext cx="1459264" cy="1962035"/>
          </a:xfrm>
          <a:custGeom>
            <a:rect b="b" l="l" r="r" t="t"/>
            <a:pathLst>
              <a:path extrusionOk="0" h="1962035" w="1459264">
                <a:moveTo>
                  <a:pt x="0" y="0"/>
                </a:moveTo>
                <a:lnTo>
                  <a:pt x="1459264" y="0"/>
                </a:lnTo>
                <a:lnTo>
                  <a:pt x="1459264" y="1962036"/>
                </a:lnTo>
                <a:lnTo>
                  <a:pt x="0" y="1962036"/>
                </a:lnTo>
                <a:lnTo>
                  <a:pt x="0" y="0"/>
                </a:lnTo>
                <a:close/>
              </a:path>
            </a:pathLst>
          </a:custGeom>
          <a:blipFill rotWithShape="1">
            <a:blip r:embed="rId6">
              <a:alphaModFix/>
            </a:blip>
            <a:stretch>
              <a:fillRect b="0" l="0" r="0" t="0"/>
            </a:stretch>
          </a:blipFill>
          <a:ln>
            <a:noFill/>
          </a:ln>
        </p:spPr>
      </p:sp>
      <p:sp>
        <p:nvSpPr>
          <p:cNvPr id="98" name="Google Shape;98;p2"/>
          <p:cNvSpPr txBox="1"/>
          <p:nvPr/>
        </p:nvSpPr>
        <p:spPr>
          <a:xfrm>
            <a:off x="1028700" y="857250"/>
            <a:ext cx="12118500" cy="1416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9200" u="none" cap="none" strike="noStrike">
                <a:solidFill>
                  <a:srgbClr val="FBB603"/>
                </a:solidFill>
                <a:latin typeface="Arial"/>
                <a:ea typeface="Arial"/>
                <a:cs typeface="Arial"/>
                <a:sym typeface="Arial"/>
              </a:rPr>
              <a:t>Content</a:t>
            </a:r>
            <a:endParaRPr/>
          </a:p>
        </p:txBody>
      </p:sp>
      <p:grpSp>
        <p:nvGrpSpPr>
          <p:cNvPr id="99" name="Google Shape;99;p2"/>
          <p:cNvGrpSpPr/>
          <p:nvPr/>
        </p:nvGrpSpPr>
        <p:grpSpPr>
          <a:xfrm>
            <a:off x="438675" y="5568086"/>
            <a:ext cx="17476266" cy="1289185"/>
            <a:chOff x="2577" y="877098"/>
            <a:chExt cx="10553938" cy="917700"/>
          </a:xfrm>
        </p:grpSpPr>
        <p:sp>
          <p:nvSpPr>
            <p:cNvPr id="100" name="Google Shape;100;p2"/>
            <p:cNvSpPr/>
            <p:nvPr/>
          </p:nvSpPr>
          <p:spPr>
            <a:xfrm>
              <a:off x="2577"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3000"/>
            </a:p>
          </p:txBody>
        </p:sp>
        <p:sp>
          <p:nvSpPr>
            <p:cNvPr id="101" name="Google Shape;101;p2"/>
            <p:cNvSpPr txBox="1"/>
            <p:nvPr/>
          </p:nvSpPr>
          <p:spPr>
            <a:xfrm>
              <a:off x="571834" y="1021426"/>
              <a:ext cx="1155900" cy="5910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i="0" lang="en-US" sz="3000" u="none" cap="none" strike="noStrike">
                  <a:solidFill>
                    <a:srgbClr val="1D5732"/>
                  </a:solidFill>
                </a:rPr>
                <a:t>Busine</a:t>
              </a:r>
              <a:r>
                <a:rPr lang="en-US" sz="3000">
                  <a:solidFill>
                    <a:srgbClr val="1D5732"/>
                  </a:solidFill>
                </a:rPr>
                <a:t>s</a:t>
              </a:r>
              <a:r>
                <a:rPr i="0" lang="en-US" sz="3000" u="none" cap="none" strike="noStrike">
                  <a:solidFill>
                    <a:srgbClr val="1D5732"/>
                  </a:solidFill>
                </a:rPr>
                <a:t>s Problem</a:t>
              </a:r>
              <a:endParaRPr i="0" sz="3000" u="none" cap="none" strike="noStrike">
                <a:solidFill>
                  <a:srgbClr val="1D5732"/>
                </a:solidFill>
              </a:endParaRPr>
            </a:p>
          </p:txBody>
        </p:sp>
        <p:sp>
          <p:nvSpPr>
            <p:cNvPr id="102" name="Google Shape;102;p2"/>
            <p:cNvSpPr/>
            <p:nvPr/>
          </p:nvSpPr>
          <p:spPr>
            <a:xfrm>
              <a:off x="2067462"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3000"/>
            </a:p>
          </p:txBody>
        </p:sp>
        <p:sp>
          <p:nvSpPr>
            <p:cNvPr id="103" name="Google Shape;103;p2"/>
            <p:cNvSpPr txBox="1"/>
            <p:nvPr/>
          </p:nvSpPr>
          <p:spPr>
            <a:xfrm>
              <a:off x="2561114" y="972834"/>
              <a:ext cx="1155900" cy="688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i="0" lang="en-US" sz="3000" u="none" cap="none" strike="noStrike">
                  <a:solidFill>
                    <a:srgbClr val="1D5732"/>
                  </a:solidFill>
                </a:rPr>
                <a:t>EDA &amp; Insights</a:t>
              </a:r>
              <a:endParaRPr i="0" sz="3000" u="none" cap="none" strike="noStrike">
                <a:solidFill>
                  <a:srgbClr val="1D5732"/>
                </a:solidFill>
              </a:endParaRPr>
            </a:p>
          </p:txBody>
        </p:sp>
        <p:sp>
          <p:nvSpPr>
            <p:cNvPr id="104" name="Google Shape;104;p2"/>
            <p:cNvSpPr/>
            <p:nvPr/>
          </p:nvSpPr>
          <p:spPr>
            <a:xfrm>
              <a:off x="4132346"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3000"/>
            </a:p>
          </p:txBody>
        </p:sp>
        <p:sp>
          <p:nvSpPr>
            <p:cNvPr id="105" name="Google Shape;105;p2"/>
            <p:cNvSpPr/>
            <p:nvPr/>
          </p:nvSpPr>
          <p:spPr>
            <a:xfrm>
              <a:off x="6197231"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3000"/>
            </a:p>
          </p:txBody>
        </p:sp>
        <p:sp>
          <p:nvSpPr>
            <p:cNvPr id="106" name="Google Shape;106;p2"/>
            <p:cNvSpPr txBox="1"/>
            <p:nvPr/>
          </p:nvSpPr>
          <p:spPr>
            <a:xfrm>
              <a:off x="6668795" y="973848"/>
              <a:ext cx="1489500" cy="688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sz="3000">
                  <a:solidFill>
                    <a:srgbClr val="1D5732"/>
                  </a:solidFill>
                </a:rPr>
                <a:t>Campaign Prediction</a:t>
              </a:r>
              <a:endParaRPr i="0" sz="3000" u="none" cap="none" strike="noStrike">
                <a:solidFill>
                  <a:srgbClr val="1D5732"/>
                </a:solidFill>
              </a:endParaRPr>
            </a:p>
          </p:txBody>
        </p:sp>
        <p:sp>
          <p:nvSpPr>
            <p:cNvPr id="107" name="Google Shape;107;p2"/>
            <p:cNvSpPr/>
            <p:nvPr/>
          </p:nvSpPr>
          <p:spPr>
            <a:xfrm>
              <a:off x="8262115"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3000"/>
            </a:p>
          </p:txBody>
        </p:sp>
        <p:sp>
          <p:nvSpPr>
            <p:cNvPr id="108" name="Google Shape;108;p2"/>
            <p:cNvSpPr txBox="1"/>
            <p:nvPr/>
          </p:nvSpPr>
          <p:spPr>
            <a:xfrm>
              <a:off x="8648985" y="973811"/>
              <a:ext cx="1489500" cy="724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sz="3000">
                  <a:solidFill>
                    <a:srgbClr val="1D5732"/>
                  </a:solidFill>
                </a:rPr>
                <a:t>Recommendaction</a:t>
              </a:r>
              <a:endParaRPr i="0" sz="3000" u="none" cap="none" strike="noStrike">
                <a:solidFill>
                  <a:srgbClr val="1D5732"/>
                </a:solidFill>
              </a:endParaRPr>
            </a:p>
          </p:txBody>
        </p:sp>
        <p:sp>
          <p:nvSpPr>
            <p:cNvPr id="109" name="Google Shape;109;p2"/>
            <p:cNvSpPr txBox="1"/>
            <p:nvPr/>
          </p:nvSpPr>
          <p:spPr>
            <a:xfrm>
              <a:off x="4550363" y="955709"/>
              <a:ext cx="1489500" cy="724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sz="3000">
                  <a:solidFill>
                    <a:srgbClr val="1D5732"/>
                  </a:solidFill>
                </a:rPr>
                <a:t>Clustering &amp; Segmentation</a:t>
              </a:r>
              <a:endParaRPr i="0" sz="3000" u="none" cap="none" strike="noStrike">
                <a:solidFill>
                  <a:srgbClr val="1D5732"/>
                </a:solidFil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3B1"/>
        </a:solidFill>
      </p:bgPr>
    </p:bg>
    <p:spTree>
      <p:nvGrpSpPr>
        <p:cNvPr id="113" name="Shape 113"/>
        <p:cNvGrpSpPr/>
        <p:nvPr/>
      </p:nvGrpSpPr>
      <p:grpSpPr>
        <a:xfrm>
          <a:off x="0" y="0"/>
          <a:ext cx="0" cy="0"/>
          <a:chOff x="0" y="0"/>
          <a:chExt cx="0" cy="0"/>
        </a:xfrm>
      </p:grpSpPr>
      <p:grpSp>
        <p:nvGrpSpPr>
          <p:cNvPr id="114" name="Google Shape;114;p3"/>
          <p:cNvGrpSpPr/>
          <p:nvPr/>
        </p:nvGrpSpPr>
        <p:grpSpPr>
          <a:xfrm>
            <a:off x="0" y="-108496"/>
            <a:ext cx="4190519" cy="10698581"/>
            <a:chOff x="0" y="-28575"/>
            <a:chExt cx="1103676" cy="2817733"/>
          </a:xfrm>
        </p:grpSpPr>
        <p:sp>
          <p:nvSpPr>
            <p:cNvPr id="115" name="Google Shape;115;p3"/>
            <p:cNvSpPr/>
            <p:nvPr/>
          </p:nvSpPr>
          <p:spPr>
            <a:xfrm>
              <a:off x="0" y="0"/>
              <a:ext cx="1103676" cy="2789158"/>
            </a:xfrm>
            <a:custGeom>
              <a:rect b="b" l="l" r="r" t="t"/>
              <a:pathLst>
                <a:path extrusionOk="0" h="2789158" w="1103676">
                  <a:moveTo>
                    <a:pt x="0" y="0"/>
                  </a:moveTo>
                  <a:lnTo>
                    <a:pt x="1103676" y="0"/>
                  </a:lnTo>
                  <a:lnTo>
                    <a:pt x="1103676" y="2789158"/>
                  </a:lnTo>
                  <a:lnTo>
                    <a:pt x="0" y="2789158"/>
                  </a:lnTo>
                  <a:close/>
                </a:path>
              </a:pathLst>
            </a:custGeom>
            <a:solidFill>
              <a:srgbClr val="1D5732"/>
            </a:solidFill>
            <a:ln>
              <a:noFill/>
            </a:ln>
          </p:spPr>
        </p:sp>
        <p:sp>
          <p:nvSpPr>
            <p:cNvPr id="116" name="Google Shape;116;p3"/>
            <p:cNvSpPr txBox="1"/>
            <p:nvPr/>
          </p:nvSpPr>
          <p:spPr>
            <a:xfrm>
              <a:off x="0" y="-28575"/>
              <a:ext cx="1103676" cy="2817733"/>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7" name="Google Shape;117;p3"/>
          <p:cNvSpPr txBox="1"/>
          <p:nvPr/>
        </p:nvSpPr>
        <p:spPr>
          <a:xfrm>
            <a:off x="6282800" y="4695500"/>
            <a:ext cx="9646200" cy="2586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2400">
                <a:solidFill>
                  <a:srgbClr val="1D5732"/>
                </a:solidFill>
              </a:rPr>
              <a:t>Our grocery store operates across multiple channels but struggles with low and inconsistent campaign engagement, making marketing optimization challenging. We aim to leverage ML and data-driven insights to enhance engagement, improve the shopping experience, and boost sales.</a:t>
            </a:r>
            <a:endParaRPr b="1" sz="2400">
              <a:solidFill>
                <a:srgbClr val="1D5732"/>
              </a:solidFill>
            </a:endParaRPr>
          </a:p>
        </p:txBody>
      </p:sp>
      <p:sp>
        <p:nvSpPr>
          <p:cNvPr id="118" name="Google Shape;118;p3"/>
          <p:cNvSpPr/>
          <p:nvPr/>
        </p:nvSpPr>
        <p:spPr>
          <a:xfrm flipH="1" rot="1297039">
            <a:off x="12225773" y="9433471"/>
            <a:ext cx="1123237" cy="1100772"/>
          </a:xfrm>
          <a:custGeom>
            <a:rect b="b" l="l" r="r" t="t"/>
            <a:pathLst>
              <a:path extrusionOk="0" h="1100772" w="1123237">
                <a:moveTo>
                  <a:pt x="1123236" y="0"/>
                </a:moveTo>
                <a:lnTo>
                  <a:pt x="0" y="0"/>
                </a:lnTo>
                <a:lnTo>
                  <a:pt x="0" y="1100772"/>
                </a:lnTo>
                <a:lnTo>
                  <a:pt x="1123236" y="1100772"/>
                </a:lnTo>
                <a:lnTo>
                  <a:pt x="1123236" y="0"/>
                </a:lnTo>
                <a:close/>
              </a:path>
            </a:pathLst>
          </a:custGeom>
          <a:blipFill rotWithShape="1">
            <a:blip r:embed="rId3">
              <a:alphaModFix/>
            </a:blip>
            <a:stretch>
              <a:fillRect b="0" l="0" r="0" t="0"/>
            </a:stretch>
          </a:blipFill>
          <a:ln>
            <a:noFill/>
          </a:ln>
        </p:spPr>
      </p:sp>
      <p:sp>
        <p:nvSpPr>
          <p:cNvPr id="119" name="Google Shape;119;p3"/>
          <p:cNvSpPr/>
          <p:nvPr/>
        </p:nvSpPr>
        <p:spPr>
          <a:xfrm rot="297763">
            <a:off x="13572000" y="9727845"/>
            <a:ext cx="1450327" cy="1443680"/>
          </a:xfrm>
          <a:custGeom>
            <a:rect b="b" l="l" r="r" t="t"/>
            <a:pathLst>
              <a:path extrusionOk="0" h="1443680" w="1450327">
                <a:moveTo>
                  <a:pt x="0" y="0"/>
                </a:moveTo>
                <a:lnTo>
                  <a:pt x="1450327" y="0"/>
                </a:lnTo>
                <a:lnTo>
                  <a:pt x="1450327" y="1443680"/>
                </a:lnTo>
                <a:lnTo>
                  <a:pt x="0" y="1443680"/>
                </a:lnTo>
                <a:lnTo>
                  <a:pt x="0" y="0"/>
                </a:lnTo>
                <a:close/>
              </a:path>
            </a:pathLst>
          </a:custGeom>
          <a:blipFill rotWithShape="1">
            <a:blip r:embed="rId4">
              <a:alphaModFix/>
            </a:blip>
            <a:stretch>
              <a:fillRect b="0" l="0" r="0" t="0"/>
            </a:stretch>
          </a:blipFill>
          <a:ln>
            <a:noFill/>
          </a:ln>
        </p:spPr>
      </p:sp>
      <p:sp>
        <p:nvSpPr>
          <p:cNvPr id="120" name="Google Shape;120;p3"/>
          <p:cNvSpPr/>
          <p:nvPr/>
        </p:nvSpPr>
        <p:spPr>
          <a:xfrm>
            <a:off x="17165197" y="9767777"/>
            <a:ext cx="1105259" cy="1363816"/>
          </a:xfrm>
          <a:custGeom>
            <a:rect b="b" l="l" r="r" t="t"/>
            <a:pathLst>
              <a:path extrusionOk="0" h="1363816" w="1105259">
                <a:moveTo>
                  <a:pt x="0" y="0"/>
                </a:moveTo>
                <a:lnTo>
                  <a:pt x="1105259" y="0"/>
                </a:lnTo>
                <a:lnTo>
                  <a:pt x="1105259" y="1363816"/>
                </a:lnTo>
                <a:lnTo>
                  <a:pt x="0" y="1363816"/>
                </a:lnTo>
                <a:lnTo>
                  <a:pt x="0" y="0"/>
                </a:lnTo>
                <a:close/>
              </a:path>
            </a:pathLst>
          </a:custGeom>
          <a:blipFill rotWithShape="1">
            <a:blip r:embed="rId5">
              <a:alphaModFix/>
            </a:blip>
            <a:stretch>
              <a:fillRect b="0" l="0" r="0" t="0"/>
            </a:stretch>
          </a:blipFill>
          <a:ln>
            <a:noFill/>
          </a:ln>
        </p:spPr>
      </p:sp>
      <p:sp>
        <p:nvSpPr>
          <p:cNvPr id="121" name="Google Shape;121;p3"/>
          <p:cNvSpPr/>
          <p:nvPr/>
        </p:nvSpPr>
        <p:spPr>
          <a:xfrm>
            <a:off x="7739980" y="366190"/>
            <a:ext cx="870958" cy="1074704"/>
          </a:xfrm>
          <a:custGeom>
            <a:rect b="b" l="l" r="r" t="t"/>
            <a:pathLst>
              <a:path extrusionOk="0" h="1074704" w="870958">
                <a:moveTo>
                  <a:pt x="0" y="0"/>
                </a:moveTo>
                <a:lnTo>
                  <a:pt x="870958" y="0"/>
                </a:lnTo>
                <a:lnTo>
                  <a:pt x="870958" y="1074704"/>
                </a:lnTo>
                <a:lnTo>
                  <a:pt x="0" y="1074704"/>
                </a:lnTo>
                <a:lnTo>
                  <a:pt x="0" y="0"/>
                </a:lnTo>
                <a:close/>
              </a:path>
            </a:pathLst>
          </a:custGeom>
          <a:blipFill rotWithShape="1">
            <a:blip r:embed="rId5">
              <a:alphaModFix/>
            </a:blip>
            <a:stretch>
              <a:fillRect b="0" l="0" r="0" t="0"/>
            </a:stretch>
          </a:blipFill>
          <a:ln>
            <a:noFill/>
          </a:ln>
        </p:spPr>
      </p:sp>
      <p:sp>
        <p:nvSpPr>
          <p:cNvPr id="122" name="Google Shape;122;p3"/>
          <p:cNvSpPr/>
          <p:nvPr/>
        </p:nvSpPr>
        <p:spPr>
          <a:xfrm rot="1281561">
            <a:off x="14216816" y="8388323"/>
            <a:ext cx="1325854" cy="1366860"/>
          </a:xfrm>
          <a:custGeom>
            <a:rect b="b" l="l" r="r" t="t"/>
            <a:pathLst>
              <a:path extrusionOk="0" h="1366860" w="1325854">
                <a:moveTo>
                  <a:pt x="0" y="0"/>
                </a:moveTo>
                <a:lnTo>
                  <a:pt x="1325853" y="0"/>
                </a:lnTo>
                <a:lnTo>
                  <a:pt x="1325853" y="1366860"/>
                </a:lnTo>
                <a:lnTo>
                  <a:pt x="0" y="1366860"/>
                </a:lnTo>
                <a:lnTo>
                  <a:pt x="0" y="0"/>
                </a:lnTo>
                <a:close/>
              </a:path>
            </a:pathLst>
          </a:custGeom>
          <a:blipFill rotWithShape="1">
            <a:blip r:embed="rId6">
              <a:alphaModFix/>
            </a:blip>
            <a:stretch>
              <a:fillRect b="0" l="0" r="0" t="0"/>
            </a:stretch>
          </a:blipFill>
          <a:ln>
            <a:noFill/>
          </a:ln>
        </p:spPr>
      </p:sp>
      <p:sp>
        <p:nvSpPr>
          <p:cNvPr id="123" name="Google Shape;123;p3"/>
          <p:cNvSpPr/>
          <p:nvPr/>
        </p:nvSpPr>
        <p:spPr>
          <a:xfrm>
            <a:off x="15746052" y="9183284"/>
            <a:ext cx="1235796" cy="1266401"/>
          </a:xfrm>
          <a:custGeom>
            <a:rect b="b" l="l" r="r" t="t"/>
            <a:pathLst>
              <a:path extrusionOk="0" h="1266401" w="1235796">
                <a:moveTo>
                  <a:pt x="0" y="0"/>
                </a:moveTo>
                <a:lnTo>
                  <a:pt x="1235796" y="0"/>
                </a:lnTo>
                <a:lnTo>
                  <a:pt x="1235796" y="1266401"/>
                </a:lnTo>
                <a:lnTo>
                  <a:pt x="0" y="1266401"/>
                </a:lnTo>
                <a:lnTo>
                  <a:pt x="0" y="0"/>
                </a:lnTo>
                <a:close/>
              </a:path>
            </a:pathLst>
          </a:custGeom>
          <a:blipFill rotWithShape="1">
            <a:blip r:embed="rId7">
              <a:alphaModFix/>
            </a:blip>
            <a:stretch>
              <a:fillRect b="0" l="0" r="0" t="0"/>
            </a:stretch>
          </a:blipFill>
          <a:ln>
            <a:noFill/>
          </a:ln>
        </p:spPr>
      </p:sp>
      <p:sp>
        <p:nvSpPr>
          <p:cNvPr id="124" name="Google Shape;124;p3"/>
          <p:cNvSpPr/>
          <p:nvPr/>
        </p:nvSpPr>
        <p:spPr>
          <a:xfrm>
            <a:off x="17165197" y="7385951"/>
            <a:ext cx="1932192" cy="2597906"/>
          </a:xfrm>
          <a:custGeom>
            <a:rect b="b" l="l" r="r" t="t"/>
            <a:pathLst>
              <a:path extrusionOk="0" h="2597906" w="1932192">
                <a:moveTo>
                  <a:pt x="0" y="0"/>
                </a:moveTo>
                <a:lnTo>
                  <a:pt x="1932192" y="0"/>
                </a:lnTo>
                <a:lnTo>
                  <a:pt x="1932192" y="2597906"/>
                </a:lnTo>
                <a:lnTo>
                  <a:pt x="0" y="2597906"/>
                </a:lnTo>
                <a:lnTo>
                  <a:pt x="0" y="0"/>
                </a:lnTo>
                <a:close/>
              </a:path>
            </a:pathLst>
          </a:custGeom>
          <a:blipFill rotWithShape="1">
            <a:blip r:embed="rId8">
              <a:alphaModFix/>
            </a:blip>
            <a:stretch>
              <a:fillRect b="0" l="0" r="0" t="0"/>
            </a:stretch>
          </a:blipFill>
          <a:ln>
            <a:noFill/>
          </a:ln>
        </p:spPr>
      </p:sp>
      <p:sp>
        <p:nvSpPr>
          <p:cNvPr id="125" name="Google Shape;125;p3"/>
          <p:cNvSpPr/>
          <p:nvPr/>
        </p:nvSpPr>
        <p:spPr>
          <a:xfrm flipH="1">
            <a:off x="15193865" y="7580067"/>
            <a:ext cx="2340170" cy="1532811"/>
          </a:xfrm>
          <a:custGeom>
            <a:rect b="b" l="l" r="r" t="t"/>
            <a:pathLst>
              <a:path extrusionOk="0" h="1532811" w="2340170">
                <a:moveTo>
                  <a:pt x="2340170" y="0"/>
                </a:moveTo>
                <a:lnTo>
                  <a:pt x="0" y="0"/>
                </a:lnTo>
                <a:lnTo>
                  <a:pt x="0" y="1532811"/>
                </a:lnTo>
                <a:lnTo>
                  <a:pt x="2340170" y="1532811"/>
                </a:lnTo>
                <a:lnTo>
                  <a:pt x="2340170" y="0"/>
                </a:lnTo>
                <a:close/>
              </a:path>
            </a:pathLst>
          </a:custGeom>
          <a:blipFill rotWithShape="1">
            <a:blip r:embed="rId9">
              <a:alphaModFix/>
            </a:blip>
            <a:stretch>
              <a:fillRect b="0" l="0" r="0" t="0"/>
            </a:stretch>
          </a:blipFill>
          <a:ln>
            <a:noFill/>
          </a:ln>
        </p:spPr>
      </p:sp>
      <p:sp>
        <p:nvSpPr>
          <p:cNvPr id="126" name="Google Shape;126;p3"/>
          <p:cNvSpPr/>
          <p:nvPr/>
        </p:nvSpPr>
        <p:spPr>
          <a:xfrm rot="1281561">
            <a:off x="6353168" y="-437903"/>
            <a:ext cx="1349684" cy="1391427"/>
          </a:xfrm>
          <a:custGeom>
            <a:rect b="b" l="l" r="r" t="t"/>
            <a:pathLst>
              <a:path extrusionOk="0" h="1391427" w="1349684">
                <a:moveTo>
                  <a:pt x="0" y="0"/>
                </a:moveTo>
                <a:lnTo>
                  <a:pt x="1349684" y="0"/>
                </a:lnTo>
                <a:lnTo>
                  <a:pt x="1349684" y="1391427"/>
                </a:lnTo>
                <a:lnTo>
                  <a:pt x="0" y="1391427"/>
                </a:lnTo>
                <a:lnTo>
                  <a:pt x="0" y="0"/>
                </a:lnTo>
                <a:close/>
              </a:path>
            </a:pathLst>
          </a:custGeom>
          <a:blipFill rotWithShape="1">
            <a:blip r:embed="rId6">
              <a:alphaModFix/>
            </a:blip>
            <a:stretch>
              <a:fillRect b="0" l="0" r="0" t="0"/>
            </a:stretch>
          </a:blipFill>
          <a:ln>
            <a:noFill/>
          </a:ln>
        </p:spPr>
      </p:sp>
      <p:sp>
        <p:nvSpPr>
          <p:cNvPr id="127" name="Google Shape;127;p3"/>
          <p:cNvSpPr/>
          <p:nvPr/>
        </p:nvSpPr>
        <p:spPr>
          <a:xfrm>
            <a:off x="8414368" y="-635906"/>
            <a:ext cx="1258008" cy="1289163"/>
          </a:xfrm>
          <a:custGeom>
            <a:rect b="b" l="l" r="r" t="t"/>
            <a:pathLst>
              <a:path extrusionOk="0" h="1289163" w="1258008">
                <a:moveTo>
                  <a:pt x="0" y="0"/>
                </a:moveTo>
                <a:lnTo>
                  <a:pt x="1258008" y="0"/>
                </a:lnTo>
                <a:lnTo>
                  <a:pt x="1258008" y="1289163"/>
                </a:lnTo>
                <a:lnTo>
                  <a:pt x="0" y="1289163"/>
                </a:lnTo>
                <a:lnTo>
                  <a:pt x="0" y="0"/>
                </a:lnTo>
                <a:close/>
              </a:path>
            </a:pathLst>
          </a:custGeom>
          <a:blipFill rotWithShape="1">
            <a:blip r:embed="rId7">
              <a:alphaModFix/>
            </a:blip>
            <a:stretch>
              <a:fillRect b="0" l="0" r="0" t="0"/>
            </a:stretch>
          </a:blipFill>
          <a:ln>
            <a:noFill/>
          </a:ln>
        </p:spPr>
      </p:sp>
      <p:sp>
        <p:nvSpPr>
          <p:cNvPr id="128" name="Google Shape;128;p3"/>
          <p:cNvSpPr/>
          <p:nvPr/>
        </p:nvSpPr>
        <p:spPr>
          <a:xfrm>
            <a:off x="9273341" y="-327761"/>
            <a:ext cx="1459264" cy="1962035"/>
          </a:xfrm>
          <a:custGeom>
            <a:rect b="b" l="l" r="r" t="t"/>
            <a:pathLst>
              <a:path extrusionOk="0" h="1962035" w="1459264">
                <a:moveTo>
                  <a:pt x="0" y="0"/>
                </a:moveTo>
                <a:lnTo>
                  <a:pt x="1459264" y="0"/>
                </a:lnTo>
                <a:lnTo>
                  <a:pt x="1459264" y="1962035"/>
                </a:lnTo>
                <a:lnTo>
                  <a:pt x="0" y="1962035"/>
                </a:lnTo>
                <a:lnTo>
                  <a:pt x="0" y="0"/>
                </a:lnTo>
                <a:close/>
              </a:path>
            </a:pathLst>
          </a:custGeom>
          <a:blipFill rotWithShape="1">
            <a:blip r:embed="rId8">
              <a:alphaModFix/>
            </a:blip>
            <a:stretch>
              <a:fillRect b="0" l="0" r="0" t="0"/>
            </a:stretch>
          </a:blipFill>
          <a:ln>
            <a:noFill/>
          </a:ln>
        </p:spPr>
      </p:sp>
      <p:sp>
        <p:nvSpPr>
          <p:cNvPr id="129" name="Google Shape;129;p3"/>
          <p:cNvSpPr/>
          <p:nvPr/>
        </p:nvSpPr>
        <p:spPr>
          <a:xfrm>
            <a:off x="1028700" y="1028700"/>
            <a:ext cx="4073398" cy="4073398"/>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10">
              <a:alphaModFix/>
            </a:blip>
            <a:stretch>
              <a:fillRect b="0" l="-24998" r="-24998" t="0"/>
            </a:stretch>
          </a:blipFill>
          <a:ln cap="sq" cmpd="sng" w="47625">
            <a:solidFill>
              <a:srgbClr val="FBB603"/>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3"/>
          <p:cNvSpPr/>
          <p:nvPr/>
        </p:nvSpPr>
        <p:spPr>
          <a:xfrm>
            <a:off x="1028700" y="5191881"/>
            <a:ext cx="4073398" cy="4073398"/>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11">
              <a:alphaModFix/>
            </a:blip>
            <a:stretch>
              <a:fillRect b="0" l="-41723" r="-8273" t="0"/>
            </a:stretch>
          </a:blipFill>
          <a:ln cap="sq" cmpd="sng" w="47625">
            <a:solidFill>
              <a:srgbClr val="FBB603"/>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
          <p:cNvSpPr txBox="1"/>
          <p:nvPr/>
        </p:nvSpPr>
        <p:spPr>
          <a:xfrm>
            <a:off x="9384749" y="2624275"/>
            <a:ext cx="9525" cy="887007"/>
          </a:xfrm>
          <a:prstGeom prst="rect">
            <a:avLst/>
          </a:prstGeom>
          <a:noFill/>
          <a:ln>
            <a:noFill/>
          </a:ln>
        </p:spPr>
        <p:txBody>
          <a:bodyPr anchorCtr="0" anchor="t" bIns="0" lIns="0" spcFirstLastPara="1" rIns="0" wrap="square" tIns="0">
            <a:spAutoFit/>
          </a:bodyPr>
          <a:lstStyle/>
          <a:p>
            <a:pPr indent="0" lvl="0" marL="0" marR="0" rtl="0" algn="ctr">
              <a:lnSpc>
                <a:spcPct val="4043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2" name="Google Shape;132;p3"/>
          <p:cNvSpPr txBox="1"/>
          <p:nvPr/>
        </p:nvSpPr>
        <p:spPr>
          <a:xfrm>
            <a:off x="6282788" y="2946418"/>
            <a:ext cx="8911200" cy="1077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7000">
                <a:solidFill>
                  <a:srgbClr val="FBB603"/>
                </a:solidFill>
              </a:rPr>
              <a:t>Business Problem</a:t>
            </a:r>
            <a:endParaRPr sz="7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3B1"/>
        </a:solidFill>
      </p:bgPr>
    </p:bg>
    <p:spTree>
      <p:nvGrpSpPr>
        <p:cNvPr id="136" name="Shape 136"/>
        <p:cNvGrpSpPr/>
        <p:nvPr/>
      </p:nvGrpSpPr>
      <p:grpSpPr>
        <a:xfrm>
          <a:off x="0" y="0"/>
          <a:ext cx="0" cy="0"/>
          <a:chOff x="0" y="0"/>
          <a:chExt cx="0" cy="0"/>
        </a:xfrm>
      </p:grpSpPr>
      <p:sp>
        <p:nvSpPr>
          <p:cNvPr id="137" name="Google Shape;137;g33f545acea5_1_54"/>
          <p:cNvSpPr txBox="1"/>
          <p:nvPr/>
        </p:nvSpPr>
        <p:spPr>
          <a:xfrm>
            <a:off x="566425" y="561625"/>
            <a:ext cx="116958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6000">
                <a:solidFill>
                  <a:srgbClr val="1D5732"/>
                </a:solidFill>
              </a:rPr>
              <a:t>EDA &amp; Insights</a:t>
            </a:r>
            <a:endParaRPr sz="6000">
              <a:solidFill>
                <a:srgbClr val="1D5732"/>
              </a:solidFill>
            </a:endParaRPr>
          </a:p>
        </p:txBody>
      </p:sp>
      <p:sp>
        <p:nvSpPr>
          <p:cNvPr id="138" name="Google Shape;138;g33f545acea5_1_54"/>
          <p:cNvSpPr txBox="1"/>
          <p:nvPr/>
        </p:nvSpPr>
        <p:spPr>
          <a:xfrm>
            <a:off x="15969090" y="962025"/>
            <a:ext cx="1267800" cy="615600"/>
          </a:xfrm>
          <a:prstGeom prst="rect">
            <a:avLst/>
          </a:prstGeom>
          <a:noFill/>
          <a:ln>
            <a:noFill/>
          </a:ln>
        </p:spPr>
        <p:txBody>
          <a:bodyPr anchorCtr="0" anchor="t" bIns="0" lIns="0" spcFirstLastPara="1" rIns="0" wrap="square" tIns="0">
            <a:spAutoFit/>
          </a:bodyPr>
          <a:lstStyle/>
          <a:p>
            <a:pPr indent="0" lvl="0" marL="0" marR="0" rtl="0" algn="r">
              <a:lnSpc>
                <a:spcPct val="140010"/>
              </a:lnSpc>
              <a:spcBef>
                <a:spcPts val="0"/>
              </a:spcBef>
              <a:spcAft>
                <a:spcPts val="0"/>
              </a:spcAft>
              <a:buNone/>
            </a:pPr>
            <a:r>
              <a:rPr b="1" i="0" lang="en-US" sz="3999" u="none" cap="none" strike="noStrike">
                <a:solidFill>
                  <a:srgbClr val="EEE3B1"/>
                </a:solidFill>
                <a:latin typeface="Arial"/>
                <a:ea typeface="Arial"/>
                <a:cs typeface="Arial"/>
                <a:sym typeface="Arial"/>
              </a:rPr>
              <a:t>03</a:t>
            </a:r>
            <a:endParaRPr/>
          </a:p>
        </p:txBody>
      </p:sp>
      <p:grpSp>
        <p:nvGrpSpPr>
          <p:cNvPr id="139" name="Google Shape;139;g33f545acea5_1_54"/>
          <p:cNvGrpSpPr/>
          <p:nvPr/>
        </p:nvGrpSpPr>
        <p:grpSpPr>
          <a:xfrm>
            <a:off x="-50" y="9147925"/>
            <a:ext cx="18288118" cy="1139089"/>
            <a:chOff x="0" y="-28575"/>
            <a:chExt cx="4816592" cy="792134"/>
          </a:xfrm>
        </p:grpSpPr>
        <p:sp>
          <p:nvSpPr>
            <p:cNvPr id="140" name="Google Shape;140;g33f545acea5_1_54"/>
            <p:cNvSpPr/>
            <p:nvPr/>
          </p:nvSpPr>
          <p:spPr>
            <a:xfrm>
              <a:off x="0" y="0"/>
              <a:ext cx="4816592" cy="763559"/>
            </a:xfrm>
            <a:custGeom>
              <a:rect b="b" l="l" r="r" t="t"/>
              <a:pathLst>
                <a:path extrusionOk="0" h="763559" w="4816592">
                  <a:moveTo>
                    <a:pt x="0" y="0"/>
                  </a:moveTo>
                  <a:lnTo>
                    <a:pt x="4816592" y="0"/>
                  </a:lnTo>
                  <a:lnTo>
                    <a:pt x="4816592" y="763559"/>
                  </a:lnTo>
                  <a:lnTo>
                    <a:pt x="0" y="763559"/>
                  </a:lnTo>
                  <a:close/>
                </a:path>
              </a:pathLst>
            </a:custGeom>
            <a:solidFill>
              <a:srgbClr val="1D5732"/>
            </a:solidFill>
            <a:ln>
              <a:noFill/>
            </a:ln>
          </p:spPr>
        </p:sp>
        <p:sp>
          <p:nvSpPr>
            <p:cNvPr id="141" name="Google Shape;141;g33f545acea5_1_54"/>
            <p:cNvSpPr txBox="1"/>
            <p:nvPr/>
          </p:nvSpPr>
          <p:spPr>
            <a:xfrm>
              <a:off x="0" y="-28575"/>
              <a:ext cx="4816500" cy="7920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2" name="Google Shape;142;g33f545acea5_1_54"/>
          <p:cNvSpPr/>
          <p:nvPr/>
        </p:nvSpPr>
        <p:spPr>
          <a:xfrm>
            <a:off x="17042343" y="7430018"/>
            <a:ext cx="870958" cy="1074704"/>
          </a:xfrm>
          <a:custGeom>
            <a:rect b="b" l="l" r="r" t="t"/>
            <a:pathLst>
              <a:path extrusionOk="0" h="1074704" w="870958">
                <a:moveTo>
                  <a:pt x="0" y="0"/>
                </a:moveTo>
                <a:lnTo>
                  <a:pt x="870958" y="0"/>
                </a:lnTo>
                <a:lnTo>
                  <a:pt x="870958" y="1074704"/>
                </a:lnTo>
                <a:lnTo>
                  <a:pt x="0" y="1074704"/>
                </a:lnTo>
                <a:lnTo>
                  <a:pt x="0" y="0"/>
                </a:lnTo>
                <a:close/>
              </a:path>
            </a:pathLst>
          </a:custGeom>
          <a:blipFill rotWithShape="1">
            <a:blip r:embed="rId3">
              <a:alphaModFix/>
            </a:blip>
            <a:stretch>
              <a:fillRect b="0" l="0" r="0" t="0"/>
            </a:stretch>
          </a:blipFill>
          <a:ln>
            <a:noFill/>
          </a:ln>
        </p:spPr>
      </p:sp>
      <p:grpSp>
        <p:nvGrpSpPr>
          <p:cNvPr id="143" name="Google Shape;143;g33f545acea5_1_54"/>
          <p:cNvGrpSpPr/>
          <p:nvPr/>
        </p:nvGrpSpPr>
        <p:grpSpPr>
          <a:xfrm>
            <a:off x="118900" y="9392235"/>
            <a:ext cx="10607763" cy="739758"/>
            <a:chOff x="2577" y="877098"/>
            <a:chExt cx="10553938" cy="917700"/>
          </a:xfrm>
        </p:grpSpPr>
        <p:sp>
          <p:nvSpPr>
            <p:cNvPr id="144" name="Google Shape;144;g33f545acea5_1_54"/>
            <p:cNvSpPr/>
            <p:nvPr/>
          </p:nvSpPr>
          <p:spPr>
            <a:xfrm>
              <a:off x="2577"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g33f545acea5_1_54"/>
            <p:cNvSpPr txBox="1"/>
            <p:nvPr/>
          </p:nvSpPr>
          <p:spPr>
            <a:xfrm>
              <a:off x="571834" y="1021426"/>
              <a:ext cx="1155900" cy="5910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i="0" lang="en-US" u="none" cap="none" strike="noStrike">
                  <a:solidFill>
                    <a:srgbClr val="002060"/>
                  </a:solidFill>
                </a:rPr>
                <a:t>Busine</a:t>
              </a:r>
              <a:r>
                <a:rPr lang="en-US">
                  <a:solidFill>
                    <a:srgbClr val="002060"/>
                  </a:solidFill>
                </a:rPr>
                <a:t>s</a:t>
              </a:r>
              <a:r>
                <a:rPr i="0" lang="en-US" u="none" cap="none" strike="noStrike">
                  <a:solidFill>
                    <a:srgbClr val="002060"/>
                  </a:solidFill>
                </a:rPr>
                <a:t>s Problem</a:t>
              </a:r>
              <a:endParaRPr i="0" u="none" cap="none" strike="noStrike">
                <a:solidFill>
                  <a:srgbClr val="002060"/>
                </a:solidFill>
              </a:endParaRPr>
            </a:p>
          </p:txBody>
        </p:sp>
        <p:sp>
          <p:nvSpPr>
            <p:cNvPr id="146" name="Google Shape;146;g33f545acea5_1_54"/>
            <p:cNvSpPr/>
            <p:nvPr/>
          </p:nvSpPr>
          <p:spPr>
            <a:xfrm>
              <a:off x="2067462" y="877098"/>
              <a:ext cx="2294400" cy="917700"/>
            </a:xfrm>
            <a:prstGeom prst="chevron">
              <a:avLst>
                <a:gd fmla="val 50000" name="adj"/>
              </a:avLst>
            </a:prstGeom>
            <a:solidFill>
              <a:schemeClr val="lt2"/>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33f545acea5_1_54"/>
            <p:cNvSpPr txBox="1"/>
            <p:nvPr/>
          </p:nvSpPr>
          <p:spPr>
            <a:xfrm>
              <a:off x="2561114" y="972834"/>
              <a:ext cx="1155900" cy="6882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i="0" lang="en-US" u="none" cap="none" strike="noStrike">
                  <a:solidFill>
                    <a:srgbClr val="002060"/>
                  </a:solidFill>
                </a:rPr>
                <a:t>EDA &amp; Insights</a:t>
              </a:r>
              <a:endParaRPr i="0" u="none" cap="none" strike="noStrike">
                <a:solidFill>
                  <a:srgbClr val="002060"/>
                </a:solidFill>
              </a:endParaRPr>
            </a:p>
          </p:txBody>
        </p:sp>
        <p:sp>
          <p:nvSpPr>
            <p:cNvPr id="148" name="Google Shape;148;g33f545acea5_1_54"/>
            <p:cNvSpPr/>
            <p:nvPr/>
          </p:nvSpPr>
          <p:spPr>
            <a:xfrm>
              <a:off x="4132346"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33f545acea5_1_54"/>
            <p:cNvSpPr/>
            <p:nvPr/>
          </p:nvSpPr>
          <p:spPr>
            <a:xfrm>
              <a:off x="6197231"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g33f545acea5_1_54"/>
            <p:cNvSpPr txBox="1"/>
            <p:nvPr/>
          </p:nvSpPr>
          <p:spPr>
            <a:xfrm>
              <a:off x="6668795" y="973848"/>
              <a:ext cx="1489500" cy="688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Campaign Prediction</a:t>
              </a:r>
              <a:endParaRPr i="0" u="none" cap="none" strike="noStrike">
                <a:solidFill>
                  <a:srgbClr val="002060"/>
                </a:solidFill>
              </a:endParaRPr>
            </a:p>
          </p:txBody>
        </p:sp>
        <p:sp>
          <p:nvSpPr>
            <p:cNvPr id="151" name="Google Shape;151;g33f545acea5_1_54"/>
            <p:cNvSpPr/>
            <p:nvPr/>
          </p:nvSpPr>
          <p:spPr>
            <a:xfrm>
              <a:off x="8262115"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g33f545acea5_1_54"/>
            <p:cNvSpPr txBox="1"/>
            <p:nvPr/>
          </p:nvSpPr>
          <p:spPr>
            <a:xfrm>
              <a:off x="8648985" y="973811"/>
              <a:ext cx="1489500" cy="724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Recommendation</a:t>
              </a:r>
              <a:endParaRPr i="0" u="none" cap="none" strike="noStrike">
                <a:solidFill>
                  <a:srgbClr val="002060"/>
                </a:solidFill>
              </a:endParaRPr>
            </a:p>
          </p:txBody>
        </p:sp>
        <p:sp>
          <p:nvSpPr>
            <p:cNvPr id="153" name="Google Shape;153;g33f545acea5_1_54"/>
            <p:cNvSpPr txBox="1"/>
            <p:nvPr/>
          </p:nvSpPr>
          <p:spPr>
            <a:xfrm>
              <a:off x="4550363" y="955709"/>
              <a:ext cx="1489500" cy="724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Clustering &amp; Segmentation</a:t>
              </a:r>
              <a:endParaRPr i="0" u="none" cap="none" strike="noStrike">
                <a:solidFill>
                  <a:srgbClr val="002060"/>
                </a:solidFill>
              </a:endParaRPr>
            </a:p>
          </p:txBody>
        </p:sp>
      </p:grpSp>
      <p:sp>
        <p:nvSpPr>
          <p:cNvPr id="154" name="Google Shape;154;g33f545acea5_1_54"/>
          <p:cNvSpPr/>
          <p:nvPr/>
        </p:nvSpPr>
        <p:spPr>
          <a:xfrm>
            <a:off x="1541800" y="3013850"/>
            <a:ext cx="4446000" cy="5021400"/>
          </a:xfrm>
          <a:prstGeom prst="roundRect">
            <a:avLst>
              <a:gd fmla="val 16667" name="adj"/>
            </a:avLst>
          </a:prstGeom>
          <a:solidFill>
            <a:srgbClr val="FFA2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5" name="Google Shape;155;g33f545acea5_1_54"/>
          <p:cNvSpPr txBox="1"/>
          <p:nvPr/>
        </p:nvSpPr>
        <p:spPr>
          <a:xfrm>
            <a:off x="2025400" y="3112025"/>
            <a:ext cx="3783600" cy="502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1D5732"/>
                </a:solidFill>
                <a:latin typeface="Calibri"/>
                <a:ea typeface="Calibri"/>
                <a:cs typeface="Calibri"/>
                <a:sym typeface="Calibri"/>
              </a:rPr>
              <a:t>Customer’s Info</a:t>
            </a:r>
            <a:endParaRPr b="1" sz="3200">
              <a:solidFill>
                <a:srgbClr val="1D5732"/>
              </a:solidFill>
              <a:latin typeface="Calibri"/>
              <a:ea typeface="Calibri"/>
              <a:cs typeface="Calibri"/>
              <a:sym typeface="Calibri"/>
            </a:endParaRPr>
          </a:p>
          <a:p>
            <a:pPr indent="0" lvl="0" marL="0" rtl="0" algn="l">
              <a:spcBef>
                <a:spcPts val="0"/>
              </a:spcBef>
              <a:spcAft>
                <a:spcPts val="0"/>
              </a:spcAft>
              <a:buNone/>
            </a:pPr>
            <a:r>
              <a:t/>
            </a:r>
            <a:endParaRPr sz="1800">
              <a:solidFill>
                <a:srgbClr val="1D5732"/>
              </a:solidFill>
              <a:latin typeface="Calibri"/>
              <a:ea typeface="Calibri"/>
              <a:cs typeface="Calibri"/>
              <a:sym typeface="Calibri"/>
            </a:endParaRPr>
          </a:p>
          <a:p>
            <a:pPr indent="-431800" lvl="0" marL="457200" rtl="0" algn="l">
              <a:spcBef>
                <a:spcPts val="0"/>
              </a:spcBef>
              <a:spcAft>
                <a:spcPts val="0"/>
              </a:spcAft>
              <a:buClr>
                <a:srgbClr val="1D5732"/>
              </a:buClr>
              <a:buSzPts val="3200"/>
              <a:buFont typeface="Calibri"/>
              <a:buChar char="●"/>
            </a:pPr>
            <a:r>
              <a:rPr lang="en-US" sz="3200">
                <a:solidFill>
                  <a:srgbClr val="1D5732"/>
                </a:solidFill>
                <a:latin typeface="Calibri"/>
                <a:ea typeface="Calibri"/>
                <a:cs typeface="Calibri"/>
                <a:sym typeface="Calibri"/>
              </a:rPr>
              <a:t>ID</a:t>
            </a:r>
            <a:endParaRPr sz="3200">
              <a:solidFill>
                <a:srgbClr val="1D5732"/>
              </a:solidFill>
              <a:latin typeface="Calibri"/>
              <a:ea typeface="Calibri"/>
              <a:cs typeface="Calibri"/>
              <a:sym typeface="Calibri"/>
            </a:endParaRPr>
          </a:p>
          <a:p>
            <a:pPr indent="-431800" lvl="0" marL="457200" rtl="0" algn="l">
              <a:spcBef>
                <a:spcPts val="0"/>
              </a:spcBef>
              <a:spcAft>
                <a:spcPts val="0"/>
              </a:spcAft>
              <a:buClr>
                <a:srgbClr val="1D5732"/>
              </a:buClr>
              <a:buSzPts val="3200"/>
              <a:buFont typeface="Calibri"/>
              <a:buChar char="●"/>
            </a:pPr>
            <a:r>
              <a:rPr lang="en-US" sz="3200">
                <a:solidFill>
                  <a:srgbClr val="1D5732"/>
                </a:solidFill>
                <a:latin typeface="Calibri"/>
                <a:ea typeface="Calibri"/>
                <a:cs typeface="Calibri"/>
                <a:sym typeface="Calibri"/>
              </a:rPr>
              <a:t>Age</a:t>
            </a:r>
            <a:endParaRPr sz="3200">
              <a:solidFill>
                <a:srgbClr val="1D5732"/>
              </a:solidFill>
              <a:latin typeface="Calibri"/>
              <a:ea typeface="Calibri"/>
              <a:cs typeface="Calibri"/>
              <a:sym typeface="Calibri"/>
            </a:endParaRPr>
          </a:p>
          <a:p>
            <a:pPr indent="-431800" lvl="0" marL="457200" rtl="0" algn="l">
              <a:spcBef>
                <a:spcPts val="0"/>
              </a:spcBef>
              <a:spcAft>
                <a:spcPts val="0"/>
              </a:spcAft>
              <a:buClr>
                <a:srgbClr val="1D5732"/>
              </a:buClr>
              <a:buSzPts val="3200"/>
              <a:buFont typeface="Calibri"/>
              <a:buChar char="●"/>
            </a:pPr>
            <a:r>
              <a:rPr lang="en-US" sz="3200">
                <a:solidFill>
                  <a:srgbClr val="1D5732"/>
                </a:solidFill>
                <a:latin typeface="Calibri"/>
                <a:ea typeface="Calibri"/>
                <a:cs typeface="Calibri"/>
                <a:sym typeface="Calibri"/>
              </a:rPr>
              <a:t>Education</a:t>
            </a:r>
            <a:endParaRPr sz="3200">
              <a:solidFill>
                <a:srgbClr val="1D5732"/>
              </a:solidFill>
              <a:latin typeface="Calibri"/>
              <a:ea typeface="Calibri"/>
              <a:cs typeface="Calibri"/>
              <a:sym typeface="Calibri"/>
            </a:endParaRPr>
          </a:p>
          <a:p>
            <a:pPr indent="-431800" lvl="0" marL="457200" rtl="0" algn="l">
              <a:spcBef>
                <a:spcPts val="0"/>
              </a:spcBef>
              <a:spcAft>
                <a:spcPts val="0"/>
              </a:spcAft>
              <a:buClr>
                <a:srgbClr val="1D5732"/>
              </a:buClr>
              <a:buSzPts val="3200"/>
              <a:buFont typeface="Calibri"/>
              <a:buChar char="●"/>
            </a:pPr>
            <a:r>
              <a:rPr lang="en-US" sz="3200">
                <a:solidFill>
                  <a:srgbClr val="1D5732"/>
                </a:solidFill>
                <a:latin typeface="Calibri"/>
                <a:ea typeface="Calibri"/>
                <a:cs typeface="Calibri"/>
                <a:sym typeface="Calibri"/>
              </a:rPr>
              <a:t>Marital_Status</a:t>
            </a:r>
            <a:endParaRPr sz="3200">
              <a:solidFill>
                <a:srgbClr val="1D5732"/>
              </a:solidFill>
              <a:latin typeface="Calibri"/>
              <a:ea typeface="Calibri"/>
              <a:cs typeface="Calibri"/>
              <a:sym typeface="Calibri"/>
            </a:endParaRPr>
          </a:p>
          <a:p>
            <a:pPr indent="-431800" lvl="0" marL="457200" rtl="0" algn="l">
              <a:spcBef>
                <a:spcPts val="0"/>
              </a:spcBef>
              <a:spcAft>
                <a:spcPts val="0"/>
              </a:spcAft>
              <a:buClr>
                <a:srgbClr val="1D5732"/>
              </a:buClr>
              <a:buSzPts val="3200"/>
              <a:buFont typeface="Calibri"/>
              <a:buChar char="●"/>
            </a:pPr>
            <a:r>
              <a:rPr lang="en-US" sz="3200">
                <a:solidFill>
                  <a:srgbClr val="1D5732"/>
                </a:solidFill>
                <a:latin typeface="Calibri"/>
                <a:ea typeface="Calibri"/>
                <a:cs typeface="Calibri"/>
                <a:sym typeface="Calibri"/>
              </a:rPr>
              <a:t>Children</a:t>
            </a:r>
            <a:endParaRPr sz="3200">
              <a:solidFill>
                <a:srgbClr val="1D5732"/>
              </a:solidFill>
              <a:latin typeface="Calibri"/>
              <a:ea typeface="Calibri"/>
              <a:cs typeface="Calibri"/>
              <a:sym typeface="Calibri"/>
            </a:endParaRPr>
          </a:p>
          <a:p>
            <a:pPr indent="-431800" lvl="0" marL="457200" rtl="0" algn="l">
              <a:spcBef>
                <a:spcPts val="0"/>
              </a:spcBef>
              <a:spcAft>
                <a:spcPts val="0"/>
              </a:spcAft>
              <a:buClr>
                <a:srgbClr val="1D5732"/>
              </a:buClr>
              <a:buSzPts val="3200"/>
              <a:buFont typeface="Calibri"/>
              <a:buChar char="●"/>
            </a:pPr>
            <a:r>
              <a:rPr lang="en-US" sz="3200">
                <a:solidFill>
                  <a:srgbClr val="1D5732"/>
                </a:solidFill>
                <a:latin typeface="Calibri"/>
                <a:ea typeface="Calibri"/>
                <a:cs typeface="Calibri"/>
                <a:sym typeface="Calibri"/>
              </a:rPr>
              <a:t>Dt_Customer</a:t>
            </a:r>
            <a:endParaRPr sz="3200">
              <a:solidFill>
                <a:srgbClr val="1D5732"/>
              </a:solidFill>
              <a:latin typeface="Calibri"/>
              <a:ea typeface="Calibri"/>
              <a:cs typeface="Calibri"/>
              <a:sym typeface="Calibri"/>
            </a:endParaRPr>
          </a:p>
          <a:p>
            <a:pPr indent="-431800" lvl="0" marL="457200" rtl="0" algn="l">
              <a:spcBef>
                <a:spcPts val="0"/>
              </a:spcBef>
              <a:spcAft>
                <a:spcPts val="0"/>
              </a:spcAft>
              <a:buClr>
                <a:srgbClr val="1D5732"/>
              </a:buClr>
              <a:buSzPts val="3200"/>
              <a:buFont typeface="Calibri"/>
              <a:buChar char="●"/>
            </a:pPr>
            <a:r>
              <a:rPr lang="en-US" sz="3200">
                <a:solidFill>
                  <a:srgbClr val="1D5732"/>
                </a:solidFill>
                <a:latin typeface="Calibri"/>
                <a:ea typeface="Calibri"/>
                <a:cs typeface="Calibri"/>
                <a:sym typeface="Calibri"/>
              </a:rPr>
              <a:t>Recency</a:t>
            </a:r>
            <a:endParaRPr sz="3200">
              <a:solidFill>
                <a:srgbClr val="1D5732"/>
              </a:solidFill>
              <a:latin typeface="Calibri"/>
              <a:ea typeface="Calibri"/>
              <a:cs typeface="Calibri"/>
              <a:sym typeface="Calibri"/>
            </a:endParaRPr>
          </a:p>
          <a:p>
            <a:pPr indent="-431800" lvl="0" marL="457200" rtl="0" algn="l">
              <a:spcBef>
                <a:spcPts val="0"/>
              </a:spcBef>
              <a:spcAft>
                <a:spcPts val="0"/>
              </a:spcAft>
              <a:buClr>
                <a:srgbClr val="1D5732"/>
              </a:buClr>
              <a:buSzPts val="3200"/>
              <a:buFont typeface="Calibri"/>
              <a:buChar char="●"/>
            </a:pPr>
            <a:r>
              <a:rPr lang="en-US" sz="3200">
                <a:solidFill>
                  <a:srgbClr val="1D5732"/>
                </a:solidFill>
                <a:latin typeface="Calibri"/>
                <a:ea typeface="Calibri"/>
                <a:cs typeface="Calibri"/>
                <a:sym typeface="Calibri"/>
              </a:rPr>
              <a:t>Complain</a:t>
            </a:r>
            <a:endParaRPr sz="3200">
              <a:solidFill>
                <a:srgbClr val="1D5732"/>
              </a:solidFill>
              <a:latin typeface="Calibri"/>
              <a:ea typeface="Calibri"/>
              <a:cs typeface="Calibri"/>
              <a:sym typeface="Calibri"/>
            </a:endParaRPr>
          </a:p>
        </p:txBody>
      </p:sp>
      <p:sp>
        <p:nvSpPr>
          <p:cNvPr id="156" name="Google Shape;156;g33f545acea5_1_54"/>
          <p:cNvSpPr/>
          <p:nvPr/>
        </p:nvSpPr>
        <p:spPr>
          <a:xfrm>
            <a:off x="6647200" y="3013850"/>
            <a:ext cx="4446000" cy="5021400"/>
          </a:xfrm>
          <a:prstGeom prst="roundRect">
            <a:avLst>
              <a:gd fmla="val 16667" name="adj"/>
            </a:avLst>
          </a:prstGeom>
          <a:solidFill>
            <a:srgbClr val="FFA2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7" name="Google Shape;157;g33f545acea5_1_54"/>
          <p:cNvSpPr txBox="1"/>
          <p:nvPr/>
        </p:nvSpPr>
        <p:spPr>
          <a:xfrm>
            <a:off x="7130800" y="3188225"/>
            <a:ext cx="4072200" cy="502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1D5732"/>
                </a:solidFill>
                <a:latin typeface="Calibri"/>
                <a:ea typeface="Calibri"/>
                <a:cs typeface="Calibri"/>
                <a:sym typeface="Calibri"/>
              </a:rPr>
              <a:t>Products ($ Spent)</a:t>
            </a:r>
            <a:endParaRPr b="1" sz="3200">
              <a:solidFill>
                <a:srgbClr val="1D5732"/>
              </a:solidFill>
              <a:latin typeface="Calibri"/>
              <a:ea typeface="Calibri"/>
              <a:cs typeface="Calibri"/>
              <a:sym typeface="Calibri"/>
            </a:endParaRPr>
          </a:p>
          <a:p>
            <a:pPr indent="0" lvl="0" marL="0" rtl="0" algn="l">
              <a:spcBef>
                <a:spcPts val="0"/>
              </a:spcBef>
              <a:spcAft>
                <a:spcPts val="0"/>
              </a:spcAft>
              <a:buNone/>
            </a:pPr>
            <a:r>
              <a:t/>
            </a:r>
            <a:endParaRPr sz="3200">
              <a:solidFill>
                <a:srgbClr val="1D5732"/>
              </a:solidFill>
              <a:latin typeface="Calibri"/>
              <a:ea typeface="Calibri"/>
              <a:cs typeface="Calibri"/>
              <a:sym typeface="Calibri"/>
            </a:endParaRPr>
          </a:p>
          <a:p>
            <a:pPr indent="-431800" lvl="0" marL="457200" rtl="0" algn="l">
              <a:spcBef>
                <a:spcPts val="0"/>
              </a:spcBef>
              <a:spcAft>
                <a:spcPts val="0"/>
              </a:spcAft>
              <a:buClr>
                <a:srgbClr val="1D5732"/>
              </a:buClr>
              <a:buSzPts val="3200"/>
              <a:buFont typeface="Calibri"/>
              <a:buChar char="●"/>
            </a:pPr>
            <a:r>
              <a:rPr lang="en-US" sz="3200">
                <a:solidFill>
                  <a:srgbClr val="1D5732"/>
                </a:solidFill>
                <a:latin typeface="Calibri"/>
                <a:ea typeface="Calibri"/>
                <a:cs typeface="Calibri"/>
                <a:sym typeface="Calibri"/>
              </a:rPr>
              <a:t>MntWines</a:t>
            </a:r>
            <a:endParaRPr sz="3200">
              <a:solidFill>
                <a:srgbClr val="1D5732"/>
              </a:solidFill>
              <a:latin typeface="Calibri"/>
              <a:ea typeface="Calibri"/>
              <a:cs typeface="Calibri"/>
              <a:sym typeface="Calibri"/>
            </a:endParaRPr>
          </a:p>
          <a:p>
            <a:pPr indent="-431800" lvl="0" marL="457200" rtl="0" algn="l">
              <a:spcBef>
                <a:spcPts val="0"/>
              </a:spcBef>
              <a:spcAft>
                <a:spcPts val="0"/>
              </a:spcAft>
              <a:buClr>
                <a:srgbClr val="1D5732"/>
              </a:buClr>
              <a:buSzPts val="3200"/>
              <a:buFont typeface="Calibri"/>
              <a:buChar char="●"/>
            </a:pPr>
            <a:r>
              <a:rPr lang="en-US" sz="3200">
                <a:solidFill>
                  <a:srgbClr val="1D5732"/>
                </a:solidFill>
                <a:latin typeface="Calibri"/>
                <a:ea typeface="Calibri"/>
                <a:cs typeface="Calibri"/>
                <a:sym typeface="Calibri"/>
              </a:rPr>
              <a:t>MntFruits</a:t>
            </a:r>
            <a:endParaRPr sz="3200">
              <a:solidFill>
                <a:srgbClr val="1D5732"/>
              </a:solidFill>
              <a:latin typeface="Calibri"/>
              <a:ea typeface="Calibri"/>
              <a:cs typeface="Calibri"/>
              <a:sym typeface="Calibri"/>
            </a:endParaRPr>
          </a:p>
          <a:p>
            <a:pPr indent="-431800" lvl="0" marL="457200" rtl="0" algn="l">
              <a:spcBef>
                <a:spcPts val="0"/>
              </a:spcBef>
              <a:spcAft>
                <a:spcPts val="0"/>
              </a:spcAft>
              <a:buClr>
                <a:srgbClr val="1D5732"/>
              </a:buClr>
              <a:buSzPts val="3200"/>
              <a:buFont typeface="Calibri"/>
              <a:buChar char="●"/>
            </a:pPr>
            <a:r>
              <a:rPr lang="en-US" sz="3200">
                <a:solidFill>
                  <a:srgbClr val="1D5732"/>
                </a:solidFill>
                <a:latin typeface="Calibri"/>
                <a:ea typeface="Calibri"/>
                <a:cs typeface="Calibri"/>
                <a:sym typeface="Calibri"/>
              </a:rPr>
              <a:t>MntMeatProducts</a:t>
            </a:r>
            <a:endParaRPr sz="3200">
              <a:solidFill>
                <a:srgbClr val="1D5732"/>
              </a:solidFill>
              <a:latin typeface="Calibri"/>
              <a:ea typeface="Calibri"/>
              <a:cs typeface="Calibri"/>
              <a:sym typeface="Calibri"/>
            </a:endParaRPr>
          </a:p>
          <a:p>
            <a:pPr indent="-431800" lvl="0" marL="457200" rtl="0" algn="l">
              <a:spcBef>
                <a:spcPts val="0"/>
              </a:spcBef>
              <a:spcAft>
                <a:spcPts val="0"/>
              </a:spcAft>
              <a:buClr>
                <a:srgbClr val="1D5732"/>
              </a:buClr>
              <a:buSzPts val="3200"/>
              <a:buFont typeface="Calibri"/>
              <a:buChar char="●"/>
            </a:pPr>
            <a:r>
              <a:rPr lang="en-US" sz="3200">
                <a:solidFill>
                  <a:srgbClr val="1D5732"/>
                </a:solidFill>
                <a:latin typeface="Calibri"/>
                <a:ea typeface="Calibri"/>
                <a:cs typeface="Calibri"/>
                <a:sym typeface="Calibri"/>
              </a:rPr>
              <a:t>MntFishProducts</a:t>
            </a:r>
            <a:endParaRPr sz="3200">
              <a:solidFill>
                <a:srgbClr val="1D5732"/>
              </a:solidFill>
              <a:latin typeface="Calibri"/>
              <a:ea typeface="Calibri"/>
              <a:cs typeface="Calibri"/>
              <a:sym typeface="Calibri"/>
            </a:endParaRPr>
          </a:p>
          <a:p>
            <a:pPr indent="-431800" lvl="0" marL="457200" rtl="0" algn="l">
              <a:spcBef>
                <a:spcPts val="0"/>
              </a:spcBef>
              <a:spcAft>
                <a:spcPts val="0"/>
              </a:spcAft>
              <a:buClr>
                <a:srgbClr val="1D5732"/>
              </a:buClr>
              <a:buSzPts val="3200"/>
              <a:buFont typeface="Calibri"/>
              <a:buChar char="●"/>
            </a:pPr>
            <a:r>
              <a:rPr lang="en-US" sz="3200">
                <a:solidFill>
                  <a:srgbClr val="1D5732"/>
                </a:solidFill>
                <a:latin typeface="Calibri"/>
                <a:ea typeface="Calibri"/>
                <a:cs typeface="Calibri"/>
                <a:sym typeface="Calibri"/>
              </a:rPr>
              <a:t>MntSweetProducts</a:t>
            </a:r>
            <a:endParaRPr sz="3200">
              <a:solidFill>
                <a:srgbClr val="1D5732"/>
              </a:solidFill>
              <a:latin typeface="Calibri"/>
              <a:ea typeface="Calibri"/>
              <a:cs typeface="Calibri"/>
              <a:sym typeface="Calibri"/>
            </a:endParaRPr>
          </a:p>
          <a:p>
            <a:pPr indent="-431800" lvl="0" marL="457200" rtl="0" algn="l">
              <a:spcBef>
                <a:spcPts val="0"/>
              </a:spcBef>
              <a:spcAft>
                <a:spcPts val="0"/>
              </a:spcAft>
              <a:buClr>
                <a:srgbClr val="1D5732"/>
              </a:buClr>
              <a:buSzPts val="3200"/>
              <a:buFont typeface="Calibri"/>
              <a:buChar char="●"/>
            </a:pPr>
            <a:r>
              <a:rPr lang="en-US" sz="3200">
                <a:solidFill>
                  <a:srgbClr val="1D5732"/>
                </a:solidFill>
                <a:latin typeface="Calibri"/>
                <a:ea typeface="Calibri"/>
                <a:cs typeface="Calibri"/>
                <a:sym typeface="Calibri"/>
              </a:rPr>
              <a:t>MntGoldProducts</a:t>
            </a:r>
            <a:endParaRPr sz="3200">
              <a:solidFill>
                <a:srgbClr val="1D5732"/>
              </a:solidFill>
              <a:latin typeface="Calibri"/>
              <a:ea typeface="Calibri"/>
              <a:cs typeface="Calibri"/>
              <a:sym typeface="Calibri"/>
            </a:endParaRPr>
          </a:p>
        </p:txBody>
      </p:sp>
      <p:sp>
        <p:nvSpPr>
          <p:cNvPr id="158" name="Google Shape;158;g33f545acea5_1_54"/>
          <p:cNvSpPr/>
          <p:nvPr/>
        </p:nvSpPr>
        <p:spPr>
          <a:xfrm>
            <a:off x="12056500" y="1577625"/>
            <a:ext cx="4446000" cy="3526500"/>
          </a:xfrm>
          <a:prstGeom prst="roundRect">
            <a:avLst>
              <a:gd fmla="val 16667" name="adj"/>
            </a:avLst>
          </a:prstGeom>
          <a:solidFill>
            <a:srgbClr val="FFA2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9" name="Google Shape;159;g33f545acea5_1_54"/>
          <p:cNvSpPr txBox="1"/>
          <p:nvPr/>
        </p:nvSpPr>
        <p:spPr>
          <a:xfrm>
            <a:off x="12160000" y="1840225"/>
            <a:ext cx="4342500" cy="314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1D5732"/>
                </a:solidFill>
                <a:latin typeface="Calibri"/>
                <a:ea typeface="Calibri"/>
                <a:cs typeface="Calibri"/>
                <a:sym typeface="Calibri"/>
              </a:rPr>
              <a:t>Channel</a:t>
            </a:r>
            <a:endParaRPr b="1" sz="3200">
              <a:solidFill>
                <a:srgbClr val="1D5732"/>
              </a:solidFill>
              <a:latin typeface="Calibri"/>
              <a:ea typeface="Calibri"/>
              <a:cs typeface="Calibri"/>
              <a:sym typeface="Calibri"/>
            </a:endParaRPr>
          </a:p>
          <a:p>
            <a:pPr indent="0" lvl="0" marL="0" rtl="0" algn="l">
              <a:spcBef>
                <a:spcPts val="0"/>
              </a:spcBef>
              <a:spcAft>
                <a:spcPts val="0"/>
              </a:spcAft>
              <a:buNone/>
            </a:pPr>
            <a:r>
              <a:t/>
            </a:r>
            <a:endParaRPr sz="3200">
              <a:solidFill>
                <a:srgbClr val="1D5732"/>
              </a:solidFill>
              <a:latin typeface="Calibri"/>
              <a:ea typeface="Calibri"/>
              <a:cs typeface="Calibri"/>
              <a:sym typeface="Calibri"/>
            </a:endParaRPr>
          </a:p>
          <a:p>
            <a:pPr indent="-431800" lvl="0" marL="457200" rtl="0" algn="l">
              <a:spcBef>
                <a:spcPts val="0"/>
              </a:spcBef>
              <a:spcAft>
                <a:spcPts val="0"/>
              </a:spcAft>
              <a:buClr>
                <a:srgbClr val="1D5732"/>
              </a:buClr>
              <a:buSzPts val="3200"/>
              <a:buFont typeface="Calibri"/>
              <a:buChar char="●"/>
            </a:pPr>
            <a:r>
              <a:rPr lang="en-US" sz="3200">
                <a:solidFill>
                  <a:srgbClr val="1D5732"/>
                </a:solidFill>
                <a:latin typeface="Calibri"/>
                <a:ea typeface="Calibri"/>
                <a:cs typeface="Calibri"/>
                <a:sym typeface="Calibri"/>
              </a:rPr>
              <a:t>NumWebPurchases</a:t>
            </a:r>
            <a:endParaRPr sz="3200">
              <a:solidFill>
                <a:srgbClr val="1D5732"/>
              </a:solidFill>
              <a:latin typeface="Calibri"/>
              <a:ea typeface="Calibri"/>
              <a:cs typeface="Calibri"/>
              <a:sym typeface="Calibri"/>
            </a:endParaRPr>
          </a:p>
          <a:p>
            <a:pPr indent="-431800" lvl="0" marL="457200" rtl="0" algn="l">
              <a:spcBef>
                <a:spcPts val="0"/>
              </a:spcBef>
              <a:spcAft>
                <a:spcPts val="0"/>
              </a:spcAft>
              <a:buClr>
                <a:srgbClr val="1D5732"/>
              </a:buClr>
              <a:buSzPts val="3200"/>
              <a:buFont typeface="Calibri"/>
              <a:buChar char="●"/>
            </a:pPr>
            <a:r>
              <a:rPr lang="en-US" sz="3200">
                <a:solidFill>
                  <a:srgbClr val="1D5732"/>
                </a:solidFill>
                <a:latin typeface="Calibri"/>
                <a:ea typeface="Calibri"/>
                <a:cs typeface="Calibri"/>
                <a:sym typeface="Calibri"/>
              </a:rPr>
              <a:t>NumCatalogPurchases</a:t>
            </a:r>
            <a:endParaRPr sz="3200">
              <a:solidFill>
                <a:srgbClr val="1D5732"/>
              </a:solidFill>
              <a:latin typeface="Calibri"/>
              <a:ea typeface="Calibri"/>
              <a:cs typeface="Calibri"/>
              <a:sym typeface="Calibri"/>
            </a:endParaRPr>
          </a:p>
          <a:p>
            <a:pPr indent="-431800" lvl="0" marL="457200" rtl="0" algn="l">
              <a:spcBef>
                <a:spcPts val="0"/>
              </a:spcBef>
              <a:spcAft>
                <a:spcPts val="0"/>
              </a:spcAft>
              <a:buClr>
                <a:srgbClr val="1D5732"/>
              </a:buClr>
              <a:buSzPts val="3200"/>
              <a:buFont typeface="Calibri"/>
              <a:buChar char="●"/>
            </a:pPr>
            <a:r>
              <a:rPr lang="en-US" sz="3200">
                <a:solidFill>
                  <a:srgbClr val="1D5732"/>
                </a:solidFill>
                <a:latin typeface="Calibri"/>
                <a:ea typeface="Calibri"/>
                <a:cs typeface="Calibri"/>
                <a:sym typeface="Calibri"/>
              </a:rPr>
              <a:t>NumStorePurchases</a:t>
            </a:r>
            <a:endParaRPr sz="3200">
              <a:solidFill>
                <a:srgbClr val="1D5732"/>
              </a:solidFill>
              <a:latin typeface="Calibri"/>
              <a:ea typeface="Calibri"/>
              <a:cs typeface="Calibri"/>
              <a:sym typeface="Calibri"/>
            </a:endParaRPr>
          </a:p>
        </p:txBody>
      </p:sp>
      <p:sp>
        <p:nvSpPr>
          <p:cNvPr id="160" name="Google Shape;160;g33f545acea5_1_54"/>
          <p:cNvSpPr/>
          <p:nvPr/>
        </p:nvSpPr>
        <p:spPr>
          <a:xfrm rot="-850509">
            <a:off x="1001973" y="2331448"/>
            <a:ext cx="1258590" cy="1289759"/>
          </a:xfrm>
          <a:custGeom>
            <a:rect b="b" l="l" r="r" t="t"/>
            <a:pathLst>
              <a:path extrusionOk="0" h="1289163" w="1258008">
                <a:moveTo>
                  <a:pt x="0" y="0"/>
                </a:moveTo>
                <a:lnTo>
                  <a:pt x="1258007" y="0"/>
                </a:lnTo>
                <a:lnTo>
                  <a:pt x="1258007" y="1289162"/>
                </a:lnTo>
                <a:lnTo>
                  <a:pt x="0" y="1289162"/>
                </a:lnTo>
                <a:lnTo>
                  <a:pt x="0" y="0"/>
                </a:lnTo>
                <a:close/>
              </a:path>
            </a:pathLst>
          </a:custGeom>
          <a:blipFill rotWithShape="1">
            <a:blip r:embed="rId4">
              <a:alphaModFix/>
            </a:blip>
            <a:stretch>
              <a:fillRect b="0" l="0" r="0" t="0"/>
            </a:stretch>
          </a:blipFill>
          <a:ln>
            <a:noFill/>
          </a:ln>
        </p:spPr>
      </p:sp>
      <p:sp>
        <p:nvSpPr>
          <p:cNvPr id="161" name="Google Shape;161;g33f545acea5_1_54"/>
          <p:cNvSpPr txBox="1"/>
          <p:nvPr/>
        </p:nvSpPr>
        <p:spPr>
          <a:xfrm>
            <a:off x="17112090" y="4467225"/>
            <a:ext cx="1267800" cy="615600"/>
          </a:xfrm>
          <a:prstGeom prst="rect">
            <a:avLst/>
          </a:prstGeom>
          <a:noFill/>
          <a:ln>
            <a:noFill/>
          </a:ln>
        </p:spPr>
        <p:txBody>
          <a:bodyPr anchorCtr="0" anchor="t" bIns="0" lIns="0" spcFirstLastPara="1" rIns="0" wrap="square" tIns="0">
            <a:spAutoFit/>
          </a:bodyPr>
          <a:lstStyle/>
          <a:p>
            <a:pPr indent="0" lvl="0" marL="0" marR="0" rtl="0" algn="r">
              <a:lnSpc>
                <a:spcPct val="140010"/>
              </a:lnSpc>
              <a:spcBef>
                <a:spcPts val="0"/>
              </a:spcBef>
              <a:spcAft>
                <a:spcPts val="0"/>
              </a:spcAft>
              <a:buNone/>
            </a:pPr>
            <a:r>
              <a:rPr b="1" i="0" lang="en-US" sz="3999" u="none" cap="none" strike="noStrike">
                <a:solidFill>
                  <a:srgbClr val="EEE3B1"/>
                </a:solidFill>
                <a:latin typeface="Arial"/>
                <a:ea typeface="Arial"/>
                <a:cs typeface="Arial"/>
                <a:sym typeface="Arial"/>
              </a:rPr>
              <a:t>03</a:t>
            </a:r>
            <a:endParaRPr/>
          </a:p>
        </p:txBody>
      </p:sp>
      <p:sp>
        <p:nvSpPr>
          <p:cNvPr id="162" name="Google Shape;162;g33f545acea5_1_54"/>
          <p:cNvSpPr/>
          <p:nvPr/>
        </p:nvSpPr>
        <p:spPr>
          <a:xfrm>
            <a:off x="12056500" y="5082825"/>
            <a:ext cx="4446000" cy="3526500"/>
          </a:xfrm>
          <a:prstGeom prst="roundRect">
            <a:avLst>
              <a:gd fmla="val 16667" name="adj"/>
            </a:avLst>
          </a:prstGeom>
          <a:solidFill>
            <a:srgbClr val="FFA2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3" name="Google Shape;163;g33f545acea5_1_54"/>
          <p:cNvSpPr txBox="1"/>
          <p:nvPr/>
        </p:nvSpPr>
        <p:spPr>
          <a:xfrm>
            <a:off x="12160000" y="5245625"/>
            <a:ext cx="4342500" cy="314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1D5732"/>
                </a:solidFill>
                <a:latin typeface="Calibri"/>
                <a:ea typeface="Calibri"/>
                <a:cs typeface="Calibri"/>
                <a:sym typeface="Calibri"/>
              </a:rPr>
              <a:t>Promotion</a:t>
            </a:r>
            <a:endParaRPr b="1" sz="3200">
              <a:solidFill>
                <a:srgbClr val="1D5732"/>
              </a:solidFill>
              <a:latin typeface="Calibri"/>
              <a:ea typeface="Calibri"/>
              <a:cs typeface="Calibri"/>
              <a:sym typeface="Calibri"/>
            </a:endParaRPr>
          </a:p>
          <a:p>
            <a:pPr indent="0" lvl="0" marL="0" rtl="0" algn="l">
              <a:spcBef>
                <a:spcPts val="0"/>
              </a:spcBef>
              <a:spcAft>
                <a:spcPts val="0"/>
              </a:spcAft>
              <a:buNone/>
            </a:pPr>
            <a:r>
              <a:t/>
            </a:r>
            <a:endParaRPr sz="3200">
              <a:solidFill>
                <a:srgbClr val="1D5732"/>
              </a:solidFill>
              <a:latin typeface="Calibri"/>
              <a:ea typeface="Calibri"/>
              <a:cs typeface="Calibri"/>
              <a:sym typeface="Calibri"/>
            </a:endParaRPr>
          </a:p>
          <a:p>
            <a:pPr indent="-431800" lvl="0" marL="457200" rtl="0" algn="l">
              <a:spcBef>
                <a:spcPts val="0"/>
              </a:spcBef>
              <a:spcAft>
                <a:spcPts val="0"/>
              </a:spcAft>
              <a:buClr>
                <a:srgbClr val="1D5732"/>
              </a:buClr>
              <a:buSzPts val="3200"/>
              <a:buFont typeface="Calibri"/>
              <a:buChar char="●"/>
            </a:pPr>
            <a:r>
              <a:rPr lang="en-US" sz="3200">
                <a:solidFill>
                  <a:srgbClr val="1D5732"/>
                </a:solidFill>
                <a:latin typeface="Calibri"/>
                <a:ea typeface="Calibri"/>
                <a:cs typeface="Calibri"/>
                <a:sym typeface="Calibri"/>
              </a:rPr>
              <a:t>NumDealsPurchases</a:t>
            </a:r>
            <a:endParaRPr sz="3200">
              <a:solidFill>
                <a:srgbClr val="1D5732"/>
              </a:solidFill>
              <a:latin typeface="Calibri"/>
              <a:ea typeface="Calibri"/>
              <a:cs typeface="Calibri"/>
              <a:sym typeface="Calibri"/>
            </a:endParaRPr>
          </a:p>
          <a:p>
            <a:pPr indent="-431800" lvl="0" marL="457200" rtl="0" algn="l">
              <a:spcBef>
                <a:spcPts val="0"/>
              </a:spcBef>
              <a:spcAft>
                <a:spcPts val="0"/>
              </a:spcAft>
              <a:buClr>
                <a:srgbClr val="1D5732"/>
              </a:buClr>
              <a:buSzPts val="3200"/>
              <a:buFont typeface="Calibri"/>
              <a:buChar char="●"/>
            </a:pPr>
            <a:r>
              <a:rPr lang="en-US" sz="3200">
                <a:solidFill>
                  <a:srgbClr val="1D5732"/>
                </a:solidFill>
                <a:latin typeface="Calibri"/>
                <a:ea typeface="Calibri"/>
                <a:cs typeface="Calibri"/>
                <a:sym typeface="Calibri"/>
              </a:rPr>
              <a:t>AcceptedCmp1</a:t>
            </a:r>
            <a:endParaRPr sz="3200">
              <a:solidFill>
                <a:srgbClr val="1D5732"/>
              </a:solidFill>
              <a:latin typeface="Calibri"/>
              <a:ea typeface="Calibri"/>
              <a:cs typeface="Calibri"/>
              <a:sym typeface="Calibri"/>
            </a:endParaRPr>
          </a:p>
          <a:p>
            <a:pPr indent="-431800" lvl="0" marL="457200" rtl="0" algn="l">
              <a:spcBef>
                <a:spcPts val="0"/>
              </a:spcBef>
              <a:spcAft>
                <a:spcPts val="0"/>
              </a:spcAft>
              <a:buClr>
                <a:srgbClr val="1D5732"/>
              </a:buClr>
              <a:buSzPts val="3200"/>
              <a:buFont typeface="Calibri"/>
              <a:buChar char="●"/>
            </a:pPr>
            <a:r>
              <a:rPr lang="en-US" sz="3200">
                <a:solidFill>
                  <a:srgbClr val="1D5732"/>
                </a:solidFill>
                <a:latin typeface="Calibri"/>
                <a:ea typeface="Calibri"/>
                <a:cs typeface="Calibri"/>
                <a:sym typeface="Calibri"/>
              </a:rPr>
              <a:t>...</a:t>
            </a:r>
            <a:endParaRPr sz="3200">
              <a:solidFill>
                <a:srgbClr val="1D5732"/>
              </a:solidFill>
              <a:latin typeface="Calibri"/>
              <a:ea typeface="Calibri"/>
              <a:cs typeface="Calibri"/>
              <a:sym typeface="Calibri"/>
            </a:endParaRPr>
          </a:p>
        </p:txBody>
      </p:sp>
      <p:sp>
        <p:nvSpPr>
          <p:cNvPr id="164" name="Google Shape;164;g33f545acea5_1_54"/>
          <p:cNvSpPr/>
          <p:nvPr/>
        </p:nvSpPr>
        <p:spPr>
          <a:xfrm rot="461763">
            <a:off x="15260567" y="546299"/>
            <a:ext cx="1770715" cy="2078368"/>
          </a:xfrm>
          <a:custGeom>
            <a:rect b="b" l="l" r="r" t="t"/>
            <a:pathLst>
              <a:path extrusionOk="0" h="1962035" w="1459264">
                <a:moveTo>
                  <a:pt x="0" y="0"/>
                </a:moveTo>
                <a:lnTo>
                  <a:pt x="1459264" y="0"/>
                </a:lnTo>
                <a:lnTo>
                  <a:pt x="1459264" y="1962036"/>
                </a:lnTo>
                <a:lnTo>
                  <a:pt x="0" y="1962036"/>
                </a:lnTo>
                <a:lnTo>
                  <a:pt x="0" y="0"/>
                </a:lnTo>
                <a:close/>
              </a:path>
            </a:pathLst>
          </a:custGeom>
          <a:blipFill rotWithShape="1">
            <a:blip r:embed="rId5">
              <a:alphaModFix/>
            </a:blip>
            <a:stretch>
              <a:fillRect b="0" l="0" r="0" t="0"/>
            </a:stretch>
          </a:blipFill>
          <a:ln>
            <a:noFill/>
          </a:ln>
        </p:spPr>
      </p:sp>
      <p:sp>
        <p:nvSpPr>
          <p:cNvPr id="165" name="Google Shape;165;g33f545acea5_1_54"/>
          <p:cNvSpPr/>
          <p:nvPr/>
        </p:nvSpPr>
        <p:spPr>
          <a:xfrm rot="1282585">
            <a:off x="16012592" y="7556182"/>
            <a:ext cx="1351560" cy="1393361"/>
          </a:xfrm>
          <a:custGeom>
            <a:rect b="b" l="l" r="r" t="t"/>
            <a:pathLst>
              <a:path extrusionOk="0" h="1391427" w="1349684">
                <a:moveTo>
                  <a:pt x="0" y="0"/>
                </a:moveTo>
                <a:lnTo>
                  <a:pt x="1349684" y="0"/>
                </a:lnTo>
                <a:lnTo>
                  <a:pt x="1349684" y="1391427"/>
                </a:lnTo>
                <a:lnTo>
                  <a:pt x="0" y="1391427"/>
                </a:lnTo>
                <a:lnTo>
                  <a:pt x="0" y="0"/>
                </a:lnTo>
                <a:close/>
              </a:path>
            </a:pathLst>
          </a:custGeom>
          <a:blipFill rotWithShape="1">
            <a:blip r:embed="rId6">
              <a:alphaModFix/>
            </a:blip>
            <a:stretch>
              <a:fillRect b="0" l="0" r="0" t="0"/>
            </a:stretch>
          </a:blipFill>
          <a:ln>
            <a:noFill/>
          </a:ln>
        </p:spPr>
      </p:sp>
      <p:sp>
        <p:nvSpPr>
          <p:cNvPr id="166" name="Google Shape;166;g33f545acea5_1_54"/>
          <p:cNvSpPr/>
          <p:nvPr/>
        </p:nvSpPr>
        <p:spPr>
          <a:xfrm flipH="1" rot="1293721">
            <a:off x="6330982" y="7417000"/>
            <a:ext cx="1123212" cy="1100748"/>
          </a:xfrm>
          <a:custGeom>
            <a:rect b="b" l="l" r="r" t="t"/>
            <a:pathLst>
              <a:path extrusionOk="0" h="1100772" w="1123237">
                <a:moveTo>
                  <a:pt x="1123237" y="0"/>
                </a:moveTo>
                <a:lnTo>
                  <a:pt x="0" y="0"/>
                </a:lnTo>
                <a:lnTo>
                  <a:pt x="0" y="1100773"/>
                </a:lnTo>
                <a:lnTo>
                  <a:pt x="1123237" y="1100773"/>
                </a:lnTo>
                <a:lnTo>
                  <a:pt x="1123237" y="0"/>
                </a:lnTo>
                <a:close/>
              </a:path>
            </a:pathLst>
          </a:custGeom>
          <a:blipFill rotWithShape="1">
            <a:blip r:embed="rId7">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3B1"/>
        </a:solidFill>
      </p:bgPr>
    </p:bg>
    <p:spTree>
      <p:nvGrpSpPr>
        <p:cNvPr id="170" name="Shape 170"/>
        <p:cNvGrpSpPr/>
        <p:nvPr/>
      </p:nvGrpSpPr>
      <p:grpSpPr>
        <a:xfrm>
          <a:off x="0" y="0"/>
          <a:ext cx="0" cy="0"/>
          <a:chOff x="0" y="0"/>
          <a:chExt cx="0" cy="0"/>
        </a:xfrm>
      </p:grpSpPr>
      <p:sp>
        <p:nvSpPr>
          <p:cNvPr id="171" name="Google Shape;171;g3358c15f51e_0_0"/>
          <p:cNvSpPr txBox="1"/>
          <p:nvPr/>
        </p:nvSpPr>
        <p:spPr>
          <a:xfrm>
            <a:off x="590300" y="561625"/>
            <a:ext cx="116958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6000">
                <a:solidFill>
                  <a:srgbClr val="1D5732"/>
                </a:solidFill>
              </a:rPr>
              <a:t>EDA &amp; Insights</a:t>
            </a:r>
            <a:endParaRPr sz="6000">
              <a:solidFill>
                <a:srgbClr val="1D5732"/>
              </a:solidFill>
            </a:endParaRPr>
          </a:p>
        </p:txBody>
      </p:sp>
      <p:sp>
        <p:nvSpPr>
          <p:cNvPr id="172" name="Google Shape;172;g3358c15f51e_0_0"/>
          <p:cNvSpPr txBox="1"/>
          <p:nvPr/>
        </p:nvSpPr>
        <p:spPr>
          <a:xfrm>
            <a:off x="15969090" y="962025"/>
            <a:ext cx="1267800" cy="615600"/>
          </a:xfrm>
          <a:prstGeom prst="rect">
            <a:avLst/>
          </a:prstGeom>
          <a:noFill/>
          <a:ln>
            <a:noFill/>
          </a:ln>
        </p:spPr>
        <p:txBody>
          <a:bodyPr anchorCtr="0" anchor="t" bIns="0" lIns="0" spcFirstLastPara="1" rIns="0" wrap="square" tIns="0">
            <a:spAutoFit/>
          </a:bodyPr>
          <a:lstStyle/>
          <a:p>
            <a:pPr indent="0" lvl="0" marL="0" marR="0" rtl="0" algn="r">
              <a:lnSpc>
                <a:spcPct val="140010"/>
              </a:lnSpc>
              <a:spcBef>
                <a:spcPts val="0"/>
              </a:spcBef>
              <a:spcAft>
                <a:spcPts val="0"/>
              </a:spcAft>
              <a:buNone/>
            </a:pPr>
            <a:r>
              <a:rPr b="1" i="0" lang="en-US" sz="3999" u="none" cap="none" strike="noStrike">
                <a:solidFill>
                  <a:srgbClr val="EEE3B1"/>
                </a:solidFill>
                <a:latin typeface="Arial"/>
                <a:ea typeface="Arial"/>
                <a:cs typeface="Arial"/>
                <a:sym typeface="Arial"/>
              </a:rPr>
              <a:t>03</a:t>
            </a:r>
            <a:endParaRPr/>
          </a:p>
        </p:txBody>
      </p:sp>
      <p:grpSp>
        <p:nvGrpSpPr>
          <p:cNvPr id="173" name="Google Shape;173;g3358c15f51e_0_0"/>
          <p:cNvGrpSpPr/>
          <p:nvPr/>
        </p:nvGrpSpPr>
        <p:grpSpPr>
          <a:xfrm>
            <a:off x="-50" y="9147925"/>
            <a:ext cx="18288118" cy="1139089"/>
            <a:chOff x="0" y="-28575"/>
            <a:chExt cx="4816592" cy="792134"/>
          </a:xfrm>
        </p:grpSpPr>
        <p:sp>
          <p:nvSpPr>
            <p:cNvPr id="174" name="Google Shape;174;g3358c15f51e_0_0"/>
            <p:cNvSpPr/>
            <p:nvPr/>
          </p:nvSpPr>
          <p:spPr>
            <a:xfrm>
              <a:off x="0" y="0"/>
              <a:ext cx="4816592" cy="763559"/>
            </a:xfrm>
            <a:custGeom>
              <a:rect b="b" l="l" r="r" t="t"/>
              <a:pathLst>
                <a:path extrusionOk="0" h="763559" w="4816592">
                  <a:moveTo>
                    <a:pt x="0" y="0"/>
                  </a:moveTo>
                  <a:lnTo>
                    <a:pt x="4816592" y="0"/>
                  </a:lnTo>
                  <a:lnTo>
                    <a:pt x="4816592" y="763559"/>
                  </a:lnTo>
                  <a:lnTo>
                    <a:pt x="0" y="763559"/>
                  </a:lnTo>
                  <a:close/>
                </a:path>
              </a:pathLst>
            </a:custGeom>
            <a:solidFill>
              <a:srgbClr val="1D5732"/>
            </a:solidFill>
            <a:ln>
              <a:noFill/>
            </a:ln>
          </p:spPr>
        </p:sp>
        <p:sp>
          <p:nvSpPr>
            <p:cNvPr id="175" name="Google Shape;175;g3358c15f51e_0_0"/>
            <p:cNvSpPr txBox="1"/>
            <p:nvPr/>
          </p:nvSpPr>
          <p:spPr>
            <a:xfrm>
              <a:off x="0" y="-28575"/>
              <a:ext cx="4816500" cy="7920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6" name="Google Shape;176;g3358c15f51e_0_0"/>
          <p:cNvSpPr/>
          <p:nvPr/>
        </p:nvSpPr>
        <p:spPr>
          <a:xfrm>
            <a:off x="8275818" y="2598093"/>
            <a:ext cx="870958" cy="1074704"/>
          </a:xfrm>
          <a:custGeom>
            <a:rect b="b" l="l" r="r" t="t"/>
            <a:pathLst>
              <a:path extrusionOk="0" h="1074704" w="870958">
                <a:moveTo>
                  <a:pt x="0" y="0"/>
                </a:moveTo>
                <a:lnTo>
                  <a:pt x="870958" y="0"/>
                </a:lnTo>
                <a:lnTo>
                  <a:pt x="870958" y="1074704"/>
                </a:lnTo>
                <a:lnTo>
                  <a:pt x="0" y="1074704"/>
                </a:lnTo>
                <a:lnTo>
                  <a:pt x="0" y="0"/>
                </a:lnTo>
                <a:close/>
              </a:path>
            </a:pathLst>
          </a:custGeom>
          <a:blipFill rotWithShape="1">
            <a:blip r:embed="rId3">
              <a:alphaModFix/>
            </a:blip>
            <a:stretch>
              <a:fillRect b="0" l="0" r="0" t="0"/>
            </a:stretch>
          </a:blipFill>
          <a:ln>
            <a:noFill/>
          </a:ln>
        </p:spPr>
      </p:sp>
      <p:grpSp>
        <p:nvGrpSpPr>
          <p:cNvPr id="177" name="Google Shape;177;g3358c15f51e_0_0"/>
          <p:cNvGrpSpPr/>
          <p:nvPr/>
        </p:nvGrpSpPr>
        <p:grpSpPr>
          <a:xfrm>
            <a:off x="118900" y="9392235"/>
            <a:ext cx="10607763" cy="739758"/>
            <a:chOff x="2577" y="877098"/>
            <a:chExt cx="10553938" cy="917700"/>
          </a:xfrm>
        </p:grpSpPr>
        <p:sp>
          <p:nvSpPr>
            <p:cNvPr id="178" name="Google Shape;178;g3358c15f51e_0_0"/>
            <p:cNvSpPr/>
            <p:nvPr/>
          </p:nvSpPr>
          <p:spPr>
            <a:xfrm>
              <a:off x="2577"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g3358c15f51e_0_0"/>
            <p:cNvSpPr txBox="1"/>
            <p:nvPr/>
          </p:nvSpPr>
          <p:spPr>
            <a:xfrm>
              <a:off x="571834" y="1021426"/>
              <a:ext cx="1155900" cy="5910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i="0" lang="en-US" u="none" cap="none" strike="noStrike">
                  <a:solidFill>
                    <a:srgbClr val="002060"/>
                  </a:solidFill>
                </a:rPr>
                <a:t>Busine</a:t>
              </a:r>
              <a:r>
                <a:rPr lang="en-US">
                  <a:solidFill>
                    <a:srgbClr val="002060"/>
                  </a:solidFill>
                </a:rPr>
                <a:t>s</a:t>
              </a:r>
              <a:r>
                <a:rPr i="0" lang="en-US" u="none" cap="none" strike="noStrike">
                  <a:solidFill>
                    <a:srgbClr val="002060"/>
                  </a:solidFill>
                </a:rPr>
                <a:t>s Problem</a:t>
              </a:r>
              <a:endParaRPr i="0" u="none" cap="none" strike="noStrike">
                <a:solidFill>
                  <a:srgbClr val="002060"/>
                </a:solidFill>
              </a:endParaRPr>
            </a:p>
          </p:txBody>
        </p:sp>
        <p:sp>
          <p:nvSpPr>
            <p:cNvPr id="180" name="Google Shape;180;g3358c15f51e_0_0"/>
            <p:cNvSpPr/>
            <p:nvPr/>
          </p:nvSpPr>
          <p:spPr>
            <a:xfrm>
              <a:off x="2067462" y="877098"/>
              <a:ext cx="2294400" cy="917700"/>
            </a:xfrm>
            <a:prstGeom prst="chevron">
              <a:avLst>
                <a:gd fmla="val 50000" name="adj"/>
              </a:avLst>
            </a:prstGeom>
            <a:solidFill>
              <a:schemeClr val="lt2"/>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g3358c15f51e_0_0"/>
            <p:cNvSpPr txBox="1"/>
            <p:nvPr/>
          </p:nvSpPr>
          <p:spPr>
            <a:xfrm>
              <a:off x="2561114" y="972834"/>
              <a:ext cx="1155900" cy="6882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i="0" lang="en-US" u="none" cap="none" strike="noStrike">
                  <a:solidFill>
                    <a:srgbClr val="002060"/>
                  </a:solidFill>
                </a:rPr>
                <a:t>EDA &amp; Insights</a:t>
              </a:r>
              <a:endParaRPr i="0" u="none" cap="none" strike="noStrike">
                <a:solidFill>
                  <a:srgbClr val="002060"/>
                </a:solidFill>
              </a:endParaRPr>
            </a:p>
          </p:txBody>
        </p:sp>
        <p:sp>
          <p:nvSpPr>
            <p:cNvPr id="182" name="Google Shape;182;g3358c15f51e_0_0"/>
            <p:cNvSpPr/>
            <p:nvPr/>
          </p:nvSpPr>
          <p:spPr>
            <a:xfrm>
              <a:off x="4132346"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g3358c15f51e_0_0"/>
            <p:cNvSpPr/>
            <p:nvPr/>
          </p:nvSpPr>
          <p:spPr>
            <a:xfrm>
              <a:off x="6197231"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g3358c15f51e_0_0"/>
            <p:cNvSpPr txBox="1"/>
            <p:nvPr/>
          </p:nvSpPr>
          <p:spPr>
            <a:xfrm>
              <a:off x="6668795" y="973848"/>
              <a:ext cx="1489500" cy="688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Campaign Prediction</a:t>
              </a:r>
              <a:endParaRPr i="0" u="none" cap="none" strike="noStrike">
                <a:solidFill>
                  <a:srgbClr val="002060"/>
                </a:solidFill>
              </a:endParaRPr>
            </a:p>
          </p:txBody>
        </p:sp>
        <p:sp>
          <p:nvSpPr>
            <p:cNvPr id="185" name="Google Shape;185;g3358c15f51e_0_0"/>
            <p:cNvSpPr/>
            <p:nvPr/>
          </p:nvSpPr>
          <p:spPr>
            <a:xfrm>
              <a:off x="8262115"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358c15f51e_0_0"/>
            <p:cNvSpPr txBox="1"/>
            <p:nvPr/>
          </p:nvSpPr>
          <p:spPr>
            <a:xfrm>
              <a:off x="8648985" y="973811"/>
              <a:ext cx="1489500" cy="724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Recommendation</a:t>
              </a:r>
              <a:endParaRPr i="0" u="none" cap="none" strike="noStrike">
                <a:solidFill>
                  <a:srgbClr val="002060"/>
                </a:solidFill>
              </a:endParaRPr>
            </a:p>
          </p:txBody>
        </p:sp>
        <p:sp>
          <p:nvSpPr>
            <p:cNvPr id="187" name="Google Shape;187;g3358c15f51e_0_0"/>
            <p:cNvSpPr txBox="1"/>
            <p:nvPr/>
          </p:nvSpPr>
          <p:spPr>
            <a:xfrm>
              <a:off x="4550363" y="955709"/>
              <a:ext cx="1489500" cy="724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Clustering &amp; Segmentation</a:t>
              </a:r>
              <a:endParaRPr i="0" u="none" cap="none" strike="noStrike">
                <a:solidFill>
                  <a:srgbClr val="002060"/>
                </a:solidFill>
              </a:endParaRPr>
            </a:p>
          </p:txBody>
        </p:sp>
      </p:grpSp>
      <p:pic>
        <p:nvPicPr>
          <p:cNvPr id="188" name="Google Shape;188;g3358c15f51e_0_0"/>
          <p:cNvPicPr preferRelativeResize="0"/>
          <p:nvPr/>
        </p:nvPicPr>
        <p:blipFill>
          <a:blip r:embed="rId4">
            <a:alphaModFix/>
          </a:blip>
          <a:stretch>
            <a:fillRect/>
          </a:stretch>
        </p:blipFill>
        <p:spPr>
          <a:xfrm>
            <a:off x="971950" y="3062850"/>
            <a:ext cx="7072050" cy="5173126"/>
          </a:xfrm>
          <a:prstGeom prst="rect">
            <a:avLst/>
          </a:prstGeom>
          <a:noFill/>
          <a:ln>
            <a:noFill/>
          </a:ln>
        </p:spPr>
      </p:pic>
      <p:sp>
        <p:nvSpPr>
          <p:cNvPr id="189" name="Google Shape;189;g3358c15f51e_0_0"/>
          <p:cNvSpPr txBox="1"/>
          <p:nvPr/>
        </p:nvSpPr>
        <p:spPr>
          <a:xfrm>
            <a:off x="971950" y="2229275"/>
            <a:ext cx="6974100" cy="73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rgbClr val="1D5732"/>
                </a:solidFill>
                <a:latin typeface="Calibri"/>
                <a:ea typeface="Calibri"/>
                <a:cs typeface="Calibri"/>
                <a:sym typeface="Calibri"/>
              </a:rPr>
              <a:t>Distribution of Purchases by Channel</a:t>
            </a:r>
            <a:endParaRPr b="1" sz="3200">
              <a:solidFill>
                <a:srgbClr val="1D5732"/>
              </a:solidFill>
              <a:latin typeface="Calibri"/>
              <a:ea typeface="Calibri"/>
              <a:cs typeface="Calibri"/>
              <a:sym typeface="Calibri"/>
            </a:endParaRPr>
          </a:p>
        </p:txBody>
      </p:sp>
      <p:pic>
        <p:nvPicPr>
          <p:cNvPr id="190" name="Google Shape;190;g3358c15f51e_0_0"/>
          <p:cNvPicPr preferRelativeResize="0"/>
          <p:nvPr/>
        </p:nvPicPr>
        <p:blipFill rotWithShape="1">
          <a:blip r:embed="rId5">
            <a:alphaModFix/>
          </a:blip>
          <a:srcRect b="0" l="2588" r="2597" t="0"/>
          <a:stretch/>
        </p:blipFill>
        <p:spPr>
          <a:xfrm>
            <a:off x="10506837" y="913650"/>
            <a:ext cx="4102201" cy="3371060"/>
          </a:xfrm>
          <a:prstGeom prst="rect">
            <a:avLst/>
          </a:prstGeom>
          <a:noFill/>
          <a:ln>
            <a:noFill/>
          </a:ln>
        </p:spPr>
      </p:pic>
      <p:pic>
        <p:nvPicPr>
          <p:cNvPr id="191" name="Google Shape;191;g3358c15f51e_0_0"/>
          <p:cNvPicPr preferRelativeResize="0"/>
          <p:nvPr/>
        </p:nvPicPr>
        <p:blipFill rotWithShape="1">
          <a:blip r:embed="rId6">
            <a:alphaModFix/>
          </a:blip>
          <a:srcRect b="0" l="0" r="0" t="0"/>
          <a:stretch/>
        </p:blipFill>
        <p:spPr>
          <a:xfrm>
            <a:off x="10506825" y="5152399"/>
            <a:ext cx="4234301" cy="3995525"/>
          </a:xfrm>
          <a:prstGeom prst="rect">
            <a:avLst/>
          </a:prstGeom>
          <a:noFill/>
          <a:ln>
            <a:noFill/>
          </a:ln>
        </p:spPr>
      </p:pic>
      <p:sp>
        <p:nvSpPr>
          <p:cNvPr id="192" name="Google Shape;192;g3358c15f51e_0_0"/>
          <p:cNvSpPr/>
          <p:nvPr/>
        </p:nvSpPr>
        <p:spPr>
          <a:xfrm>
            <a:off x="7457426" y="1807177"/>
            <a:ext cx="1459264" cy="1962035"/>
          </a:xfrm>
          <a:custGeom>
            <a:rect b="b" l="l" r="r" t="t"/>
            <a:pathLst>
              <a:path extrusionOk="0" h="1962035" w="1459264">
                <a:moveTo>
                  <a:pt x="0" y="0"/>
                </a:moveTo>
                <a:lnTo>
                  <a:pt x="1459264" y="0"/>
                </a:lnTo>
                <a:lnTo>
                  <a:pt x="1459264" y="1962036"/>
                </a:lnTo>
                <a:lnTo>
                  <a:pt x="0" y="1962036"/>
                </a:lnTo>
                <a:lnTo>
                  <a:pt x="0" y="0"/>
                </a:lnTo>
                <a:close/>
              </a:path>
            </a:pathLst>
          </a:custGeom>
          <a:blipFill rotWithShape="1">
            <a:blip r:embed="rId7">
              <a:alphaModFix/>
            </a:blip>
            <a:stretch>
              <a:fillRect b="0" l="0" r="0" t="0"/>
            </a:stretch>
          </a:blipFill>
          <a:ln>
            <a:noFill/>
          </a:ln>
        </p:spPr>
      </p:sp>
      <p:sp>
        <p:nvSpPr>
          <p:cNvPr id="193" name="Google Shape;193;g3358c15f51e_0_0"/>
          <p:cNvSpPr/>
          <p:nvPr/>
        </p:nvSpPr>
        <p:spPr>
          <a:xfrm flipH="1" rot="-2480867">
            <a:off x="15944821" y="7796332"/>
            <a:ext cx="2337946" cy="1531354"/>
          </a:xfrm>
          <a:custGeom>
            <a:rect b="b" l="l" r="r" t="t"/>
            <a:pathLst>
              <a:path extrusionOk="0" h="1532811" w="2340170">
                <a:moveTo>
                  <a:pt x="2340170" y="0"/>
                </a:moveTo>
                <a:lnTo>
                  <a:pt x="0" y="0"/>
                </a:lnTo>
                <a:lnTo>
                  <a:pt x="0" y="1532811"/>
                </a:lnTo>
                <a:lnTo>
                  <a:pt x="2340170" y="1532811"/>
                </a:lnTo>
                <a:lnTo>
                  <a:pt x="2340170" y="0"/>
                </a:lnTo>
                <a:close/>
              </a:path>
            </a:pathLst>
          </a:custGeom>
          <a:blipFill rotWithShape="1">
            <a:blip r:embed="rId8">
              <a:alphaModFix/>
            </a:blip>
            <a:stretch>
              <a:fillRect b="0" l="0" r="0" t="0"/>
            </a:stretch>
          </a:blipFill>
          <a:ln>
            <a:noFill/>
          </a:ln>
        </p:spPr>
      </p:sp>
      <p:sp>
        <p:nvSpPr>
          <p:cNvPr id="194" name="Google Shape;194;g3358c15f51e_0_0"/>
          <p:cNvSpPr txBox="1"/>
          <p:nvPr/>
        </p:nvSpPr>
        <p:spPr>
          <a:xfrm rot="122">
            <a:off x="10067775" y="4649075"/>
            <a:ext cx="8429400" cy="142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1D5732"/>
                </a:solidFill>
                <a:latin typeface="Calibri"/>
                <a:ea typeface="Calibri"/>
                <a:cs typeface="Calibri"/>
                <a:sym typeface="Calibri"/>
              </a:rPr>
              <a:t>Percentage of Acceptance Across All Campaigns</a:t>
            </a:r>
            <a:endParaRPr b="1" sz="2400">
              <a:solidFill>
                <a:srgbClr val="1D5732"/>
              </a:solidFill>
              <a:latin typeface="Calibri"/>
              <a:ea typeface="Calibri"/>
              <a:cs typeface="Calibri"/>
              <a:sym typeface="Calibri"/>
            </a:endParaRPr>
          </a:p>
        </p:txBody>
      </p:sp>
      <p:sp>
        <p:nvSpPr>
          <p:cNvPr id="195" name="Google Shape;195;g3358c15f51e_0_0"/>
          <p:cNvSpPr txBox="1"/>
          <p:nvPr/>
        </p:nvSpPr>
        <p:spPr>
          <a:xfrm>
            <a:off x="10330225" y="-1"/>
            <a:ext cx="4537500" cy="10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400">
                <a:solidFill>
                  <a:srgbClr val="1D5732"/>
                </a:solidFill>
                <a:latin typeface="Calibri"/>
                <a:ea typeface="Calibri"/>
                <a:cs typeface="Calibri"/>
                <a:sym typeface="Calibri"/>
              </a:rPr>
              <a:t>Percentage of Customers Accepting At Least One Campaign</a:t>
            </a:r>
            <a:endParaRPr b="1" sz="2400">
              <a:solidFill>
                <a:srgbClr val="1D5732"/>
              </a:solidFill>
              <a:latin typeface="Calibri"/>
              <a:ea typeface="Calibri"/>
              <a:cs typeface="Calibri"/>
              <a:sym typeface="Calibri"/>
            </a:endParaRPr>
          </a:p>
        </p:txBody>
      </p:sp>
      <p:sp>
        <p:nvSpPr>
          <p:cNvPr id="196" name="Google Shape;196;g3358c15f51e_0_0"/>
          <p:cNvSpPr/>
          <p:nvPr/>
        </p:nvSpPr>
        <p:spPr>
          <a:xfrm>
            <a:off x="15969093" y="1729793"/>
            <a:ext cx="870958" cy="1074704"/>
          </a:xfrm>
          <a:custGeom>
            <a:rect b="b" l="l" r="r" t="t"/>
            <a:pathLst>
              <a:path extrusionOk="0" h="1074704" w="870958">
                <a:moveTo>
                  <a:pt x="0" y="0"/>
                </a:moveTo>
                <a:lnTo>
                  <a:pt x="870958" y="0"/>
                </a:lnTo>
                <a:lnTo>
                  <a:pt x="870958" y="1074704"/>
                </a:lnTo>
                <a:lnTo>
                  <a:pt x="0" y="1074704"/>
                </a:lnTo>
                <a:lnTo>
                  <a:pt x="0" y="0"/>
                </a:lnTo>
                <a:close/>
              </a:path>
            </a:pathLst>
          </a:custGeom>
          <a:blipFill rotWithShape="1">
            <a:blip r:embed="rId3">
              <a:alphaModFix/>
            </a:blip>
            <a:stretch>
              <a:fillRect b="0" l="0" r="0" t="0"/>
            </a:stretch>
          </a:blipFill>
          <a:ln>
            <a:noFill/>
          </a:ln>
        </p:spPr>
      </p:sp>
      <p:sp>
        <p:nvSpPr>
          <p:cNvPr id="197" name="Google Shape;197;g3358c15f51e_0_0"/>
          <p:cNvSpPr/>
          <p:nvPr/>
        </p:nvSpPr>
        <p:spPr>
          <a:xfrm rot="1282585">
            <a:off x="15728792" y="198382"/>
            <a:ext cx="1351560" cy="1393361"/>
          </a:xfrm>
          <a:custGeom>
            <a:rect b="b" l="l" r="r" t="t"/>
            <a:pathLst>
              <a:path extrusionOk="0" h="1391427" w="1349684">
                <a:moveTo>
                  <a:pt x="0" y="0"/>
                </a:moveTo>
                <a:lnTo>
                  <a:pt x="1349684" y="0"/>
                </a:lnTo>
                <a:lnTo>
                  <a:pt x="1349684" y="1391427"/>
                </a:lnTo>
                <a:lnTo>
                  <a:pt x="0" y="1391427"/>
                </a:lnTo>
                <a:lnTo>
                  <a:pt x="0" y="0"/>
                </a:lnTo>
                <a:close/>
              </a:path>
            </a:pathLst>
          </a:custGeom>
          <a:blipFill rotWithShape="1">
            <a:blip r:embed="rId9">
              <a:alphaModFix/>
            </a:blip>
            <a:stretch>
              <a:fillRect b="0" l="0" r="0" t="0"/>
            </a:stretch>
          </a:blipFill>
          <a:ln>
            <a:noFill/>
          </a:ln>
        </p:spPr>
      </p:sp>
      <p:sp>
        <p:nvSpPr>
          <p:cNvPr id="198" name="Google Shape;198;g3358c15f51e_0_0"/>
          <p:cNvSpPr/>
          <p:nvPr/>
        </p:nvSpPr>
        <p:spPr>
          <a:xfrm>
            <a:off x="17029996" y="709519"/>
            <a:ext cx="1258008" cy="1289163"/>
          </a:xfrm>
          <a:custGeom>
            <a:rect b="b" l="l" r="r" t="t"/>
            <a:pathLst>
              <a:path extrusionOk="0" h="1289163" w="1258008">
                <a:moveTo>
                  <a:pt x="0" y="0"/>
                </a:moveTo>
                <a:lnTo>
                  <a:pt x="1258007" y="0"/>
                </a:lnTo>
                <a:lnTo>
                  <a:pt x="1258007" y="1289162"/>
                </a:lnTo>
                <a:lnTo>
                  <a:pt x="0" y="1289162"/>
                </a:lnTo>
                <a:lnTo>
                  <a:pt x="0" y="0"/>
                </a:lnTo>
                <a:close/>
              </a:path>
            </a:pathLst>
          </a:custGeom>
          <a:blipFill rotWithShape="1">
            <a:blip r:embed="rId10">
              <a:alphaModFix/>
            </a:blip>
            <a:stretch>
              <a:fillRect b="0" l="0" r="0" t="0"/>
            </a:stretch>
          </a:blipFill>
          <a:ln>
            <a:noFill/>
          </a:ln>
        </p:spPr>
      </p:sp>
      <p:sp>
        <p:nvSpPr>
          <p:cNvPr id="199" name="Google Shape;199;g3358c15f51e_0_0"/>
          <p:cNvSpPr/>
          <p:nvPr/>
        </p:nvSpPr>
        <p:spPr>
          <a:xfrm>
            <a:off x="17071876" y="1729802"/>
            <a:ext cx="1459264" cy="1962035"/>
          </a:xfrm>
          <a:custGeom>
            <a:rect b="b" l="l" r="r" t="t"/>
            <a:pathLst>
              <a:path extrusionOk="0" h="1962035" w="1459264">
                <a:moveTo>
                  <a:pt x="0" y="0"/>
                </a:moveTo>
                <a:lnTo>
                  <a:pt x="1459264" y="0"/>
                </a:lnTo>
                <a:lnTo>
                  <a:pt x="1459264" y="1962036"/>
                </a:lnTo>
                <a:lnTo>
                  <a:pt x="0" y="1962036"/>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3B1"/>
        </a:solidFill>
      </p:bgPr>
    </p:bg>
    <p:spTree>
      <p:nvGrpSpPr>
        <p:cNvPr id="203" name="Shape 203"/>
        <p:cNvGrpSpPr/>
        <p:nvPr/>
      </p:nvGrpSpPr>
      <p:grpSpPr>
        <a:xfrm>
          <a:off x="0" y="0"/>
          <a:ext cx="0" cy="0"/>
          <a:chOff x="0" y="0"/>
          <a:chExt cx="0" cy="0"/>
        </a:xfrm>
      </p:grpSpPr>
      <p:sp>
        <p:nvSpPr>
          <p:cNvPr id="204" name="Google Shape;204;g33f545acea5_1_77"/>
          <p:cNvSpPr txBox="1"/>
          <p:nvPr/>
        </p:nvSpPr>
        <p:spPr>
          <a:xfrm>
            <a:off x="271300" y="485425"/>
            <a:ext cx="14006100" cy="846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5500">
                <a:solidFill>
                  <a:srgbClr val="1D5732"/>
                </a:solidFill>
              </a:rPr>
              <a:t>Best model: K-Means Clustering</a:t>
            </a:r>
            <a:endParaRPr sz="5500">
              <a:solidFill>
                <a:srgbClr val="1D5732"/>
              </a:solidFill>
            </a:endParaRPr>
          </a:p>
        </p:txBody>
      </p:sp>
      <p:sp>
        <p:nvSpPr>
          <p:cNvPr id="205" name="Google Shape;205;g33f545acea5_1_77"/>
          <p:cNvSpPr txBox="1"/>
          <p:nvPr/>
        </p:nvSpPr>
        <p:spPr>
          <a:xfrm>
            <a:off x="15969090" y="962025"/>
            <a:ext cx="1267800" cy="615600"/>
          </a:xfrm>
          <a:prstGeom prst="rect">
            <a:avLst/>
          </a:prstGeom>
          <a:noFill/>
          <a:ln>
            <a:noFill/>
          </a:ln>
        </p:spPr>
        <p:txBody>
          <a:bodyPr anchorCtr="0" anchor="t" bIns="0" lIns="0" spcFirstLastPara="1" rIns="0" wrap="square" tIns="0">
            <a:spAutoFit/>
          </a:bodyPr>
          <a:lstStyle/>
          <a:p>
            <a:pPr indent="0" lvl="0" marL="0" marR="0" rtl="0" algn="r">
              <a:lnSpc>
                <a:spcPct val="140010"/>
              </a:lnSpc>
              <a:spcBef>
                <a:spcPts val="0"/>
              </a:spcBef>
              <a:spcAft>
                <a:spcPts val="0"/>
              </a:spcAft>
              <a:buNone/>
            </a:pPr>
            <a:r>
              <a:rPr b="1" i="0" lang="en-US" sz="3999" u="none" cap="none" strike="noStrike">
                <a:solidFill>
                  <a:srgbClr val="EEE3B1"/>
                </a:solidFill>
                <a:latin typeface="Arial"/>
                <a:ea typeface="Arial"/>
                <a:cs typeface="Arial"/>
                <a:sym typeface="Arial"/>
              </a:rPr>
              <a:t>03</a:t>
            </a:r>
            <a:endParaRPr/>
          </a:p>
        </p:txBody>
      </p:sp>
      <p:grpSp>
        <p:nvGrpSpPr>
          <p:cNvPr id="206" name="Google Shape;206;g33f545acea5_1_77"/>
          <p:cNvGrpSpPr/>
          <p:nvPr/>
        </p:nvGrpSpPr>
        <p:grpSpPr>
          <a:xfrm>
            <a:off x="-50" y="9147925"/>
            <a:ext cx="18288118" cy="1139089"/>
            <a:chOff x="0" y="-28575"/>
            <a:chExt cx="4816592" cy="792134"/>
          </a:xfrm>
        </p:grpSpPr>
        <p:sp>
          <p:nvSpPr>
            <p:cNvPr id="207" name="Google Shape;207;g33f545acea5_1_77"/>
            <p:cNvSpPr/>
            <p:nvPr/>
          </p:nvSpPr>
          <p:spPr>
            <a:xfrm>
              <a:off x="0" y="0"/>
              <a:ext cx="4816592" cy="763559"/>
            </a:xfrm>
            <a:custGeom>
              <a:rect b="b" l="l" r="r" t="t"/>
              <a:pathLst>
                <a:path extrusionOk="0" h="763559" w="4816592">
                  <a:moveTo>
                    <a:pt x="0" y="0"/>
                  </a:moveTo>
                  <a:lnTo>
                    <a:pt x="4816592" y="0"/>
                  </a:lnTo>
                  <a:lnTo>
                    <a:pt x="4816592" y="763559"/>
                  </a:lnTo>
                  <a:lnTo>
                    <a:pt x="0" y="763559"/>
                  </a:lnTo>
                  <a:close/>
                </a:path>
              </a:pathLst>
            </a:custGeom>
            <a:solidFill>
              <a:srgbClr val="1D5732"/>
            </a:solidFill>
            <a:ln>
              <a:noFill/>
            </a:ln>
          </p:spPr>
        </p:sp>
        <p:sp>
          <p:nvSpPr>
            <p:cNvPr id="208" name="Google Shape;208;g33f545acea5_1_77"/>
            <p:cNvSpPr txBox="1"/>
            <p:nvPr/>
          </p:nvSpPr>
          <p:spPr>
            <a:xfrm>
              <a:off x="0" y="-28575"/>
              <a:ext cx="4816500" cy="7920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9" name="Google Shape;209;g33f545acea5_1_77"/>
          <p:cNvSpPr/>
          <p:nvPr/>
        </p:nvSpPr>
        <p:spPr>
          <a:xfrm>
            <a:off x="13029268" y="912218"/>
            <a:ext cx="870958" cy="1074704"/>
          </a:xfrm>
          <a:custGeom>
            <a:rect b="b" l="l" r="r" t="t"/>
            <a:pathLst>
              <a:path extrusionOk="0" h="1074704" w="870958">
                <a:moveTo>
                  <a:pt x="0" y="0"/>
                </a:moveTo>
                <a:lnTo>
                  <a:pt x="870958" y="0"/>
                </a:lnTo>
                <a:lnTo>
                  <a:pt x="870958" y="1074704"/>
                </a:lnTo>
                <a:lnTo>
                  <a:pt x="0" y="1074704"/>
                </a:lnTo>
                <a:lnTo>
                  <a:pt x="0" y="0"/>
                </a:lnTo>
                <a:close/>
              </a:path>
            </a:pathLst>
          </a:custGeom>
          <a:blipFill rotWithShape="1">
            <a:blip r:embed="rId3">
              <a:alphaModFix/>
            </a:blip>
            <a:stretch>
              <a:fillRect b="0" l="0" r="0" t="0"/>
            </a:stretch>
          </a:blipFill>
          <a:ln>
            <a:noFill/>
          </a:ln>
        </p:spPr>
      </p:sp>
      <p:sp>
        <p:nvSpPr>
          <p:cNvPr id="210" name="Google Shape;210;g33f545acea5_1_77"/>
          <p:cNvSpPr/>
          <p:nvPr/>
        </p:nvSpPr>
        <p:spPr>
          <a:xfrm rot="1282585">
            <a:off x="12140392" y="-646068"/>
            <a:ext cx="1351560" cy="1393361"/>
          </a:xfrm>
          <a:custGeom>
            <a:rect b="b" l="l" r="r" t="t"/>
            <a:pathLst>
              <a:path extrusionOk="0" h="1391427" w="1349684">
                <a:moveTo>
                  <a:pt x="0" y="0"/>
                </a:moveTo>
                <a:lnTo>
                  <a:pt x="1349684" y="0"/>
                </a:lnTo>
                <a:lnTo>
                  <a:pt x="1349684" y="1391427"/>
                </a:lnTo>
                <a:lnTo>
                  <a:pt x="0" y="1391427"/>
                </a:lnTo>
                <a:lnTo>
                  <a:pt x="0" y="0"/>
                </a:lnTo>
                <a:close/>
              </a:path>
            </a:pathLst>
          </a:custGeom>
          <a:blipFill rotWithShape="1">
            <a:blip r:embed="rId4">
              <a:alphaModFix/>
            </a:blip>
            <a:stretch>
              <a:fillRect b="0" l="0" r="0" t="0"/>
            </a:stretch>
          </a:blipFill>
          <a:ln>
            <a:noFill/>
          </a:ln>
        </p:spPr>
      </p:sp>
      <p:sp>
        <p:nvSpPr>
          <p:cNvPr id="211" name="Google Shape;211;g33f545acea5_1_77"/>
          <p:cNvSpPr/>
          <p:nvPr/>
        </p:nvSpPr>
        <p:spPr>
          <a:xfrm>
            <a:off x="13712371" y="-376944"/>
            <a:ext cx="1258008" cy="1289163"/>
          </a:xfrm>
          <a:custGeom>
            <a:rect b="b" l="l" r="r" t="t"/>
            <a:pathLst>
              <a:path extrusionOk="0" h="1289163" w="1258008">
                <a:moveTo>
                  <a:pt x="0" y="0"/>
                </a:moveTo>
                <a:lnTo>
                  <a:pt x="1258007" y="0"/>
                </a:lnTo>
                <a:lnTo>
                  <a:pt x="1258007" y="1289162"/>
                </a:lnTo>
                <a:lnTo>
                  <a:pt x="0" y="1289162"/>
                </a:lnTo>
                <a:lnTo>
                  <a:pt x="0" y="0"/>
                </a:lnTo>
                <a:close/>
              </a:path>
            </a:pathLst>
          </a:custGeom>
          <a:blipFill rotWithShape="1">
            <a:blip r:embed="rId5">
              <a:alphaModFix/>
            </a:blip>
            <a:stretch>
              <a:fillRect b="0" l="0" r="0" t="0"/>
            </a:stretch>
          </a:blipFill>
          <a:ln>
            <a:noFill/>
          </a:ln>
        </p:spPr>
      </p:sp>
      <p:sp>
        <p:nvSpPr>
          <p:cNvPr id="212" name="Google Shape;212;g33f545acea5_1_77"/>
          <p:cNvSpPr/>
          <p:nvPr/>
        </p:nvSpPr>
        <p:spPr>
          <a:xfrm>
            <a:off x="14205026" y="468552"/>
            <a:ext cx="1459264" cy="1962035"/>
          </a:xfrm>
          <a:custGeom>
            <a:rect b="b" l="l" r="r" t="t"/>
            <a:pathLst>
              <a:path extrusionOk="0" h="1962035" w="1459264">
                <a:moveTo>
                  <a:pt x="0" y="0"/>
                </a:moveTo>
                <a:lnTo>
                  <a:pt x="1459264" y="0"/>
                </a:lnTo>
                <a:lnTo>
                  <a:pt x="1459264" y="1962036"/>
                </a:lnTo>
                <a:lnTo>
                  <a:pt x="0" y="1962036"/>
                </a:lnTo>
                <a:lnTo>
                  <a:pt x="0" y="0"/>
                </a:lnTo>
                <a:close/>
              </a:path>
            </a:pathLst>
          </a:custGeom>
          <a:blipFill rotWithShape="1">
            <a:blip r:embed="rId6">
              <a:alphaModFix/>
            </a:blip>
            <a:stretch>
              <a:fillRect b="0" l="0" r="0" t="0"/>
            </a:stretch>
          </a:blipFill>
          <a:ln>
            <a:noFill/>
          </a:ln>
        </p:spPr>
      </p:sp>
      <p:grpSp>
        <p:nvGrpSpPr>
          <p:cNvPr id="213" name="Google Shape;213;g33f545acea5_1_77"/>
          <p:cNvGrpSpPr/>
          <p:nvPr/>
        </p:nvGrpSpPr>
        <p:grpSpPr>
          <a:xfrm>
            <a:off x="118900" y="9392235"/>
            <a:ext cx="10607763" cy="739758"/>
            <a:chOff x="2577" y="877098"/>
            <a:chExt cx="10553938" cy="917700"/>
          </a:xfrm>
        </p:grpSpPr>
        <p:sp>
          <p:nvSpPr>
            <p:cNvPr id="214" name="Google Shape;214;g33f545acea5_1_77"/>
            <p:cNvSpPr/>
            <p:nvPr/>
          </p:nvSpPr>
          <p:spPr>
            <a:xfrm>
              <a:off x="2577"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g33f545acea5_1_77"/>
            <p:cNvSpPr txBox="1"/>
            <p:nvPr/>
          </p:nvSpPr>
          <p:spPr>
            <a:xfrm>
              <a:off x="571834" y="1021426"/>
              <a:ext cx="1155900" cy="5910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i="0" lang="en-US" u="none" cap="none" strike="noStrike">
                  <a:solidFill>
                    <a:srgbClr val="002060"/>
                  </a:solidFill>
                </a:rPr>
                <a:t>Busine</a:t>
              </a:r>
              <a:r>
                <a:rPr lang="en-US">
                  <a:solidFill>
                    <a:srgbClr val="002060"/>
                  </a:solidFill>
                </a:rPr>
                <a:t>s</a:t>
              </a:r>
              <a:r>
                <a:rPr i="0" lang="en-US" u="none" cap="none" strike="noStrike">
                  <a:solidFill>
                    <a:srgbClr val="002060"/>
                  </a:solidFill>
                </a:rPr>
                <a:t>s Problem</a:t>
              </a:r>
              <a:endParaRPr i="0" u="none" cap="none" strike="noStrike">
                <a:solidFill>
                  <a:srgbClr val="002060"/>
                </a:solidFill>
              </a:endParaRPr>
            </a:p>
          </p:txBody>
        </p:sp>
        <p:sp>
          <p:nvSpPr>
            <p:cNvPr id="216" name="Google Shape;216;g33f545acea5_1_77"/>
            <p:cNvSpPr/>
            <p:nvPr/>
          </p:nvSpPr>
          <p:spPr>
            <a:xfrm>
              <a:off x="2067462"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g33f545acea5_1_77"/>
            <p:cNvSpPr txBox="1"/>
            <p:nvPr/>
          </p:nvSpPr>
          <p:spPr>
            <a:xfrm>
              <a:off x="2561114" y="972834"/>
              <a:ext cx="1155900" cy="6882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i="0" lang="en-US" u="none" cap="none" strike="noStrike">
                  <a:solidFill>
                    <a:srgbClr val="002060"/>
                  </a:solidFill>
                </a:rPr>
                <a:t>EDA &amp; Insights</a:t>
              </a:r>
              <a:endParaRPr i="0" u="none" cap="none" strike="noStrike">
                <a:solidFill>
                  <a:srgbClr val="002060"/>
                </a:solidFill>
              </a:endParaRPr>
            </a:p>
          </p:txBody>
        </p:sp>
        <p:sp>
          <p:nvSpPr>
            <p:cNvPr id="218" name="Google Shape;218;g33f545acea5_1_77"/>
            <p:cNvSpPr/>
            <p:nvPr/>
          </p:nvSpPr>
          <p:spPr>
            <a:xfrm>
              <a:off x="4132346" y="877098"/>
              <a:ext cx="2294400" cy="917700"/>
            </a:xfrm>
            <a:prstGeom prst="chevron">
              <a:avLst>
                <a:gd fmla="val 50000" name="adj"/>
              </a:avLst>
            </a:prstGeom>
            <a:solidFill>
              <a:schemeClr val="lt2"/>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g33f545acea5_1_77"/>
            <p:cNvSpPr/>
            <p:nvPr/>
          </p:nvSpPr>
          <p:spPr>
            <a:xfrm>
              <a:off x="6197231"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g33f545acea5_1_77"/>
            <p:cNvSpPr txBox="1"/>
            <p:nvPr/>
          </p:nvSpPr>
          <p:spPr>
            <a:xfrm>
              <a:off x="6668795" y="973848"/>
              <a:ext cx="1489500" cy="688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Campaign Prediction</a:t>
              </a:r>
              <a:endParaRPr i="0" u="none" cap="none" strike="noStrike">
                <a:solidFill>
                  <a:srgbClr val="002060"/>
                </a:solidFill>
              </a:endParaRPr>
            </a:p>
          </p:txBody>
        </p:sp>
        <p:sp>
          <p:nvSpPr>
            <p:cNvPr id="221" name="Google Shape;221;g33f545acea5_1_77"/>
            <p:cNvSpPr/>
            <p:nvPr/>
          </p:nvSpPr>
          <p:spPr>
            <a:xfrm>
              <a:off x="8262115"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33f545acea5_1_77"/>
            <p:cNvSpPr txBox="1"/>
            <p:nvPr/>
          </p:nvSpPr>
          <p:spPr>
            <a:xfrm>
              <a:off x="8648985" y="973811"/>
              <a:ext cx="1489500" cy="724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Recommendation</a:t>
              </a:r>
              <a:endParaRPr i="0" u="none" cap="none" strike="noStrike">
                <a:solidFill>
                  <a:srgbClr val="002060"/>
                </a:solidFill>
              </a:endParaRPr>
            </a:p>
          </p:txBody>
        </p:sp>
        <p:sp>
          <p:nvSpPr>
            <p:cNvPr id="223" name="Google Shape;223;g33f545acea5_1_77"/>
            <p:cNvSpPr txBox="1"/>
            <p:nvPr/>
          </p:nvSpPr>
          <p:spPr>
            <a:xfrm>
              <a:off x="4550363" y="955709"/>
              <a:ext cx="1489500" cy="7242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Clustering &amp; Segmentation</a:t>
              </a:r>
              <a:endParaRPr i="0" u="none" cap="none" strike="noStrike">
                <a:solidFill>
                  <a:srgbClr val="002060"/>
                </a:solidFill>
              </a:endParaRPr>
            </a:p>
          </p:txBody>
        </p:sp>
      </p:grpSp>
      <p:pic>
        <p:nvPicPr>
          <p:cNvPr id="224" name="Google Shape;224;g33f545acea5_1_77"/>
          <p:cNvPicPr preferRelativeResize="0"/>
          <p:nvPr/>
        </p:nvPicPr>
        <p:blipFill>
          <a:blip r:embed="rId7">
            <a:alphaModFix/>
          </a:blip>
          <a:stretch>
            <a:fillRect/>
          </a:stretch>
        </p:blipFill>
        <p:spPr>
          <a:xfrm>
            <a:off x="869000" y="3547800"/>
            <a:ext cx="7823176" cy="5135100"/>
          </a:xfrm>
          <a:prstGeom prst="rect">
            <a:avLst/>
          </a:prstGeom>
          <a:noFill/>
          <a:ln>
            <a:noFill/>
          </a:ln>
        </p:spPr>
      </p:pic>
      <p:graphicFrame>
        <p:nvGraphicFramePr>
          <p:cNvPr id="225" name="Google Shape;225;g33f545acea5_1_77"/>
          <p:cNvGraphicFramePr/>
          <p:nvPr/>
        </p:nvGraphicFramePr>
        <p:xfrm>
          <a:off x="9289675" y="2488825"/>
          <a:ext cx="3000000" cy="3000000"/>
        </p:xfrm>
        <a:graphic>
          <a:graphicData uri="http://schemas.openxmlformats.org/drawingml/2006/table">
            <a:tbl>
              <a:tblPr>
                <a:noFill/>
                <a:tableStyleId>{77425F4A-E098-4873-A9FF-942C90C0A458}</a:tableStyleId>
              </a:tblPr>
              <a:tblGrid>
                <a:gridCol w="2827625"/>
                <a:gridCol w="2760375"/>
                <a:gridCol w="2760375"/>
              </a:tblGrid>
              <a:tr h="1585975">
                <a:tc>
                  <a:txBody>
                    <a:bodyPr/>
                    <a:lstStyle/>
                    <a:p>
                      <a:pPr indent="0" lvl="0" marL="0" rtl="0" algn="l">
                        <a:spcBef>
                          <a:spcPts val="0"/>
                        </a:spcBef>
                        <a:spcAft>
                          <a:spcPts val="0"/>
                        </a:spcAft>
                        <a:buNone/>
                      </a:pPr>
                      <a:r>
                        <a:rPr lang="en-US" sz="3000">
                          <a:solidFill>
                            <a:srgbClr val="1D5732"/>
                          </a:solidFill>
                        </a:rPr>
                        <a:t>Metric</a:t>
                      </a:r>
                      <a:endParaRPr sz="3000">
                        <a:solidFill>
                          <a:srgbClr val="1D5732"/>
                        </a:solidFill>
                      </a:endParaRPr>
                    </a:p>
                  </a:txBody>
                  <a:tcPr marT="91425" marB="91425" marR="91425" marL="91425"/>
                </a:tc>
                <a:tc>
                  <a:txBody>
                    <a:bodyPr/>
                    <a:lstStyle/>
                    <a:p>
                      <a:pPr indent="0" lvl="0" marL="0" rtl="0" algn="l">
                        <a:spcBef>
                          <a:spcPts val="0"/>
                        </a:spcBef>
                        <a:spcAft>
                          <a:spcPts val="0"/>
                        </a:spcAft>
                        <a:buNone/>
                      </a:pPr>
                      <a:r>
                        <a:rPr lang="en-US" sz="3000">
                          <a:solidFill>
                            <a:srgbClr val="1D5732"/>
                          </a:solidFill>
                        </a:rPr>
                        <a:t>Silhouette Score</a:t>
                      </a:r>
                      <a:endParaRPr sz="3000">
                        <a:solidFill>
                          <a:srgbClr val="1D5732"/>
                        </a:solidFill>
                      </a:endParaRPr>
                    </a:p>
                  </a:txBody>
                  <a:tcPr marT="91425" marB="91425" marR="91425" marL="91425"/>
                </a:tc>
                <a:tc>
                  <a:txBody>
                    <a:bodyPr/>
                    <a:lstStyle/>
                    <a:p>
                      <a:pPr indent="0" lvl="0" marL="0" rtl="0" algn="l">
                        <a:spcBef>
                          <a:spcPts val="0"/>
                        </a:spcBef>
                        <a:spcAft>
                          <a:spcPts val="0"/>
                        </a:spcAft>
                        <a:buNone/>
                      </a:pPr>
                      <a:r>
                        <a:rPr lang="en-US" sz="3000">
                          <a:solidFill>
                            <a:srgbClr val="1D5732"/>
                          </a:solidFill>
                        </a:rPr>
                        <a:t>Davies-Bouldin Score</a:t>
                      </a:r>
                      <a:endParaRPr sz="3000">
                        <a:solidFill>
                          <a:srgbClr val="1D5732"/>
                        </a:solidFill>
                      </a:endParaRPr>
                    </a:p>
                  </a:txBody>
                  <a:tcPr marT="91425" marB="91425" marR="91425" marL="91425"/>
                </a:tc>
              </a:tr>
              <a:tr h="1148125">
                <a:tc>
                  <a:txBody>
                    <a:bodyPr/>
                    <a:lstStyle/>
                    <a:p>
                      <a:pPr indent="0" lvl="0" marL="0" rtl="0" algn="l">
                        <a:spcBef>
                          <a:spcPts val="0"/>
                        </a:spcBef>
                        <a:spcAft>
                          <a:spcPts val="0"/>
                        </a:spcAft>
                        <a:buNone/>
                      </a:pPr>
                      <a:r>
                        <a:rPr lang="en-US" sz="3000">
                          <a:solidFill>
                            <a:srgbClr val="1D5732"/>
                          </a:solidFill>
                        </a:rPr>
                        <a:t>K-Means</a:t>
                      </a:r>
                      <a:endParaRPr sz="3000">
                        <a:solidFill>
                          <a:srgbClr val="1D5732"/>
                        </a:solidFill>
                      </a:endParaRPr>
                    </a:p>
                  </a:txBody>
                  <a:tcPr marT="91425" marB="91425" marR="91425" marL="91425">
                    <a:solidFill>
                      <a:srgbClr val="DD7E6B"/>
                    </a:solidFill>
                  </a:tcPr>
                </a:tc>
                <a:tc>
                  <a:txBody>
                    <a:bodyPr/>
                    <a:lstStyle/>
                    <a:p>
                      <a:pPr indent="0" lvl="0" marL="0" rtl="0" algn="l">
                        <a:spcBef>
                          <a:spcPts val="0"/>
                        </a:spcBef>
                        <a:spcAft>
                          <a:spcPts val="0"/>
                        </a:spcAft>
                        <a:buNone/>
                      </a:pPr>
                      <a:r>
                        <a:rPr lang="en-US" sz="3000">
                          <a:solidFill>
                            <a:srgbClr val="1D5732"/>
                          </a:solidFill>
                        </a:rPr>
                        <a:t>0.2277</a:t>
                      </a:r>
                      <a:endParaRPr sz="3000">
                        <a:solidFill>
                          <a:srgbClr val="1D5732"/>
                        </a:solidFill>
                      </a:endParaRPr>
                    </a:p>
                  </a:txBody>
                  <a:tcPr marT="91425" marB="91425" marR="91425" marL="91425">
                    <a:solidFill>
                      <a:srgbClr val="DD7E6B"/>
                    </a:solidFill>
                  </a:tcPr>
                </a:tc>
                <a:tc>
                  <a:txBody>
                    <a:bodyPr/>
                    <a:lstStyle/>
                    <a:p>
                      <a:pPr indent="0" lvl="0" marL="0" rtl="0" algn="l">
                        <a:spcBef>
                          <a:spcPts val="0"/>
                        </a:spcBef>
                        <a:spcAft>
                          <a:spcPts val="0"/>
                        </a:spcAft>
                        <a:buNone/>
                      </a:pPr>
                      <a:r>
                        <a:rPr lang="en-US" sz="3000">
                          <a:solidFill>
                            <a:srgbClr val="1D5732"/>
                          </a:solidFill>
                        </a:rPr>
                        <a:t>1.8884</a:t>
                      </a:r>
                      <a:endParaRPr sz="3000">
                        <a:solidFill>
                          <a:srgbClr val="1D5732"/>
                        </a:solidFill>
                      </a:endParaRPr>
                    </a:p>
                  </a:txBody>
                  <a:tcPr marT="91425" marB="91425" marR="91425" marL="91425">
                    <a:solidFill>
                      <a:srgbClr val="DD7E6B"/>
                    </a:solidFill>
                  </a:tcPr>
                </a:tc>
              </a:tr>
              <a:tr h="1148125">
                <a:tc>
                  <a:txBody>
                    <a:bodyPr/>
                    <a:lstStyle/>
                    <a:p>
                      <a:pPr indent="0" lvl="0" marL="0" rtl="0" algn="l">
                        <a:spcBef>
                          <a:spcPts val="0"/>
                        </a:spcBef>
                        <a:spcAft>
                          <a:spcPts val="0"/>
                        </a:spcAft>
                        <a:buNone/>
                      </a:pPr>
                      <a:r>
                        <a:rPr lang="en-US" sz="3000">
                          <a:solidFill>
                            <a:srgbClr val="1D5732"/>
                          </a:solidFill>
                        </a:rPr>
                        <a:t>Hierarchical</a:t>
                      </a:r>
                      <a:endParaRPr sz="3000">
                        <a:solidFill>
                          <a:srgbClr val="1D5732"/>
                        </a:solidFill>
                      </a:endParaRPr>
                    </a:p>
                  </a:txBody>
                  <a:tcPr marT="91425" marB="91425" marR="91425" marL="91425">
                    <a:solidFill>
                      <a:srgbClr val="EEE3B1"/>
                    </a:solidFill>
                  </a:tcPr>
                </a:tc>
                <a:tc>
                  <a:txBody>
                    <a:bodyPr/>
                    <a:lstStyle/>
                    <a:p>
                      <a:pPr indent="0" lvl="0" marL="0" rtl="0" algn="l">
                        <a:spcBef>
                          <a:spcPts val="0"/>
                        </a:spcBef>
                        <a:spcAft>
                          <a:spcPts val="0"/>
                        </a:spcAft>
                        <a:buNone/>
                      </a:pPr>
                      <a:r>
                        <a:rPr lang="en-US" sz="3000">
                          <a:solidFill>
                            <a:srgbClr val="1D5732"/>
                          </a:solidFill>
                        </a:rPr>
                        <a:t>0.1457</a:t>
                      </a:r>
                      <a:endParaRPr sz="3000">
                        <a:solidFill>
                          <a:srgbClr val="1D5732"/>
                        </a:solidFill>
                      </a:endParaRPr>
                    </a:p>
                  </a:txBody>
                  <a:tcPr marT="91425" marB="91425" marR="91425" marL="91425">
                    <a:solidFill>
                      <a:srgbClr val="EEE3B1"/>
                    </a:solidFill>
                  </a:tcPr>
                </a:tc>
                <a:tc>
                  <a:txBody>
                    <a:bodyPr/>
                    <a:lstStyle/>
                    <a:p>
                      <a:pPr indent="0" lvl="0" marL="0" rtl="0" algn="l">
                        <a:spcBef>
                          <a:spcPts val="0"/>
                        </a:spcBef>
                        <a:spcAft>
                          <a:spcPts val="0"/>
                        </a:spcAft>
                        <a:buNone/>
                      </a:pPr>
                      <a:r>
                        <a:rPr lang="en-US" sz="3000">
                          <a:solidFill>
                            <a:srgbClr val="1D5732"/>
                          </a:solidFill>
                        </a:rPr>
                        <a:t>1.9635</a:t>
                      </a:r>
                      <a:endParaRPr sz="3000">
                        <a:solidFill>
                          <a:srgbClr val="1D5732"/>
                        </a:solidFill>
                      </a:endParaRPr>
                    </a:p>
                  </a:txBody>
                  <a:tcPr marT="91425" marB="91425" marR="91425" marL="91425">
                    <a:solidFill>
                      <a:srgbClr val="EEE3B1"/>
                    </a:solidFill>
                  </a:tcPr>
                </a:tc>
              </a:tr>
              <a:tr h="1148125">
                <a:tc>
                  <a:txBody>
                    <a:bodyPr/>
                    <a:lstStyle/>
                    <a:p>
                      <a:pPr indent="0" lvl="0" marL="0" rtl="0" algn="l">
                        <a:spcBef>
                          <a:spcPts val="0"/>
                        </a:spcBef>
                        <a:spcAft>
                          <a:spcPts val="0"/>
                        </a:spcAft>
                        <a:buNone/>
                      </a:pPr>
                      <a:r>
                        <a:rPr lang="en-US" sz="3000">
                          <a:solidFill>
                            <a:srgbClr val="1D5732"/>
                          </a:solidFill>
                        </a:rPr>
                        <a:t>GMM</a:t>
                      </a:r>
                      <a:endParaRPr sz="3000">
                        <a:solidFill>
                          <a:srgbClr val="1D5732"/>
                        </a:solidFill>
                      </a:endParaRPr>
                    </a:p>
                  </a:txBody>
                  <a:tcPr marT="91425" marB="91425" marR="91425" marL="91425"/>
                </a:tc>
                <a:tc>
                  <a:txBody>
                    <a:bodyPr/>
                    <a:lstStyle/>
                    <a:p>
                      <a:pPr indent="0" lvl="0" marL="0" rtl="0" algn="l">
                        <a:spcBef>
                          <a:spcPts val="0"/>
                        </a:spcBef>
                        <a:spcAft>
                          <a:spcPts val="0"/>
                        </a:spcAft>
                        <a:buNone/>
                      </a:pPr>
                      <a:r>
                        <a:rPr lang="en-US" sz="3000">
                          <a:solidFill>
                            <a:srgbClr val="1D5732"/>
                          </a:solidFill>
                        </a:rPr>
                        <a:t>0.1594</a:t>
                      </a:r>
                      <a:endParaRPr sz="3000">
                        <a:solidFill>
                          <a:srgbClr val="1D5732"/>
                        </a:solidFill>
                      </a:endParaRPr>
                    </a:p>
                  </a:txBody>
                  <a:tcPr marT="91425" marB="91425" marR="91425" marL="91425"/>
                </a:tc>
                <a:tc>
                  <a:txBody>
                    <a:bodyPr/>
                    <a:lstStyle/>
                    <a:p>
                      <a:pPr indent="0" lvl="0" marL="0" rtl="0" algn="l">
                        <a:spcBef>
                          <a:spcPts val="0"/>
                        </a:spcBef>
                        <a:spcAft>
                          <a:spcPts val="0"/>
                        </a:spcAft>
                        <a:buNone/>
                      </a:pPr>
                      <a:r>
                        <a:rPr lang="en-US" sz="3000">
                          <a:solidFill>
                            <a:srgbClr val="1D5732"/>
                          </a:solidFill>
                        </a:rPr>
                        <a:t>1.9064</a:t>
                      </a:r>
                      <a:endParaRPr sz="3000">
                        <a:solidFill>
                          <a:srgbClr val="1D5732"/>
                        </a:solidFill>
                      </a:endParaRPr>
                    </a:p>
                  </a:txBody>
                  <a:tcPr marT="91425" marB="91425" marR="91425" marL="91425"/>
                </a:tc>
              </a:tr>
              <a:tr h="1148125">
                <a:tc>
                  <a:txBody>
                    <a:bodyPr/>
                    <a:lstStyle/>
                    <a:p>
                      <a:pPr indent="0" lvl="0" marL="0" rtl="0" algn="l">
                        <a:spcBef>
                          <a:spcPts val="0"/>
                        </a:spcBef>
                        <a:spcAft>
                          <a:spcPts val="0"/>
                        </a:spcAft>
                        <a:buNone/>
                      </a:pPr>
                      <a:r>
                        <a:rPr lang="en-US" sz="3000">
                          <a:solidFill>
                            <a:srgbClr val="1D5732"/>
                          </a:solidFill>
                        </a:rPr>
                        <a:t>DBSCAN</a:t>
                      </a:r>
                      <a:endParaRPr sz="3000">
                        <a:solidFill>
                          <a:srgbClr val="1D5732"/>
                        </a:solidFill>
                      </a:endParaRPr>
                    </a:p>
                  </a:txBody>
                  <a:tcPr marT="91425" marB="91425" marR="91425" marL="91425"/>
                </a:tc>
                <a:tc>
                  <a:txBody>
                    <a:bodyPr/>
                    <a:lstStyle/>
                    <a:p>
                      <a:pPr indent="0" lvl="0" marL="0" rtl="0" algn="l">
                        <a:spcBef>
                          <a:spcPts val="0"/>
                        </a:spcBef>
                        <a:spcAft>
                          <a:spcPts val="0"/>
                        </a:spcAft>
                        <a:buNone/>
                      </a:pPr>
                      <a:r>
                        <a:rPr lang="en-US" sz="3000">
                          <a:solidFill>
                            <a:srgbClr val="1D5732"/>
                          </a:solidFill>
                        </a:rPr>
                        <a:t>0.0495</a:t>
                      </a:r>
                      <a:endParaRPr sz="3000">
                        <a:solidFill>
                          <a:srgbClr val="1D5732"/>
                        </a:solidFill>
                      </a:endParaRPr>
                    </a:p>
                  </a:txBody>
                  <a:tcPr marT="91425" marB="91425" marR="91425" marL="91425"/>
                </a:tc>
                <a:tc>
                  <a:txBody>
                    <a:bodyPr/>
                    <a:lstStyle/>
                    <a:p>
                      <a:pPr indent="0" lvl="0" marL="0" rtl="0" algn="l">
                        <a:spcBef>
                          <a:spcPts val="0"/>
                        </a:spcBef>
                        <a:spcAft>
                          <a:spcPts val="0"/>
                        </a:spcAft>
                        <a:buNone/>
                      </a:pPr>
                      <a:r>
                        <a:rPr lang="en-US" sz="3000">
                          <a:solidFill>
                            <a:srgbClr val="1D5732"/>
                          </a:solidFill>
                        </a:rPr>
                        <a:t>0.8763</a:t>
                      </a:r>
                      <a:endParaRPr sz="3000">
                        <a:solidFill>
                          <a:srgbClr val="1D5732"/>
                        </a:solidFill>
                      </a:endParaRPr>
                    </a:p>
                  </a:txBody>
                  <a:tcPr marT="91425" marB="91425" marR="91425" marL="91425"/>
                </a:tc>
              </a:tr>
            </a:tbl>
          </a:graphicData>
        </a:graphic>
      </p:graphicFrame>
      <p:sp>
        <p:nvSpPr>
          <p:cNvPr id="226" name="Google Shape;226;g33f545acea5_1_77"/>
          <p:cNvSpPr/>
          <p:nvPr/>
        </p:nvSpPr>
        <p:spPr>
          <a:xfrm>
            <a:off x="10989625" y="4151000"/>
            <a:ext cx="554700" cy="504300"/>
          </a:xfrm>
          <a:prstGeom prst="star5">
            <a:avLst>
              <a:gd fmla="val 19098" name="adj"/>
              <a:gd fmla="val 105146" name="hf"/>
              <a:gd fmla="val 110557" name="vf"/>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27" name="Google Shape;227;g33f545acea5_1_77"/>
          <p:cNvSpPr/>
          <p:nvPr/>
        </p:nvSpPr>
        <p:spPr>
          <a:xfrm>
            <a:off x="3815650" y="5929075"/>
            <a:ext cx="655500" cy="739800"/>
          </a:xfrm>
          <a:prstGeom prst="downArrow">
            <a:avLst>
              <a:gd fmla="val 50000" name="adj1"/>
              <a:gd fmla="val 50000" name="adj2"/>
            </a:avLst>
          </a:prstGeom>
          <a:solidFill>
            <a:srgbClr val="DD7E6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28" name="Google Shape;228;g33f545acea5_1_77"/>
          <p:cNvSpPr txBox="1"/>
          <p:nvPr/>
        </p:nvSpPr>
        <p:spPr>
          <a:xfrm>
            <a:off x="1166525" y="2307300"/>
            <a:ext cx="3866100" cy="11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700">
                <a:solidFill>
                  <a:srgbClr val="1D5732"/>
                </a:solidFill>
                <a:latin typeface="Calibri"/>
                <a:ea typeface="Calibri"/>
                <a:cs typeface="Calibri"/>
                <a:sym typeface="Calibri"/>
              </a:rPr>
              <a:t>Optimal k = 4</a:t>
            </a:r>
            <a:endParaRPr sz="3700">
              <a:solidFill>
                <a:srgbClr val="1D5732"/>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3B1"/>
        </a:solidFill>
      </p:bgPr>
    </p:bg>
    <p:spTree>
      <p:nvGrpSpPr>
        <p:cNvPr id="232" name="Shape 232"/>
        <p:cNvGrpSpPr/>
        <p:nvPr/>
      </p:nvGrpSpPr>
      <p:grpSpPr>
        <a:xfrm>
          <a:off x="0" y="0"/>
          <a:ext cx="0" cy="0"/>
          <a:chOff x="0" y="0"/>
          <a:chExt cx="0" cy="0"/>
        </a:xfrm>
      </p:grpSpPr>
      <p:sp>
        <p:nvSpPr>
          <p:cNvPr id="233" name="Google Shape;233;g33592dbd1e6_0_9"/>
          <p:cNvSpPr txBox="1"/>
          <p:nvPr/>
        </p:nvSpPr>
        <p:spPr>
          <a:xfrm>
            <a:off x="271300" y="485425"/>
            <a:ext cx="14006100" cy="846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5500">
                <a:solidFill>
                  <a:srgbClr val="1D5732"/>
                </a:solidFill>
              </a:rPr>
              <a:t>Model performance: t-SNE, UMAP</a:t>
            </a:r>
            <a:endParaRPr sz="5500">
              <a:solidFill>
                <a:srgbClr val="1D5732"/>
              </a:solidFill>
            </a:endParaRPr>
          </a:p>
        </p:txBody>
      </p:sp>
      <p:sp>
        <p:nvSpPr>
          <p:cNvPr id="234" name="Google Shape;234;g33592dbd1e6_0_9"/>
          <p:cNvSpPr txBox="1"/>
          <p:nvPr/>
        </p:nvSpPr>
        <p:spPr>
          <a:xfrm>
            <a:off x="15969090" y="962025"/>
            <a:ext cx="1267800" cy="615600"/>
          </a:xfrm>
          <a:prstGeom prst="rect">
            <a:avLst/>
          </a:prstGeom>
          <a:noFill/>
          <a:ln>
            <a:noFill/>
          </a:ln>
        </p:spPr>
        <p:txBody>
          <a:bodyPr anchorCtr="0" anchor="t" bIns="0" lIns="0" spcFirstLastPara="1" rIns="0" wrap="square" tIns="0">
            <a:spAutoFit/>
          </a:bodyPr>
          <a:lstStyle/>
          <a:p>
            <a:pPr indent="0" lvl="0" marL="0" marR="0" rtl="0" algn="r">
              <a:lnSpc>
                <a:spcPct val="140010"/>
              </a:lnSpc>
              <a:spcBef>
                <a:spcPts val="0"/>
              </a:spcBef>
              <a:spcAft>
                <a:spcPts val="0"/>
              </a:spcAft>
              <a:buNone/>
            </a:pPr>
            <a:r>
              <a:rPr b="1" i="0" lang="en-US" sz="3999" u="none" cap="none" strike="noStrike">
                <a:solidFill>
                  <a:srgbClr val="EEE3B1"/>
                </a:solidFill>
                <a:latin typeface="Arial"/>
                <a:ea typeface="Arial"/>
                <a:cs typeface="Arial"/>
                <a:sym typeface="Arial"/>
              </a:rPr>
              <a:t>03</a:t>
            </a:r>
            <a:endParaRPr/>
          </a:p>
        </p:txBody>
      </p:sp>
      <p:grpSp>
        <p:nvGrpSpPr>
          <p:cNvPr id="235" name="Google Shape;235;g33592dbd1e6_0_9"/>
          <p:cNvGrpSpPr/>
          <p:nvPr/>
        </p:nvGrpSpPr>
        <p:grpSpPr>
          <a:xfrm>
            <a:off x="-50" y="9147925"/>
            <a:ext cx="18288118" cy="1139089"/>
            <a:chOff x="0" y="-28575"/>
            <a:chExt cx="4816592" cy="792134"/>
          </a:xfrm>
        </p:grpSpPr>
        <p:sp>
          <p:nvSpPr>
            <p:cNvPr id="236" name="Google Shape;236;g33592dbd1e6_0_9"/>
            <p:cNvSpPr/>
            <p:nvPr/>
          </p:nvSpPr>
          <p:spPr>
            <a:xfrm>
              <a:off x="0" y="0"/>
              <a:ext cx="4816592" cy="763559"/>
            </a:xfrm>
            <a:custGeom>
              <a:rect b="b" l="l" r="r" t="t"/>
              <a:pathLst>
                <a:path extrusionOk="0" h="763559" w="4816592">
                  <a:moveTo>
                    <a:pt x="0" y="0"/>
                  </a:moveTo>
                  <a:lnTo>
                    <a:pt x="4816592" y="0"/>
                  </a:lnTo>
                  <a:lnTo>
                    <a:pt x="4816592" y="763559"/>
                  </a:lnTo>
                  <a:lnTo>
                    <a:pt x="0" y="763559"/>
                  </a:lnTo>
                  <a:close/>
                </a:path>
              </a:pathLst>
            </a:custGeom>
            <a:solidFill>
              <a:srgbClr val="1D5732"/>
            </a:solidFill>
            <a:ln>
              <a:noFill/>
            </a:ln>
          </p:spPr>
        </p:sp>
        <p:sp>
          <p:nvSpPr>
            <p:cNvPr id="237" name="Google Shape;237;g33592dbd1e6_0_9"/>
            <p:cNvSpPr txBox="1"/>
            <p:nvPr/>
          </p:nvSpPr>
          <p:spPr>
            <a:xfrm>
              <a:off x="0" y="-28575"/>
              <a:ext cx="4816500" cy="7920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8" name="Google Shape;238;g33592dbd1e6_0_9"/>
          <p:cNvSpPr/>
          <p:nvPr/>
        </p:nvSpPr>
        <p:spPr>
          <a:xfrm>
            <a:off x="13029268" y="912218"/>
            <a:ext cx="870958" cy="1074704"/>
          </a:xfrm>
          <a:custGeom>
            <a:rect b="b" l="l" r="r" t="t"/>
            <a:pathLst>
              <a:path extrusionOk="0" h="1074704" w="870958">
                <a:moveTo>
                  <a:pt x="0" y="0"/>
                </a:moveTo>
                <a:lnTo>
                  <a:pt x="870958" y="0"/>
                </a:lnTo>
                <a:lnTo>
                  <a:pt x="870958" y="1074704"/>
                </a:lnTo>
                <a:lnTo>
                  <a:pt x="0" y="1074704"/>
                </a:lnTo>
                <a:lnTo>
                  <a:pt x="0" y="0"/>
                </a:lnTo>
                <a:close/>
              </a:path>
            </a:pathLst>
          </a:custGeom>
          <a:blipFill rotWithShape="1">
            <a:blip r:embed="rId3">
              <a:alphaModFix/>
            </a:blip>
            <a:stretch>
              <a:fillRect b="0" l="0" r="0" t="0"/>
            </a:stretch>
          </a:blipFill>
          <a:ln>
            <a:noFill/>
          </a:ln>
        </p:spPr>
      </p:sp>
      <p:sp>
        <p:nvSpPr>
          <p:cNvPr id="239" name="Google Shape;239;g33592dbd1e6_0_9"/>
          <p:cNvSpPr/>
          <p:nvPr/>
        </p:nvSpPr>
        <p:spPr>
          <a:xfrm rot="1282585">
            <a:off x="12140392" y="-646068"/>
            <a:ext cx="1351560" cy="1393361"/>
          </a:xfrm>
          <a:custGeom>
            <a:rect b="b" l="l" r="r" t="t"/>
            <a:pathLst>
              <a:path extrusionOk="0" h="1391427" w="1349684">
                <a:moveTo>
                  <a:pt x="0" y="0"/>
                </a:moveTo>
                <a:lnTo>
                  <a:pt x="1349684" y="0"/>
                </a:lnTo>
                <a:lnTo>
                  <a:pt x="1349684" y="1391427"/>
                </a:lnTo>
                <a:lnTo>
                  <a:pt x="0" y="1391427"/>
                </a:lnTo>
                <a:lnTo>
                  <a:pt x="0" y="0"/>
                </a:lnTo>
                <a:close/>
              </a:path>
            </a:pathLst>
          </a:custGeom>
          <a:blipFill rotWithShape="1">
            <a:blip r:embed="rId4">
              <a:alphaModFix/>
            </a:blip>
            <a:stretch>
              <a:fillRect b="0" l="0" r="0" t="0"/>
            </a:stretch>
          </a:blipFill>
          <a:ln>
            <a:noFill/>
          </a:ln>
        </p:spPr>
      </p:sp>
      <p:sp>
        <p:nvSpPr>
          <p:cNvPr id="240" name="Google Shape;240;g33592dbd1e6_0_9"/>
          <p:cNvSpPr/>
          <p:nvPr/>
        </p:nvSpPr>
        <p:spPr>
          <a:xfrm>
            <a:off x="13712371" y="-376944"/>
            <a:ext cx="1258008" cy="1289163"/>
          </a:xfrm>
          <a:custGeom>
            <a:rect b="b" l="l" r="r" t="t"/>
            <a:pathLst>
              <a:path extrusionOk="0" h="1289163" w="1258008">
                <a:moveTo>
                  <a:pt x="0" y="0"/>
                </a:moveTo>
                <a:lnTo>
                  <a:pt x="1258007" y="0"/>
                </a:lnTo>
                <a:lnTo>
                  <a:pt x="1258007" y="1289162"/>
                </a:lnTo>
                <a:lnTo>
                  <a:pt x="0" y="1289162"/>
                </a:lnTo>
                <a:lnTo>
                  <a:pt x="0" y="0"/>
                </a:lnTo>
                <a:close/>
              </a:path>
            </a:pathLst>
          </a:custGeom>
          <a:blipFill rotWithShape="1">
            <a:blip r:embed="rId5">
              <a:alphaModFix/>
            </a:blip>
            <a:stretch>
              <a:fillRect b="0" l="0" r="0" t="0"/>
            </a:stretch>
          </a:blipFill>
          <a:ln>
            <a:noFill/>
          </a:ln>
        </p:spPr>
      </p:sp>
      <p:sp>
        <p:nvSpPr>
          <p:cNvPr id="241" name="Google Shape;241;g33592dbd1e6_0_9"/>
          <p:cNvSpPr/>
          <p:nvPr/>
        </p:nvSpPr>
        <p:spPr>
          <a:xfrm>
            <a:off x="14205026" y="468552"/>
            <a:ext cx="1459264" cy="1962035"/>
          </a:xfrm>
          <a:custGeom>
            <a:rect b="b" l="l" r="r" t="t"/>
            <a:pathLst>
              <a:path extrusionOk="0" h="1962035" w="1459264">
                <a:moveTo>
                  <a:pt x="0" y="0"/>
                </a:moveTo>
                <a:lnTo>
                  <a:pt x="1459264" y="0"/>
                </a:lnTo>
                <a:lnTo>
                  <a:pt x="1459264" y="1962036"/>
                </a:lnTo>
                <a:lnTo>
                  <a:pt x="0" y="1962036"/>
                </a:lnTo>
                <a:lnTo>
                  <a:pt x="0" y="0"/>
                </a:lnTo>
                <a:close/>
              </a:path>
            </a:pathLst>
          </a:custGeom>
          <a:blipFill rotWithShape="1">
            <a:blip r:embed="rId6">
              <a:alphaModFix/>
            </a:blip>
            <a:stretch>
              <a:fillRect b="0" l="0" r="0" t="0"/>
            </a:stretch>
          </a:blipFill>
          <a:ln>
            <a:noFill/>
          </a:ln>
        </p:spPr>
      </p:sp>
      <p:grpSp>
        <p:nvGrpSpPr>
          <p:cNvPr id="242" name="Google Shape;242;g33592dbd1e6_0_9"/>
          <p:cNvGrpSpPr/>
          <p:nvPr/>
        </p:nvGrpSpPr>
        <p:grpSpPr>
          <a:xfrm>
            <a:off x="118900" y="9392235"/>
            <a:ext cx="10607763" cy="739758"/>
            <a:chOff x="2577" y="877098"/>
            <a:chExt cx="10553938" cy="917700"/>
          </a:xfrm>
        </p:grpSpPr>
        <p:sp>
          <p:nvSpPr>
            <p:cNvPr id="243" name="Google Shape;243;g33592dbd1e6_0_9"/>
            <p:cNvSpPr/>
            <p:nvPr/>
          </p:nvSpPr>
          <p:spPr>
            <a:xfrm>
              <a:off x="2577"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g33592dbd1e6_0_9"/>
            <p:cNvSpPr txBox="1"/>
            <p:nvPr/>
          </p:nvSpPr>
          <p:spPr>
            <a:xfrm>
              <a:off x="571834" y="1021426"/>
              <a:ext cx="1155900" cy="5910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i="0" lang="en-US" u="none" cap="none" strike="noStrike">
                  <a:solidFill>
                    <a:srgbClr val="002060"/>
                  </a:solidFill>
                </a:rPr>
                <a:t>Busine</a:t>
              </a:r>
              <a:r>
                <a:rPr lang="en-US">
                  <a:solidFill>
                    <a:srgbClr val="002060"/>
                  </a:solidFill>
                </a:rPr>
                <a:t>s</a:t>
              </a:r>
              <a:r>
                <a:rPr i="0" lang="en-US" u="none" cap="none" strike="noStrike">
                  <a:solidFill>
                    <a:srgbClr val="002060"/>
                  </a:solidFill>
                </a:rPr>
                <a:t>s Problem</a:t>
              </a:r>
              <a:endParaRPr i="0" u="none" cap="none" strike="noStrike">
                <a:solidFill>
                  <a:srgbClr val="002060"/>
                </a:solidFill>
              </a:endParaRPr>
            </a:p>
          </p:txBody>
        </p:sp>
        <p:sp>
          <p:nvSpPr>
            <p:cNvPr id="245" name="Google Shape;245;g33592dbd1e6_0_9"/>
            <p:cNvSpPr/>
            <p:nvPr/>
          </p:nvSpPr>
          <p:spPr>
            <a:xfrm>
              <a:off x="2067462"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g33592dbd1e6_0_9"/>
            <p:cNvSpPr txBox="1"/>
            <p:nvPr/>
          </p:nvSpPr>
          <p:spPr>
            <a:xfrm>
              <a:off x="2561114" y="972834"/>
              <a:ext cx="1155900" cy="6882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i="0" lang="en-US" u="none" cap="none" strike="noStrike">
                  <a:solidFill>
                    <a:srgbClr val="002060"/>
                  </a:solidFill>
                </a:rPr>
                <a:t>EDA &amp; Insights</a:t>
              </a:r>
              <a:endParaRPr i="0" u="none" cap="none" strike="noStrike">
                <a:solidFill>
                  <a:srgbClr val="002060"/>
                </a:solidFill>
              </a:endParaRPr>
            </a:p>
          </p:txBody>
        </p:sp>
        <p:sp>
          <p:nvSpPr>
            <p:cNvPr id="247" name="Google Shape;247;g33592dbd1e6_0_9"/>
            <p:cNvSpPr/>
            <p:nvPr/>
          </p:nvSpPr>
          <p:spPr>
            <a:xfrm>
              <a:off x="4132346" y="877098"/>
              <a:ext cx="2294400" cy="917700"/>
            </a:xfrm>
            <a:prstGeom prst="chevron">
              <a:avLst>
                <a:gd fmla="val 50000" name="adj"/>
              </a:avLst>
            </a:prstGeom>
            <a:solidFill>
              <a:schemeClr val="lt2"/>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g33592dbd1e6_0_9"/>
            <p:cNvSpPr/>
            <p:nvPr/>
          </p:nvSpPr>
          <p:spPr>
            <a:xfrm>
              <a:off x="6197231"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g33592dbd1e6_0_9"/>
            <p:cNvSpPr txBox="1"/>
            <p:nvPr/>
          </p:nvSpPr>
          <p:spPr>
            <a:xfrm>
              <a:off x="6668795" y="973848"/>
              <a:ext cx="1489500" cy="688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Campaign Prediction</a:t>
              </a:r>
              <a:endParaRPr i="0" u="none" cap="none" strike="noStrike">
                <a:solidFill>
                  <a:srgbClr val="002060"/>
                </a:solidFill>
              </a:endParaRPr>
            </a:p>
          </p:txBody>
        </p:sp>
        <p:sp>
          <p:nvSpPr>
            <p:cNvPr id="250" name="Google Shape;250;g33592dbd1e6_0_9"/>
            <p:cNvSpPr/>
            <p:nvPr/>
          </p:nvSpPr>
          <p:spPr>
            <a:xfrm>
              <a:off x="8262115"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g33592dbd1e6_0_9"/>
            <p:cNvSpPr txBox="1"/>
            <p:nvPr/>
          </p:nvSpPr>
          <p:spPr>
            <a:xfrm>
              <a:off x="8648985" y="973811"/>
              <a:ext cx="1489500" cy="724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Recommendation</a:t>
              </a:r>
              <a:endParaRPr i="0" u="none" cap="none" strike="noStrike">
                <a:solidFill>
                  <a:srgbClr val="002060"/>
                </a:solidFill>
              </a:endParaRPr>
            </a:p>
          </p:txBody>
        </p:sp>
        <p:sp>
          <p:nvSpPr>
            <p:cNvPr id="252" name="Google Shape;252;g33592dbd1e6_0_9"/>
            <p:cNvSpPr txBox="1"/>
            <p:nvPr/>
          </p:nvSpPr>
          <p:spPr>
            <a:xfrm>
              <a:off x="4550363" y="955709"/>
              <a:ext cx="1489500" cy="7242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Clustering &amp; Segmentation</a:t>
              </a:r>
              <a:endParaRPr i="0" u="none" cap="none" strike="noStrike">
                <a:solidFill>
                  <a:srgbClr val="002060"/>
                </a:solidFill>
              </a:endParaRPr>
            </a:p>
          </p:txBody>
        </p:sp>
      </p:grpSp>
      <p:sp>
        <p:nvSpPr>
          <p:cNvPr id="253" name="Google Shape;253;g33592dbd1e6_0_9"/>
          <p:cNvSpPr txBox="1"/>
          <p:nvPr/>
        </p:nvSpPr>
        <p:spPr>
          <a:xfrm>
            <a:off x="271300" y="2582975"/>
            <a:ext cx="4089000" cy="6412500"/>
          </a:xfrm>
          <a:prstGeom prst="rect">
            <a:avLst/>
          </a:prstGeom>
          <a:noFill/>
          <a:ln>
            <a:noFill/>
          </a:ln>
        </p:spPr>
        <p:txBody>
          <a:bodyPr anchorCtr="0" anchor="t" bIns="91425" lIns="91425" spcFirstLastPara="1" rIns="91425" wrap="square" tIns="91425">
            <a:noAutofit/>
          </a:bodyPr>
          <a:lstStyle/>
          <a:p>
            <a:pPr indent="-400050" lvl="0" marL="457200" rtl="0" algn="l">
              <a:spcBef>
                <a:spcPts val="0"/>
              </a:spcBef>
              <a:spcAft>
                <a:spcPts val="0"/>
              </a:spcAft>
              <a:buClr>
                <a:srgbClr val="1D5732"/>
              </a:buClr>
              <a:buSzPts val="2700"/>
              <a:buFont typeface="Calibri"/>
              <a:buChar char="●"/>
            </a:pPr>
            <a:r>
              <a:rPr lang="en-US" sz="2700">
                <a:solidFill>
                  <a:srgbClr val="1D5732"/>
                </a:solidFill>
                <a:latin typeface="Calibri"/>
                <a:ea typeface="Calibri"/>
                <a:cs typeface="Calibri"/>
                <a:sym typeface="Calibri"/>
              </a:rPr>
              <a:t>Clusters are consistently well-separated across both visualizations</a:t>
            </a:r>
            <a:endParaRPr sz="2700">
              <a:solidFill>
                <a:srgbClr val="1D5732"/>
              </a:solidFill>
              <a:latin typeface="Calibri"/>
              <a:ea typeface="Calibri"/>
              <a:cs typeface="Calibri"/>
              <a:sym typeface="Calibri"/>
            </a:endParaRPr>
          </a:p>
          <a:p>
            <a:pPr indent="-400050" lvl="0" marL="457200" rtl="0" algn="l">
              <a:spcBef>
                <a:spcPts val="0"/>
              </a:spcBef>
              <a:spcAft>
                <a:spcPts val="0"/>
              </a:spcAft>
              <a:buClr>
                <a:srgbClr val="1D5732"/>
              </a:buClr>
              <a:buSzPts val="2700"/>
              <a:buFont typeface="Calibri"/>
              <a:buChar char="●"/>
            </a:pPr>
            <a:r>
              <a:rPr lang="en-US" sz="2700">
                <a:solidFill>
                  <a:srgbClr val="1D5732"/>
                </a:solidFill>
                <a:latin typeface="Calibri"/>
                <a:ea typeface="Calibri"/>
                <a:cs typeface="Calibri"/>
                <a:sym typeface="Calibri"/>
              </a:rPr>
              <a:t>Cluster distribution remains stable across methods</a:t>
            </a:r>
            <a:endParaRPr sz="2700">
              <a:solidFill>
                <a:srgbClr val="1D5732"/>
              </a:solidFill>
              <a:latin typeface="Calibri"/>
              <a:ea typeface="Calibri"/>
              <a:cs typeface="Calibri"/>
              <a:sym typeface="Calibri"/>
            </a:endParaRPr>
          </a:p>
          <a:p>
            <a:pPr indent="-400050" lvl="0" marL="457200" rtl="0" algn="l">
              <a:spcBef>
                <a:spcPts val="0"/>
              </a:spcBef>
              <a:spcAft>
                <a:spcPts val="0"/>
              </a:spcAft>
              <a:buClr>
                <a:srgbClr val="1D5732"/>
              </a:buClr>
              <a:buSzPts val="2700"/>
              <a:buFont typeface="Calibri"/>
              <a:buChar char="●"/>
            </a:pPr>
            <a:r>
              <a:rPr lang="en-US" sz="2700">
                <a:solidFill>
                  <a:srgbClr val="1D5732"/>
                </a:solidFill>
                <a:latin typeface="Calibri"/>
                <a:ea typeface="Calibri"/>
                <a:cs typeface="Calibri"/>
                <a:sym typeface="Calibri"/>
              </a:rPr>
              <a:t>Less overlap compared to hierarchical and GMM</a:t>
            </a:r>
            <a:endParaRPr sz="2700">
              <a:solidFill>
                <a:srgbClr val="1D5732"/>
              </a:solidFill>
              <a:latin typeface="Calibri"/>
              <a:ea typeface="Calibri"/>
              <a:cs typeface="Calibri"/>
              <a:sym typeface="Calibri"/>
            </a:endParaRPr>
          </a:p>
          <a:p>
            <a:pPr indent="-400050" lvl="0" marL="457200" rtl="0" algn="l">
              <a:spcBef>
                <a:spcPts val="0"/>
              </a:spcBef>
              <a:spcAft>
                <a:spcPts val="0"/>
              </a:spcAft>
              <a:buClr>
                <a:srgbClr val="1D5732"/>
              </a:buClr>
              <a:buSzPts val="2700"/>
              <a:buFont typeface="Calibri"/>
              <a:buChar char="●"/>
            </a:pPr>
            <a:r>
              <a:rPr lang="en-US" sz="2700">
                <a:solidFill>
                  <a:srgbClr val="1D5732"/>
                </a:solidFill>
                <a:latin typeface="Calibri"/>
                <a:ea typeface="Calibri"/>
                <a:cs typeface="Calibri"/>
                <a:sym typeface="Calibri"/>
              </a:rPr>
              <a:t>Performance metrics (Silhouette &amp; Davies-Bouldin) align with visual insights</a:t>
            </a:r>
            <a:endParaRPr sz="2700">
              <a:solidFill>
                <a:srgbClr val="1D5732"/>
              </a:solidFill>
              <a:latin typeface="Calibri"/>
              <a:ea typeface="Calibri"/>
              <a:cs typeface="Calibri"/>
              <a:sym typeface="Calibri"/>
            </a:endParaRPr>
          </a:p>
        </p:txBody>
      </p:sp>
      <p:sp>
        <p:nvSpPr>
          <p:cNvPr id="254" name="Google Shape;254;g33592dbd1e6_0_9"/>
          <p:cNvSpPr txBox="1"/>
          <p:nvPr/>
        </p:nvSpPr>
        <p:spPr>
          <a:xfrm>
            <a:off x="358600" y="1516150"/>
            <a:ext cx="11076900" cy="84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3500">
                <a:solidFill>
                  <a:srgbClr val="1D5732"/>
                </a:solidFill>
                <a:latin typeface="Calibri"/>
                <a:ea typeface="Calibri"/>
                <a:cs typeface="Calibri"/>
                <a:sym typeface="Calibri"/>
              </a:rPr>
              <a:t>Jointly confirm K-Means model is a strong choice</a:t>
            </a:r>
            <a:endParaRPr sz="3200">
              <a:solidFill>
                <a:srgbClr val="1D5732"/>
              </a:solidFill>
              <a:latin typeface="Calibri"/>
              <a:ea typeface="Calibri"/>
              <a:cs typeface="Calibri"/>
              <a:sym typeface="Calibri"/>
            </a:endParaRPr>
          </a:p>
        </p:txBody>
      </p:sp>
      <p:pic>
        <p:nvPicPr>
          <p:cNvPr id="255" name="Google Shape;255;g33592dbd1e6_0_9"/>
          <p:cNvPicPr preferRelativeResize="0"/>
          <p:nvPr/>
        </p:nvPicPr>
        <p:blipFill>
          <a:blip r:embed="rId7">
            <a:alphaModFix/>
          </a:blip>
          <a:stretch>
            <a:fillRect/>
          </a:stretch>
        </p:blipFill>
        <p:spPr>
          <a:xfrm>
            <a:off x="4512700" y="3751050"/>
            <a:ext cx="6845973" cy="5244422"/>
          </a:xfrm>
          <a:prstGeom prst="rect">
            <a:avLst/>
          </a:prstGeom>
          <a:noFill/>
          <a:ln>
            <a:noFill/>
          </a:ln>
        </p:spPr>
      </p:pic>
      <p:pic>
        <p:nvPicPr>
          <p:cNvPr id="256" name="Google Shape;256;g33592dbd1e6_0_9"/>
          <p:cNvPicPr preferRelativeResize="0"/>
          <p:nvPr/>
        </p:nvPicPr>
        <p:blipFill>
          <a:blip r:embed="rId8">
            <a:alphaModFix/>
          </a:blip>
          <a:stretch>
            <a:fillRect/>
          </a:stretch>
        </p:blipFill>
        <p:spPr>
          <a:xfrm>
            <a:off x="11359298" y="3767462"/>
            <a:ext cx="6776926" cy="5226053"/>
          </a:xfrm>
          <a:prstGeom prst="rect">
            <a:avLst/>
          </a:prstGeom>
          <a:noFill/>
          <a:ln>
            <a:noFill/>
          </a:ln>
        </p:spPr>
      </p:pic>
      <p:pic>
        <p:nvPicPr>
          <p:cNvPr id="257" name="Google Shape;257;g33592dbd1e6_0_9"/>
          <p:cNvPicPr preferRelativeResize="0"/>
          <p:nvPr/>
        </p:nvPicPr>
        <p:blipFill>
          <a:blip r:embed="rId9">
            <a:alphaModFix/>
          </a:blip>
          <a:stretch>
            <a:fillRect/>
          </a:stretch>
        </p:blipFill>
        <p:spPr>
          <a:xfrm>
            <a:off x="9554940" y="1797325"/>
            <a:ext cx="3403985" cy="1962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3B1"/>
        </a:solidFill>
      </p:bgPr>
    </p:bg>
    <p:spTree>
      <p:nvGrpSpPr>
        <p:cNvPr id="261" name="Shape 261"/>
        <p:cNvGrpSpPr/>
        <p:nvPr/>
      </p:nvGrpSpPr>
      <p:grpSpPr>
        <a:xfrm>
          <a:off x="0" y="0"/>
          <a:ext cx="0" cy="0"/>
          <a:chOff x="0" y="0"/>
          <a:chExt cx="0" cy="0"/>
        </a:xfrm>
      </p:grpSpPr>
      <p:sp>
        <p:nvSpPr>
          <p:cNvPr id="262" name="Google Shape;262;g33f91133ea5_0_173"/>
          <p:cNvSpPr txBox="1"/>
          <p:nvPr/>
        </p:nvSpPr>
        <p:spPr>
          <a:xfrm>
            <a:off x="1028675" y="630225"/>
            <a:ext cx="116958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6000">
                <a:solidFill>
                  <a:srgbClr val="1D5732"/>
                </a:solidFill>
              </a:rPr>
              <a:t>Customer Profiling</a:t>
            </a:r>
            <a:endParaRPr sz="6000">
              <a:solidFill>
                <a:srgbClr val="1D5732"/>
              </a:solidFill>
            </a:endParaRPr>
          </a:p>
        </p:txBody>
      </p:sp>
      <p:sp>
        <p:nvSpPr>
          <p:cNvPr id="263" name="Google Shape;263;g33f91133ea5_0_173"/>
          <p:cNvSpPr txBox="1"/>
          <p:nvPr/>
        </p:nvSpPr>
        <p:spPr>
          <a:xfrm>
            <a:off x="15969090" y="962025"/>
            <a:ext cx="1267800" cy="615600"/>
          </a:xfrm>
          <a:prstGeom prst="rect">
            <a:avLst/>
          </a:prstGeom>
          <a:noFill/>
          <a:ln>
            <a:noFill/>
          </a:ln>
        </p:spPr>
        <p:txBody>
          <a:bodyPr anchorCtr="0" anchor="t" bIns="0" lIns="0" spcFirstLastPara="1" rIns="0" wrap="square" tIns="0">
            <a:spAutoFit/>
          </a:bodyPr>
          <a:lstStyle/>
          <a:p>
            <a:pPr indent="0" lvl="0" marL="0" marR="0" rtl="0" algn="r">
              <a:lnSpc>
                <a:spcPct val="140010"/>
              </a:lnSpc>
              <a:spcBef>
                <a:spcPts val="0"/>
              </a:spcBef>
              <a:spcAft>
                <a:spcPts val="0"/>
              </a:spcAft>
              <a:buNone/>
            </a:pPr>
            <a:r>
              <a:rPr b="1" i="0" lang="en-US" sz="3999" u="none" cap="none" strike="noStrike">
                <a:solidFill>
                  <a:srgbClr val="EEE3B1"/>
                </a:solidFill>
                <a:latin typeface="Arial"/>
                <a:ea typeface="Arial"/>
                <a:cs typeface="Arial"/>
                <a:sym typeface="Arial"/>
              </a:rPr>
              <a:t>03</a:t>
            </a:r>
            <a:endParaRPr/>
          </a:p>
        </p:txBody>
      </p:sp>
      <p:grpSp>
        <p:nvGrpSpPr>
          <p:cNvPr id="264" name="Google Shape;264;g33f91133ea5_0_173"/>
          <p:cNvGrpSpPr/>
          <p:nvPr/>
        </p:nvGrpSpPr>
        <p:grpSpPr>
          <a:xfrm>
            <a:off x="-50" y="9147925"/>
            <a:ext cx="18288118" cy="1139089"/>
            <a:chOff x="0" y="-28575"/>
            <a:chExt cx="4816592" cy="792134"/>
          </a:xfrm>
        </p:grpSpPr>
        <p:sp>
          <p:nvSpPr>
            <p:cNvPr id="265" name="Google Shape;265;g33f91133ea5_0_173"/>
            <p:cNvSpPr/>
            <p:nvPr/>
          </p:nvSpPr>
          <p:spPr>
            <a:xfrm>
              <a:off x="0" y="0"/>
              <a:ext cx="4816592" cy="763559"/>
            </a:xfrm>
            <a:custGeom>
              <a:rect b="b" l="l" r="r" t="t"/>
              <a:pathLst>
                <a:path extrusionOk="0" h="763559" w="4816592">
                  <a:moveTo>
                    <a:pt x="0" y="0"/>
                  </a:moveTo>
                  <a:lnTo>
                    <a:pt x="4816592" y="0"/>
                  </a:lnTo>
                  <a:lnTo>
                    <a:pt x="4816592" y="763559"/>
                  </a:lnTo>
                  <a:lnTo>
                    <a:pt x="0" y="763559"/>
                  </a:lnTo>
                  <a:close/>
                </a:path>
              </a:pathLst>
            </a:custGeom>
            <a:solidFill>
              <a:srgbClr val="1D5732"/>
            </a:solidFill>
            <a:ln>
              <a:noFill/>
            </a:ln>
          </p:spPr>
        </p:sp>
        <p:sp>
          <p:nvSpPr>
            <p:cNvPr id="266" name="Google Shape;266;g33f91133ea5_0_173"/>
            <p:cNvSpPr txBox="1"/>
            <p:nvPr/>
          </p:nvSpPr>
          <p:spPr>
            <a:xfrm>
              <a:off x="0" y="-28575"/>
              <a:ext cx="4816500" cy="7920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7" name="Google Shape;267;g33f91133ea5_0_173"/>
          <p:cNvSpPr/>
          <p:nvPr/>
        </p:nvSpPr>
        <p:spPr>
          <a:xfrm>
            <a:off x="13029268" y="912218"/>
            <a:ext cx="870958" cy="1074704"/>
          </a:xfrm>
          <a:custGeom>
            <a:rect b="b" l="l" r="r" t="t"/>
            <a:pathLst>
              <a:path extrusionOk="0" h="1074704" w="870958">
                <a:moveTo>
                  <a:pt x="0" y="0"/>
                </a:moveTo>
                <a:lnTo>
                  <a:pt x="870958" y="0"/>
                </a:lnTo>
                <a:lnTo>
                  <a:pt x="870958" y="1074704"/>
                </a:lnTo>
                <a:lnTo>
                  <a:pt x="0" y="1074704"/>
                </a:lnTo>
                <a:lnTo>
                  <a:pt x="0" y="0"/>
                </a:lnTo>
                <a:close/>
              </a:path>
            </a:pathLst>
          </a:custGeom>
          <a:blipFill rotWithShape="1">
            <a:blip r:embed="rId3">
              <a:alphaModFix/>
            </a:blip>
            <a:stretch>
              <a:fillRect b="0" l="0" r="0" t="0"/>
            </a:stretch>
          </a:blipFill>
          <a:ln>
            <a:noFill/>
          </a:ln>
        </p:spPr>
      </p:sp>
      <p:sp>
        <p:nvSpPr>
          <p:cNvPr id="268" name="Google Shape;268;g33f91133ea5_0_173"/>
          <p:cNvSpPr/>
          <p:nvPr/>
        </p:nvSpPr>
        <p:spPr>
          <a:xfrm rot="1282585">
            <a:off x="12140392" y="-646068"/>
            <a:ext cx="1351560" cy="1393361"/>
          </a:xfrm>
          <a:custGeom>
            <a:rect b="b" l="l" r="r" t="t"/>
            <a:pathLst>
              <a:path extrusionOk="0" h="1391427" w="1349684">
                <a:moveTo>
                  <a:pt x="0" y="0"/>
                </a:moveTo>
                <a:lnTo>
                  <a:pt x="1349684" y="0"/>
                </a:lnTo>
                <a:lnTo>
                  <a:pt x="1349684" y="1391427"/>
                </a:lnTo>
                <a:lnTo>
                  <a:pt x="0" y="1391427"/>
                </a:lnTo>
                <a:lnTo>
                  <a:pt x="0" y="0"/>
                </a:lnTo>
                <a:close/>
              </a:path>
            </a:pathLst>
          </a:custGeom>
          <a:blipFill rotWithShape="1">
            <a:blip r:embed="rId4">
              <a:alphaModFix/>
            </a:blip>
            <a:stretch>
              <a:fillRect b="0" l="0" r="0" t="0"/>
            </a:stretch>
          </a:blipFill>
          <a:ln>
            <a:noFill/>
          </a:ln>
        </p:spPr>
      </p:sp>
      <p:sp>
        <p:nvSpPr>
          <p:cNvPr id="269" name="Google Shape;269;g33f91133ea5_0_173"/>
          <p:cNvSpPr/>
          <p:nvPr/>
        </p:nvSpPr>
        <p:spPr>
          <a:xfrm>
            <a:off x="13712371" y="-376944"/>
            <a:ext cx="1258008" cy="1289163"/>
          </a:xfrm>
          <a:custGeom>
            <a:rect b="b" l="l" r="r" t="t"/>
            <a:pathLst>
              <a:path extrusionOk="0" h="1289163" w="1258008">
                <a:moveTo>
                  <a:pt x="0" y="0"/>
                </a:moveTo>
                <a:lnTo>
                  <a:pt x="1258007" y="0"/>
                </a:lnTo>
                <a:lnTo>
                  <a:pt x="1258007" y="1289162"/>
                </a:lnTo>
                <a:lnTo>
                  <a:pt x="0" y="1289162"/>
                </a:lnTo>
                <a:lnTo>
                  <a:pt x="0" y="0"/>
                </a:lnTo>
                <a:close/>
              </a:path>
            </a:pathLst>
          </a:custGeom>
          <a:blipFill rotWithShape="1">
            <a:blip r:embed="rId5">
              <a:alphaModFix/>
            </a:blip>
            <a:stretch>
              <a:fillRect b="0" l="0" r="0" t="0"/>
            </a:stretch>
          </a:blipFill>
          <a:ln>
            <a:noFill/>
          </a:ln>
        </p:spPr>
      </p:sp>
      <p:sp>
        <p:nvSpPr>
          <p:cNvPr id="270" name="Google Shape;270;g33f91133ea5_0_173"/>
          <p:cNvSpPr/>
          <p:nvPr/>
        </p:nvSpPr>
        <p:spPr>
          <a:xfrm>
            <a:off x="14205026" y="468552"/>
            <a:ext cx="1459264" cy="1962035"/>
          </a:xfrm>
          <a:custGeom>
            <a:rect b="b" l="l" r="r" t="t"/>
            <a:pathLst>
              <a:path extrusionOk="0" h="1962035" w="1459264">
                <a:moveTo>
                  <a:pt x="0" y="0"/>
                </a:moveTo>
                <a:lnTo>
                  <a:pt x="1459264" y="0"/>
                </a:lnTo>
                <a:lnTo>
                  <a:pt x="1459264" y="1962036"/>
                </a:lnTo>
                <a:lnTo>
                  <a:pt x="0" y="1962036"/>
                </a:lnTo>
                <a:lnTo>
                  <a:pt x="0" y="0"/>
                </a:lnTo>
                <a:close/>
              </a:path>
            </a:pathLst>
          </a:custGeom>
          <a:blipFill rotWithShape="1">
            <a:blip r:embed="rId6">
              <a:alphaModFix/>
            </a:blip>
            <a:stretch>
              <a:fillRect b="0" l="0" r="0" t="0"/>
            </a:stretch>
          </a:blipFill>
          <a:ln>
            <a:noFill/>
          </a:ln>
        </p:spPr>
      </p:sp>
      <p:grpSp>
        <p:nvGrpSpPr>
          <p:cNvPr id="271" name="Google Shape;271;g33f91133ea5_0_173"/>
          <p:cNvGrpSpPr/>
          <p:nvPr/>
        </p:nvGrpSpPr>
        <p:grpSpPr>
          <a:xfrm>
            <a:off x="118900" y="9392235"/>
            <a:ext cx="10607763" cy="739758"/>
            <a:chOff x="2577" y="877098"/>
            <a:chExt cx="10553938" cy="917700"/>
          </a:xfrm>
        </p:grpSpPr>
        <p:sp>
          <p:nvSpPr>
            <p:cNvPr id="272" name="Google Shape;272;g33f91133ea5_0_173"/>
            <p:cNvSpPr/>
            <p:nvPr/>
          </p:nvSpPr>
          <p:spPr>
            <a:xfrm>
              <a:off x="2577"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g33f91133ea5_0_173"/>
            <p:cNvSpPr txBox="1"/>
            <p:nvPr/>
          </p:nvSpPr>
          <p:spPr>
            <a:xfrm>
              <a:off x="571834" y="1021426"/>
              <a:ext cx="1155900" cy="5910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i="0" lang="en-US" u="none" cap="none" strike="noStrike">
                  <a:solidFill>
                    <a:srgbClr val="002060"/>
                  </a:solidFill>
                </a:rPr>
                <a:t>Busine</a:t>
              </a:r>
              <a:r>
                <a:rPr lang="en-US">
                  <a:solidFill>
                    <a:srgbClr val="002060"/>
                  </a:solidFill>
                </a:rPr>
                <a:t>s</a:t>
              </a:r>
              <a:r>
                <a:rPr i="0" lang="en-US" u="none" cap="none" strike="noStrike">
                  <a:solidFill>
                    <a:srgbClr val="002060"/>
                  </a:solidFill>
                </a:rPr>
                <a:t>s Problem</a:t>
              </a:r>
              <a:endParaRPr i="0" u="none" cap="none" strike="noStrike">
                <a:solidFill>
                  <a:srgbClr val="002060"/>
                </a:solidFill>
              </a:endParaRPr>
            </a:p>
          </p:txBody>
        </p:sp>
        <p:sp>
          <p:nvSpPr>
            <p:cNvPr id="274" name="Google Shape;274;g33f91133ea5_0_173"/>
            <p:cNvSpPr/>
            <p:nvPr/>
          </p:nvSpPr>
          <p:spPr>
            <a:xfrm>
              <a:off x="2067462"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g33f91133ea5_0_173"/>
            <p:cNvSpPr txBox="1"/>
            <p:nvPr/>
          </p:nvSpPr>
          <p:spPr>
            <a:xfrm>
              <a:off x="2561114" y="972834"/>
              <a:ext cx="1155900" cy="6882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i="0" lang="en-US" u="none" cap="none" strike="noStrike">
                  <a:solidFill>
                    <a:srgbClr val="002060"/>
                  </a:solidFill>
                </a:rPr>
                <a:t>EDA &amp; Insights</a:t>
              </a:r>
              <a:endParaRPr i="0" u="none" cap="none" strike="noStrike">
                <a:solidFill>
                  <a:srgbClr val="002060"/>
                </a:solidFill>
              </a:endParaRPr>
            </a:p>
          </p:txBody>
        </p:sp>
        <p:sp>
          <p:nvSpPr>
            <p:cNvPr id="276" name="Google Shape;276;g33f91133ea5_0_173"/>
            <p:cNvSpPr/>
            <p:nvPr/>
          </p:nvSpPr>
          <p:spPr>
            <a:xfrm>
              <a:off x="4132346" y="877098"/>
              <a:ext cx="2294400" cy="917700"/>
            </a:xfrm>
            <a:prstGeom prst="chevron">
              <a:avLst>
                <a:gd fmla="val 50000" name="adj"/>
              </a:avLst>
            </a:prstGeom>
            <a:solidFill>
              <a:schemeClr val="lt2"/>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g33f91133ea5_0_173"/>
            <p:cNvSpPr/>
            <p:nvPr/>
          </p:nvSpPr>
          <p:spPr>
            <a:xfrm>
              <a:off x="6197231"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g33f91133ea5_0_173"/>
            <p:cNvSpPr txBox="1"/>
            <p:nvPr/>
          </p:nvSpPr>
          <p:spPr>
            <a:xfrm>
              <a:off x="6668795" y="973848"/>
              <a:ext cx="1489500" cy="688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Campaign Prediction</a:t>
              </a:r>
              <a:endParaRPr i="0" u="none" cap="none" strike="noStrike">
                <a:solidFill>
                  <a:srgbClr val="002060"/>
                </a:solidFill>
              </a:endParaRPr>
            </a:p>
          </p:txBody>
        </p:sp>
        <p:sp>
          <p:nvSpPr>
            <p:cNvPr id="279" name="Google Shape;279;g33f91133ea5_0_173"/>
            <p:cNvSpPr/>
            <p:nvPr/>
          </p:nvSpPr>
          <p:spPr>
            <a:xfrm>
              <a:off x="8262115"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g33f91133ea5_0_173"/>
            <p:cNvSpPr txBox="1"/>
            <p:nvPr/>
          </p:nvSpPr>
          <p:spPr>
            <a:xfrm>
              <a:off x="8648985" y="973811"/>
              <a:ext cx="1489500" cy="724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Recommendation</a:t>
              </a:r>
              <a:endParaRPr i="0" u="none" cap="none" strike="noStrike">
                <a:solidFill>
                  <a:srgbClr val="002060"/>
                </a:solidFill>
              </a:endParaRPr>
            </a:p>
          </p:txBody>
        </p:sp>
        <p:sp>
          <p:nvSpPr>
            <p:cNvPr id="281" name="Google Shape;281;g33f91133ea5_0_173"/>
            <p:cNvSpPr txBox="1"/>
            <p:nvPr/>
          </p:nvSpPr>
          <p:spPr>
            <a:xfrm>
              <a:off x="4550363" y="955709"/>
              <a:ext cx="1489500" cy="7242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Clustering &amp; Segmentation</a:t>
              </a:r>
              <a:endParaRPr i="0" u="none" cap="none" strike="noStrike">
                <a:solidFill>
                  <a:srgbClr val="002060"/>
                </a:solidFill>
              </a:endParaRPr>
            </a:p>
          </p:txBody>
        </p:sp>
      </p:grpSp>
      <p:grpSp>
        <p:nvGrpSpPr>
          <p:cNvPr id="282" name="Google Shape;282;g33f91133ea5_0_173"/>
          <p:cNvGrpSpPr/>
          <p:nvPr/>
        </p:nvGrpSpPr>
        <p:grpSpPr>
          <a:xfrm>
            <a:off x="1024875" y="1986912"/>
            <a:ext cx="7736399" cy="3353084"/>
            <a:chOff x="0" y="-28575"/>
            <a:chExt cx="1055400" cy="1095600"/>
          </a:xfrm>
        </p:grpSpPr>
        <p:sp>
          <p:nvSpPr>
            <p:cNvPr id="283" name="Google Shape;283;g33f91133ea5_0_173"/>
            <p:cNvSpPr/>
            <p:nvPr/>
          </p:nvSpPr>
          <p:spPr>
            <a:xfrm>
              <a:off x="0" y="0"/>
              <a:ext cx="1055394" cy="1066897"/>
            </a:xfrm>
            <a:custGeom>
              <a:rect b="b" l="l" r="r" t="t"/>
              <a:pathLst>
                <a:path extrusionOk="0" h="1066897" w="1055394">
                  <a:moveTo>
                    <a:pt x="0" y="0"/>
                  </a:moveTo>
                  <a:lnTo>
                    <a:pt x="1055394" y="0"/>
                  </a:lnTo>
                  <a:lnTo>
                    <a:pt x="1055394" y="1066897"/>
                  </a:lnTo>
                  <a:lnTo>
                    <a:pt x="0" y="1066897"/>
                  </a:lnTo>
                  <a:close/>
                </a:path>
              </a:pathLst>
            </a:custGeom>
            <a:solidFill>
              <a:srgbClr val="EEE3B1"/>
            </a:solidFill>
            <a:ln>
              <a:noFill/>
            </a:ln>
          </p:spPr>
        </p:sp>
        <p:sp>
          <p:nvSpPr>
            <p:cNvPr id="284" name="Google Shape;284;g33f91133ea5_0_173"/>
            <p:cNvSpPr txBox="1"/>
            <p:nvPr/>
          </p:nvSpPr>
          <p:spPr>
            <a:xfrm>
              <a:off x="0" y="-28575"/>
              <a:ext cx="1055400" cy="1095600"/>
            </a:xfrm>
            <a:prstGeom prst="rect">
              <a:avLst/>
            </a:prstGeom>
            <a:solidFill>
              <a:srgbClr val="FFFCF0"/>
            </a:solid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5" name="Google Shape;285;g33f91133ea5_0_173"/>
          <p:cNvGrpSpPr/>
          <p:nvPr/>
        </p:nvGrpSpPr>
        <p:grpSpPr>
          <a:xfrm>
            <a:off x="8947975" y="1986925"/>
            <a:ext cx="7736399" cy="3353084"/>
            <a:chOff x="0" y="-28575"/>
            <a:chExt cx="1055400" cy="1095600"/>
          </a:xfrm>
        </p:grpSpPr>
        <p:sp>
          <p:nvSpPr>
            <p:cNvPr id="286" name="Google Shape;286;g33f91133ea5_0_173"/>
            <p:cNvSpPr/>
            <p:nvPr/>
          </p:nvSpPr>
          <p:spPr>
            <a:xfrm>
              <a:off x="0" y="0"/>
              <a:ext cx="1055394" cy="1066897"/>
            </a:xfrm>
            <a:custGeom>
              <a:rect b="b" l="l" r="r" t="t"/>
              <a:pathLst>
                <a:path extrusionOk="0" h="1066897" w="1055394">
                  <a:moveTo>
                    <a:pt x="0" y="0"/>
                  </a:moveTo>
                  <a:lnTo>
                    <a:pt x="1055394" y="0"/>
                  </a:lnTo>
                  <a:lnTo>
                    <a:pt x="1055394" y="1066897"/>
                  </a:lnTo>
                  <a:lnTo>
                    <a:pt x="0" y="1066897"/>
                  </a:lnTo>
                  <a:close/>
                </a:path>
              </a:pathLst>
            </a:custGeom>
            <a:solidFill>
              <a:srgbClr val="EEE3B1"/>
            </a:solidFill>
            <a:ln>
              <a:noFill/>
            </a:ln>
          </p:spPr>
        </p:sp>
        <p:sp>
          <p:nvSpPr>
            <p:cNvPr id="287" name="Google Shape;287;g33f91133ea5_0_173"/>
            <p:cNvSpPr txBox="1"/>
            <p:nvPr/>
          </p:nvSpPr>
          <p:spPr>
            <a:xfrm>
              <a:off x="0" y="-28575"/>
              <a:ext cx="1055400" cy="1095600"/>
            </a:xfrm>
            <a:prstGeom prst="rect">
              <a:avLst/>
            </a:prstGeom>
            <a:solidFill>
              <a:srgbClr val="FFFCF0"/>
            </a:solid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8" name="Google Shape;288;g33f91133ea5_0_173"/>
          <p:cNvGrpSpPr/>
          <p:nvPr/>
        </p:nvGrpSpPr>
        <p:grpSpPr>
          <a:xfrm>
            <a:off x="1024875" y="5567425"/>
            <a:ext cx="7736399" cy="3353084"/>
            <a:chOff x="0" y="-28575"/>
            <a:chExt cx="1055400" cy="1095600"/>
          </a:xfrm>
        </p:grpSpPr>
        <p:sp>
          <p:nvSpPr>
            <p:cNvPr id="289" name="Google Shape;289;g33f91133ea5_0_173"/>
            <p:cNvSpPr/>
            <p:nvPr/>
          </p:nvSpPr>
          <p:spPr>
            <a:xfrm>
              <a:off x="0" y="0"/>
              <a:ext cx="1055394" cy="1066897"/>
            </a:xfrm>
            <a:custGeom>
              <a:rect b="b" l="l" r="r" t="t"/>
              <a:pathLst>
                <a:path extrusionOk="0" h="1066897" w="1055394">
                  <a:moveTo>
                    <a:pt x="0" y="0"/>
                  </a:moveTo>
                  <a:lnTo>
                    <a:pt x="1055394" y="0"/>
                  </a:lnTo>
                  <a:lnTo>
                    <a:pt x="1055394" y="1066897"/>
                  </a:lnTo>
                  <a:lnTo>
                    <a:pt x="0" y="1066897"/>
                  </a:lnTo>
                  <a:close/>
                </a:path>
              </a:pathLst>
            </a:custGeom>
            <a:solidFill>
              <a:srgbClr val="EEE3B1"/>
            </a:solidFill>
            <a:ln>
              <a:noFill/>
            </a:ln>
          </p:spPr>
        </p:sp>
        <p:sp>
          <p:nvSpPr>
            <p:cNvPr id="290" name="Google Shape;290;g33f91133ea5_0_173"/>
            <p:cNvSpPr txBox="1"/>
            <p:nvPr/>
          </p:nvSpPr>
          <p:spPr>
            <a:xfrm>
              <a:off x="0" y="-28575"/>
              <a:ext cx="1055400" cy="1095600"/>
            </a:xfrm>
            <a:prstGeom prst="rect">
              <a:avLst/>
            </a:prstGeom>
            <a:solidFill>
              <a:srgbClr val="FFFCF0"/>
            </a:solid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1" name="Google Shape;291;g33f91133ea5_0_173"/>
          <p:cNvGrpSpPr/>
          <p:nvPr/>
        </p:nvGrpSpPr>
        <p:grpSpPr>
          <a:xfrm>
            <a:off x="8947975" y="5567425"/>
            <a:ext cx="7736399" cy="3353084"/>
            <a:chOff x="0" y="-28575"/>
            <a:chExt cx="1055400" cy="1095600"/>
          </a:xfrm>
        </p:grpSpPr>
        <p:sp>
          <p:nvSpPr>
            <p:cNvPr id="292" name="Google Shape;292;g33f91133ea5_0_173"/>
            <p:cNvSpPr/>
            <p:nvPr/>
          </p:nvSpPr>
          <p:spPr>
            <a:xfrm>
              <a:off x="0" y="0"/>
              <a:ext cx="1055394" cy="1066897"/>
            </a:xfrm>
            <a:custGeom>
              <a:rect b="b" l="l" r="r" t="t"/>
              <a:pathLst>
                <a:path extrusionOk="0" h="1066897" w="1055394">
                  <a:moveTo>
                    <a:pt x="0" y="0"/>
                  </a:moveTo>
                  <a:lnTo>
                    <a:pt x="1055394" y="0"/>
                  </a:lnTo>
                  <a:lnTo>
                    <a:pt x="1055394" y="1066897"/>
                  </a:lnTo>
                  <a:lnTo>
                    <a:pt x="0" y="1066897"/>
                  </a:lnTo>
                  <a:close/>
                </a:path>
              </a:pathLst>
            </a:custGeom>
            <a:solidFill>
              <a:srgbClr val="EEE3B1"/>
            </a:solidFill>
            <a:ln>
              <a:noFill/>
            </a:ln>
          </p:spPr>
        </p:sp>
        <p:sp>
          <p:nvSpPr>
            <p:cNvPr id="293" name="Google Shape;293;g33f91133ea5_0_173"/>
            <p:cNvSpPr txBox="1"/>
            <p:nvPr/>
          </p:nvSpPr>
          <p:spPr>
            <a:xfrm>
              <a:off x="0" y="-28575"/>
              <a:ext cx="1055400" cy="1095600"/>
            </a:xfrm>
            <a:prstGeom prst="rect">
              <a:avLst/>
            </a:prstGeom>
            <a:solidFill>
              <a:srgbClr val="FFFCF0"/>
            </a:solid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4" name="Google Shape;294;g33f91133ea5_0_173"/>
          <p:cNvSpPr txBox="1"/>
          <p:nvPr/>
        </p:nvSpPr>
        <p:spPr>
          <a:xfrm>
            <a:off x="3720100" y="2154325"/>
            <a:ext cx="3744900" cy="4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3000">
                <a:solidFill>
                  <a:srgbClr val="1D5732"/>
                </a:solidFill>
              </a:rPr>
              <a:t>Premium Shoppers</a:t>
            </a:r>
            <a:endParaRPr sz="3000">
              <a:solidFill>
                <a:srgbClr val="1D5732"/>
              </a:solidFill>
            </a:endParaRPr>
          </a:p>
        </p:txBody>
      </p:sp>
      <p:sp>
        <p:nvSpPr>
          <p:cNvPr id="295" name="Google Shape;295;g33f91133ea5_0_173"/>
          <p:cNvSpPr txBox="1"/>
          <p:nvPr/>
        </p:nvSpPr>
        <p:spPr>
          <a:xfrm>
            <a:off x="11380725" y="2139013"/>
            <a:ext cx="5187900" cy="4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3000">
                <a:solidFill>
                  <a:srgbClr val="1D5732"/>
                </a:solidFill>
              </a:rPr>
              <a:t>Budget-Conscious Young</a:t>
            </a:r>
            <a:endParaRPr b="1" sz="3000">
              <a:solidFill>
                <a:srgbClr val="1D5732"/>
              </a:solidFill>
            </a:endParaRPr>
          </a:p>
        </p:txBody>
      </p:sp>
      <p:sp>
        <p:nvSpPr>
          <p:cNvPr id="296" name="Google Shape;296;g33f91133ea5_0_173"/>
          <p:cNvSpPr txBox="1"/>
          <p:nvPr/>
        </p:nvSpPr>
        <p:spPr>
          <a:xfrm>
            <a:off x="3720100" y="5773263"/>
            <a:ext cx="3744900" cy="4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3000">
                <a:solidFill>
                  <a:srgbClr val="1D5732"/>
                </a:solidFill>
              </a:rPr>
              <a:t>Senior Deal Hunters</a:t>
            </a:r>
            <a:endParaRPr sz="3000">
              <a:solidFill>
                <a:srgbClr val="1D5732"/>
              </a:solidFill>
            </a:endParaRPr>
          </a:p>
        </p:txBody>
      </p:sp>
      <p:sp>
        <p:nvSpPr>
          <p:cNvPr id="297" name="Google Shape;297;g33f91133ea5_0_173"/>
          <p:cNvSpPr txBox="1"/>
          <p:nvPr/>
        </p:nvSpPr>
        <p:spPr>
          <a:xfrm>
            <a:off x="11780075" y="5749300"/>
            <a:ext cx="4720500" cy="4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3000">
                <a:solidFill>
                  <a:srgbClr val="1D5732"/>
                </a:solidFill>
              </a:rPr>
              <a:t>Balanced Shopper</a:t>
            </a:r>
            <a:endParaRPr b="1" sz="3000">
              <a:solidFill>
                <a:srgbClr val="1D5732"/>
              </a:solidFill>
            </a:endParaRPr>
          </a:p>
        </p:txBody>
      </p:sp>
      <p:pic>
        <p:nvPicPr>
          <p:cNvPr id="298" name="Google Shape;298;g33f91133ea5_0_173" title="410711.png"/>
          <p:cNvPicPr preferRelativeResize="0"/>
          <p:nvPr/>
        </p:nvPicPr>
        <p:blipFill>
          <a:blip r:embed="rId7">
            <a:alphaModFix/>
          </a:blip>
          <a:stretch>
            <a:fillRect/>
          </a:stretch>
        </p:blipFill>
        <p:spPr>
          <a:xfrm>
            <a:off x="1516025" y="2888112"/>
            <a:ext cx="2012401" cy="2012378"/>
          </a:xfrm>
          <a:prstGeom prst="rect">
            <a:avLst/>
          </a:prstGeom>
          <a:noFill/>
          <a:ln>
            <a:noFill/>
          </a:ln>
        </p:spPr>
      </p:pic>
      <p:pic>
        <p:nvPicPr>
          <p:cNvPr id="299" name="Google Shape;299;g33f91133ea5_0_173" title="6485861.png"/>
          <p:cNvPicPr preferRelativeResize="0"/>
          <p:nvPr/>
        </p:nvPicPr>
        <p:blipFill>
          <a:blip r:embed="rId8">
            <a:alphaModFix/>
          </a:blip>
          <a:stretch>
            <a:fillRect/>
          </a:stretch>
        </p:blipFill>
        <p:spPr>
          <a:xfrm>
            <a:off x="9368325" y="6486400"/>
            <a:ext cx="2012401" cy="2012401"/>
          </a:xfrm>
          <a:prstGeom prst="rect">
            <a:avLst/>
          </a:prstGeom>
          <a:noFill/>
          <a:ln>
            <a:noFill/>
          </a:ln>
        </p:spPr>
      </p:pic>
      <p:pic>
        <p:nvPicPr>
          <p:cNvPr id="300" name="Google Shape;300;g33f91133ea5_0_173"/>
          <p:cNvPicPr preferRelativeResize="0"/>
          <p:nvPr/>
        </p:nvPicPr>
        <p:blipFill>
          <a:blip r:embed="rId9">
            <a:alphaModFix/>
          </a:blip>
          <a:stretch>
            <a:fillRect/>
          </a:stretch>
        </p:blipFill>
        <p:spPr>
          <a:xfrm>
            <a:off x="9368325" y="2978975"/>
            <a:ext cx="1962000" cy="1962000"/>
          </a:xfrm>
          <a:prstGeom prst="rect">
            <a:avLst/>
          </a:prstGeom>
          <a:noFill/>
          <a:ln>
            <a:noFill/>
          </a:ln>
        </p:spPr>
      </p:pic>
      <p:pic>
        <p:nvPicPr>
          <p:cNvPr id="301" name="Google Shape;301;g33f91133ea5_0_173" title="4944471.png"/>
          <p:cNvPicPr preferRelativeResize="0"/>
          <p:nvPr/>
        </p:nvPicPr>
        <p:blipFill>
          <a:blip r:embed="rId10">
            <a:alphaModFix/>
          </a:blip>
          <a:stretch>
            <a:fillRect/>
          </a:stretch>
        </p:blipFill>
        <p:spPr>
          <a:xfrm>
            <a:off x="1749125" y="6668250"/>
            <a:ext cx="1648700" cy="1648700"/>
          </a:xfrm>
          <a:prstGeom prst="rect">
            <a:avLst/>
          </a:prstGeom>
          <a:noFill/>
          <a:ln>
            <a:noFill/>
          </a:ln>
        </p:spPr>
      </p:pic>
      <p:sp>
        <p:nvSpPr>
          <p:cNvPr id="302" name="Google Shape;302;g33f91133ea5_0_173"/>
          <p:cNvSpPr txBox="1"/>
          <p:nvPr/>
        </p:nvSpPr>
        <p:spPr>
          <a:xfrm>
            <a:off x="3528425" y="2616000"/>
            <a:ext cx="5187900" cy="2492400"/>
          </a:xfrm>
          <a:prstGeom prst="rect">
            <a:avLst/>
          </a:prstGeom>
          <a:noFill/>
          <a:ln>
            <a:noFill/>
          </a:ln>
        </p:spPr>
        <p:txBody>
          <a:bodyPr anchorCtr="0" anchor="t" bIns="91425" lIns="91425" spcFirstLastPara="1" rIns="91425" wrap="square" tIns="91425">
            <a:noAutofit/>
          </a:bodyPr>
          <a:lstStyle/>
          <a:p>
            <a:pPr indent="-374650" lvl="0" marL="457200" rtl="0" algn="l">
              <a:spcBef>
                <a:spcPts val="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Older, high-income, small households, no kids</a:t>
            </a:r>
            <a:endParaRPr sz="2300">
              <a:solidFill>
                <a:schemeClr val="dk1"/>
              </a:solidFill>
              <a:latin typeface="Calibri"/>
              <a:ea typeface="Calibri"/>
              <a:cs typeface="Calibri"/>
              <a:sym typeface="Calibri"/>
            </a:endParaRPr>
          </a:p>
          <a:p>
            <a:pPr indent="-374650" lvl="0" marL="457200" rtl="0" algn="l">
              <a:spcBef>
                <a:spcPts val="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High spenders, prefer premium products (wine, gourmet food)</a:t>
            </a:r>
            <a:endParaRPr sz="2300">
              <a:solidFill>
                <a:schemeClr val="dk1"/>
              </a:solidFill>
              <a:latin typeface="Calibri"/>
              <a:ea typeface="Calibri"/>
              <a:cs typeface="Calibri"/>
              <a:sym typeface="Calibri"/>
            </a:endParaRPr>
          </a:p>
          <a:p>
            <a:pPr indent="-374650" lvl="0" marL="457200" rtl="0" algn="l">
              <a:spcBef>
                <a:spcPts val="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Value exclusivity &amp; convenience</a:t>
            </a:r>
            <a:endParaRPr sz="2300">
              <a:solidFill>
                <a:schemeClr val="dk1"/>
              </a:solidFill>
              <a:latin typeface="Calibri"/>
              <a:ea typeface="Calibri"/>
              <a:cs typeface="Calibri"/>
              <a:sym typeface="Calibri"/>
            </a:endParaRPr>
          </a:p>
          <a:p>
            <a:pPr indent="-374650" lvl="0" marL="457200" rtl="0" algn="l">
              <a:spcBef>
                <a:spcPts val="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Relatively more loyal</a:t>
            </a:r>
            <a:endParaRPr sz="2300">
              <a:solidFill>
                <a:schemeClr val="dk1"/>
              </a:solidFill>
              <a:latin typeface="Calibri"/>
              <a:ea typeface="Calibri"/>
              <a:cs typeface="Calibri"/>
              <a:sym typeface="Calibri"/>
            </a:endParaRPr>
          </a:p>
          <a:p>
            <a:pPr indent="0" lvl="0" marL="457200" rtl="0" algn="l">
              <a:spcBef>
                <a:spcPts val="0"/>
              </a:spcBef>
              <a:spcAft>
                <a:spcPts val="0"/>
              </a:spcAft>
              <a:buNone/>
            </a:pPr>
            <a:r>
              <a:t/>
            </a:r>
            <a:endParaRPr sz="2300">
              <a:solidFill>
                <a:schemeClr val="dk1"/>
              </a:solidFill>
              <a:latin typeface="Calibri"/>
              <a:ea typeface="Calibri"/>
              <a:cs typeface="Calibri"/>
              <a:sym typeface="Calibri"/>
            </a:endParaRPr>
          </a:p>
        </p:txBody>
      </p:sp>
      <p:sp>
        <p:nvSpPr>
          <p:cNvPr id="303" name="Google Shape;303;g33f91133ea5_0_173"/>
          <p:cNvSpPr txBox="1"/>
          <p:nvPr/>
        </p:nvSpPr>
        <p:spPr>
          <a:xfrm>
            <a:off x="11380725" y="3018000"/>
            <a:ext cx="4848600" cy="1962000"/>
          </a:xfrm>
          <a:prstGeom prst="rect">
            <a:avLst/>
          </a:prstGeom>
          <a:noFill/>
          <a:ln>
            <a:noFill/>
          </a:ln>
        </p:spPr>
        <p:txBody>
          <a:bodyPr anchorCtr="0" anchor="t" bIns="91425" lIns="91425" spcFirstLastPara="1" rIns="91425" wrap="square" tIns="91425">
            <a:noAutofit/>
          </a:bodyPr>
          <a:lstStyle/>
          <a:p>
            <a:pPr indent="-374650" lvl="0" marL="457200" rtl="0" algn="l">
              <a:spcBef>
                <a:spcPts val="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Younger, low-income, larger family</a:t>
            </a:r>
            <a:endParaRPr sz="2300">
              <a:solidFill>
                <a:schemeClr val="dk1"/>
              </a:solidFill>
              <a:latin typeface="Calibri"/>
              <a:ea typeface="Calibri"/>
              <a:cs typeface="Calibri"/>
              <a:sym typeface="Calibri"/>
            </a:endParaRPr>
          </a:p>
          <a:p>
            <a:pPr indent="-374650" lvl="0" marL="457200" rtl="0" algn="l">
              <a:spcBef>
                <a:spcPts val="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Hi</a:t>
            </a:r>
            <a:r>
              <a:rPr lang="en-US" sz="2300">
                <a:solidFill>
                  <a:schemeClr val="dk1"/>
                </a:solidFill>
                <a:latin typeface="Calibri"/>
                <a:ea typeface="Calibri"/>
                <a:cs typeface="Calibri"/>
                <a:sym typeface="Calibri"/>
              </a:rPr>
              <a:t>ghly price-sensitive</a:t>
            </a:r>
            <a:endParaRPr sz="2300">
              <a:solidFill>
                <a:schemeClr val="dk1"/>
              </a:solidFill>
              <a:latin typeface="Calibri"/>
              <a:ea typeface="Calibri"/>
              <a:cs typeface="Calibri"/>
              <a:sym typeface="Calibri"/>
            </a:endParaRPr>
          </a:p>
          <a:p>
            <a:pPr indent="-374650" lvl="0" marL="457200" rtl="0" algn="l">
              <a:spcBef>
                <a:spcPts val="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Most Frequent visits but least purchase</a:t>
            </a:r>
            <a:endParaRPr sz="2300">
              <a:solidFill>
                <a:schemeClr val="dk1"/>
              </a:solidFill>
              <a:latin typeface="Calibri"/>
              <a:ea typeface="Calibri"/>
              <a:cs typeface="Calibri"/>
              <a:sym typeface="Calibri"/>
            </a:endParaRPr>
          </a:p>
          <a:p>
            <a:pPr indent="0" lvl="0" marL="457200" rtl="0" algn="l">
              <a:spcBef>
                <a:spcPts val="0"/>
              </a:spcBef>
              <a:spcAft>
                <a:spcPts val="0"/>
              </a:spcAft>
              <a:buNone/>
            </a:pPr>
            <a:r>
              <a:t/>
            </a:r>
            <a:endParaRPr sz="2300">
              <a:solidFill>
                <a:schemeClr val="dk1"/>
              </a:solidFill>
              <a:latin typeface="Calibri"/>
              <a:ea typeface="Calibri"/>
              <a:cs typeface="Calibri"/>
              <a:sym typeface="Calibri"/>
            </a:endParaRPr>
          </a:p>
        </p:txBody>
      </p:sp>
      <p:sp>
        <p:nvSpPr>
          <p:cNvPr id="304" name="Google Shape;304;g33f91133ea5_0_173"/>
          <p:cNvSpPr txBox="1"/>
          <p:nvPr/>
        </p:nvSpPr>
        <p:spPr>
          <a:xfrm>
            <a:off x="3578950" y="6445250"/>
            <a:ext cx="5187900" cy="2492400"/>
          </a:xfrm>
          <a:prstGeom prst="rect">
            <a:avLst/>
          </a:prstGeom>
          <a:noFill/>
          <a:ln>
            <a:noFill/>
          </a:ln>
        </p:spPr>
        <p:txBody>
          <a:bodyPr anchorCtr="0" anchor="t" bIns="91425" lIns="91425" spcFirstLastPara="1" rIns="91425" wrap="square" tIns="91425">
            <a:noAutofit/>
          </a:bodyPr>
          <a:lstStyle/>
          <a:p>
            <a:pPr indent="-374650" lvl="0" marL="457200" rtl="0" algn="l">
              <a:spcBef>
                <a:spcPts val="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Oldest, moderate-income, largest family size</a:t>
            </a:r>
            <a:endParaRPr sz="2300">
              <a:solidFill>
                <a:schemeClr val="dk1"/>
              </a:solidFill>
              <a:latin typeface="Calibri"/>
              <a:ea typeface="Calibri"/>
              <a:cs typeface="Calibri"/>
              <a:sym typeface="Calibri"/>
            </a:endParaRPr>
          </a:p>
          <a:p>
            <a:pPr indent="-374650" lvl="0" marL="457200" rtl="0" algn="l">
              <a:spcBef>
                <a:spcPts val="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Infrequent visits but strategically looking for deals</a:t>
            </a:r>
            <a:endParaRPr sz="2300">
              <a:solidFill>
                <a:schemeClr val="dk1"/>
              </a:solidFill>
              <a:latin typeface="Calibri"/>
              <a:ea typeface="Calibri"/>
              <a:cs typeface="Calibri"/>
              <a:sym typeface="Calibri"/>
            </a:endParaRPr>
          </a:p>
          <a:p>
            <a:pPr indent="-374650" lvl="0" marL="457200" rtl="0" algn="l">
              <a:spcBef>
                <a:spcPts val="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High-value bundle buyers</a:t>
            </a:r>
            <a:endParaRPr sz="2300">
              <a:solidFill>
                <a:schemeClr val="dk1"/>
              </a:solidFill>
              <a:latin typeface="Calibri"/>
              <a:ea typeface="Calibri"/>
              <a:cs typeface="Calibri"/>
              <a:sym typeface="Calibri"/>
            </a:endParaRPr>
          </a:p>
        </p:txBody>
      </p:sp>
      <p:sp>
        <p:nvSpPr>
          <p:cNvPr id="305" name="Google Shape;305;g33f91133ea5_0_173"/>
          <p:cNvSpPr txBox="1"/>
          <p:nvPr/>
        </p:nvSpPr>
        <p:spPr>
          <a:xfrm>
            <a:off x="11546375" y="6433263"/>
            <a:ext cx="5187900" cy="2492400"/>
          </a:xfrm>
          <a:prstGeom prst="rect">
            <a:avLst/>
          </a:prstGeom>
          <a:noFill/>
          <a:ln>
            <a:noFill/>
          </a:ln>
        </p:spPr>
        <p:txBody>
          <a:bodyPr anchorCtr="0" anchor="t" bIns="91425" lIns="91425" spcFirstLastPara="1" rIns="91425" wrap="square" tIns="91425">
            <a:noAutofit/>
          </a:bodyPr>
          <a:lstStyle/>
          <a:p>
            <a:pPr indent="-374650" lvl="0" marL="457200" rtl="0" algn="l">
              <a:spcBef>
                <a:spcPts val="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Middle-aged, moderate-income, mid-sized families</a:t>
            </a:r>
            <a:endParaRPr sz="2300">
              <a:solidFill>
                <a:schemeClr val="dk1"/>
              </a:solidFill>
              <a:latin typeface="Calibri"/>
              <a:ea typeface="Calibri"/>
              <a:cs typeface="Calibri"/>
              <a:sym typeface="Calibri"/>
            </a:endParaRPr>
          </a:p>
          <a:p>
            <a:pPr indent="-374650" lvl="0" marL="457200" rtl="0" algn="l">
              <a:spcBef>
                <a:spcPts val="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Balanced spending, omnichannel shopper</a:t>
            </a:r>
            <a:endParaRPr sz="2300">
              <a:solidFill>
                <a:schemeClr val="dk1"/>
              </a:solidFill>
              <a:latin typeface="Calibri"/>
              <a:ea typeface="Calibri"/>
              <a:cs typeface="Calibri"/>
              <a:sym typeface="Calibri"/>
            </a:endParaRPr>
          </a:p>
          <a:p>
            <a:pPr indent="-374650" lvl="0" marL="457200" rtl="0" algn="l">
              <a:spcBef>
                <a:spcPts val="0"/>
              </a:spcBef>
              <a:spcAft>
                <a:spcPts val="0"/>
              </a:spcAft>
              <a:buClr>
                <a:schemeClr val="dk1"/>
              </a:buClr>
              <a:buSzPts val="2300"/>
              <a:buFont typeface="Calibri"/>
              <a:buChar char="●"/>
            </a:pPr>
            <a:r>
              <a:rPr lang="en-US" sz="2300">
                <a:solidFill>
                  <a:schemeClr val="dk1"/>
                </a:solidFill>
                <a:latin typeface="Calibri"/>
                <a:ea typeface="Calibri"/>
                <a:cs typeface="Calibri"/>
                <a:sym typeface="Calibri"/>
              </a:rPr>
              <a:t>Values convenience &amp; variety</a:t>
            </a:r>
            <a:endParaRPr sz="2300">
              <a:solidFill>
                <a:schemeClr val="dk1"/>
              </a:solidFill>
              <a:latin typeface="Calibri"/>
              <a:ea typeface="Calibri"/>
              <a:cs typeface="Calibri"/>
              <a:sym typeface="Calibri"/>
            </a:endParaRPr>
          </a:p>
          <a:p>
            <a:pPr indent="0" lvl="0" marL="457200" rtl="0" algn="l">
              <a:spcBef>
                <a:spcPts val="0"/>
              </a:spcBef>
              <a:spcAft>
                <a:spcPts val="0"/>
              </a:spcAft>
              <a:buNone/>
            </a:pPr>
            <a:r>
              <a:t/>
            </a:r>
            <a:endParaRPr sz="23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3B1"/>
        </a:solidFill>
      </p:bgPr>
    </p:bg>
    <p:spTree>
      <p:nvGrpSpPr>
        <p:cNvPr id="309" name="Shape 309"/>
        <p:cNvGrpSpPr/>
        <p:nvPr/>
      </p:nvGrpSpPr>
      <p:grpSpPr>
        <a:xfrm>
          <a:off x="0" y="0"/>
          <a:ext cx="0" cy="0"/>
          <a:chOff x="0" y="0"/>
          <a:chExt cx="0" cy="0"/>
        </a:xfrm>
      </p:grpSpPr>
      <p:sp>
        <p:nvSpPr>
          <p:cNvPr id="310" name="Google Shape;310;g33f91133ea5_0_37"/>
          <p:cNvSpPr txBox="1"/>
          <p:nvPr/>
        </p:nvSpPr>
        <p:spPr>
          <a:xfrm>
            <a:off x="566425" y="561625"/>
            <a:ext cx="116958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6000">
                <a:solidFill>
                  <a:srgbClr val="1D5732"/>
                </a:solidFill>
              </a:rPr>
              <a:t>Marketing Mix </a:t>
            </a:r>
            <a:r>
              <a:rPr b="1" lang="en-US" sz="6000">
                <a:solidFill>
                  <a:srgbClr val="1D5732"/>
                </a:solidFill>
              </a:rPr>
              <a:t>by Segment</a:t>
            </a:r>
            <a:endParaRPr sz="6000">
              <a:solidFill>
                <a:srgbClr val="1D5732"/>
              </a:solidFill>
            </a:endParaRPr>
          </a:p>
        </p:txBody>
      </p:sp>
      <p:sp>
        <p:nvSpPr>
          <p:cNvPr id="311" name="Google Shape;311;g33f91133ea5_0_37"/>
          <p:cNvSpPr txBox="1"/>
          <p:nvPr/>
        </p:nvSpPr>
        <p:spPr>
          <a:xfrm>
            <a:off x="15969090" y="962025"/>
            <a:ext cx="1267800" cy="615600"/>
          </a:xfrm>
          <a:prstGeom prst="rect">
            <a:avLst/>
          </a:prstGeom>
          <a:noFill/>
          <a:ln>
            <a:noFill/>
          </a:ln>
        </p:spPr>
        <p:txBody>
          <a:bodyPr anchorCtr="0" anchor="t" bIns="0" lIns="0" spcFirstLastPara="1" rIns="0" wrap="square" tIns="0">
            <a:spAutoFit/>
          </a:bodyPr>
          <a:lstStyle/>
          <a:p>
            <a:pPr indent="0" lvl="0" marL="0" marR="0" rtl="0" algn="r">
              <a:lnSpc>
                <a:spcPct val="140010"/>
              </a:lnSpc>
              <a:spcBef>
                <a:spcPts val="0"/>
              </a:spcBef>
              <a:spcAft>
                <a:spcPts val="0"/>
              </a:spcAft>
              <a:buNone/>
            </a:pPr>
            <a:r>
              <a:rPr b="1" i="0" lang="en-US" sz="3999" u="none" cap="none" strike="noStrike">
                <a:solidFill>
                  <a:srgbClr val="EEE3B1"/>
                </a:solidFill>
                <a:latin typeface="Arial"/>
                <a:ea typeface="Arial"/>
                <a:cs typeface="Arial"/>
                <a:sym typeface="Arial"/>
              </a:rPr>
              <a:t>03</a:t>
            </a:r>
            <a:endParaRPr/>
          </a:p>
        </p:txBody>
      </p:sp>
      <p:grpSp>
        <p:nvGrpSpPr>
          <p:cNvPr id="312" name="Google Shape;312;g33f91133ea5_0_37"/>
          <p:cNvGrpSpPr/>
          <p:nvPr/>
        </p:nvGrpSpPr>
        <p:grpSpPr>
          <a:xfrm>
            <a:off x="-50" y="9147925"/>
            <a:ext cx="18288118" cy="1139089"/>
            <a:chOff x="0" y="-28575"/>
            <a:chExt cx="4816592" cy="792134"/>
          </a:xfrm>
        </p:grpSpPr>
        <p:sp>
          <p:nvSpPr>
            <p:cNvPr id="313" name="Google Shape;313;g33f91133ea5_0_37"/>
            <p:cNvSpPr/>
            <p:nvPr/>
          </p:nvSpPr>
          <p:spPr>
            <a:xfrm>
              <a:off x="0" y="0"/>
              <a:ext cx="4816592" cy="763559"/>
            </a:xfrm>
            <a:custGeom>
              <a:rect b="b" l="l" r="r" t="t"/>
              <a:pathLst>
                <a:path extrusionOk="0" h="763559" w="4816592">
                  <a:moveTo>
                    <a:pt x="0" y="0"/>
                  </a:moveTo>
                  <a:lnTo>
                    <a:pt x="4816592" y="0"/>
                  </a:lnTo>
                  <a:lnTo>
                    <a:pt x="4816592" y="763559"/>
                  </a:lnTo>
                  <a:lnTo>
                    <a:pt x="0" y="763559"/>
                  </a:lnTo>
                  <a:close/>
                </a:path>
              </a:pathLst>
            </a:custGeom>
            <a:solidFill>
              <a:srgbClr val="1D5732"/>
            </a:solidFill>
            <a:ln>
              <a:noFill/>
            </a:ln>
          </p:spPr>
        </p:sp>
        <p:sp>
          <p:nvSpPr>
            <p:cNvPr id="314" name="Google Shape;314;g33f91133ea5_0_37"/>
            <p:cNvSpPr txBox="1"/>
            <p:nvPr/>
          </p:nvSpPr>
          <p:spPr>
            <a:xfrm>
              <a:off x="0" y="-28575"/>
              <a:ext cx="4816500" cy="7920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5" name="Google Shape;315;g33f91133ea5_0_37"/>
          <p:cNvSpPr/>
          <p:nvPr/>
        </p:nvSpPr>
        <p:spPr>
          <a:xfrm rot="1282585">
            <a:off x="12140392" y="-646068"/>
            <a:ext cx="1351560" cy="1393361"/>
          </a:xfrm>
          <a:custGeom>
            <a:rect b="b" l="l" r="r" t="t"/>
            <a:pathLst>
              <a:path extrusionOk="0" h="1391427" w="1349684">
                <a:moveTo>
                  <a:pt x="0" y="0"/>
                </a:moveTo>
                <a:lnTo>
                  <a:pt x="1349684" y="0"/>
                </a:lnTo>
                <a:lnTo>
                  <a:pt x="1349684" y="1391427"/>
                </a:lnTo>
                <a:lnTo>
                  <a:pt x="0" y="1391427"/>
                </a:lnTo>
                <a:lnTo>
                  <a:pt x="0" y="0"/>
                </a:lnTo>
                <a:close/>
              </a:path>
            </a:pathLst>
          </a:custGeom>
          <a:blipFill rotWithShape="1">
            <a:blip r:embed="rId3">
              <a:alphaModFix/>
            </a:blip>
            <a:stretch>
              <a:fillRect b="0" l="0" r="0" t="0"/>
            </a:stretch>
          </a:blipFill>
          <a:ln>
            <a:noFill/>
          </a:ln>
        </p:spPr>
      </p:sp>
      <p:sp>
        <p:nvSpPr>
          <p:cNvPr id="316" name="Google Shape;316;g33f91133ea5_0_37"/>
          <p:cNvSpPr/>
          <p:nvPr/>
        </p:nvSpPr>
        <p:spPr>
          <a:xfrm>
            <a:off x="13712371" y="-376944"/>
            <a:ext cx="1258008" cy="1289163"/>
          </a:xfrm>
          <a:custGeom>
            <a:rect b="b" l="l" r="r" t="t"/>
            <a:pathLst>
              <a:path extrusionOk="0" h="1289163" w="1258008">
                <a:moveTo>
                  <a:pt x="0" y="0"/>
                </a:moveTo>
                <a:lnTo>
                  <a:pt x="1258007" y="0"/>
                </a:lnTo>
                <a:lnTo>
                  <a:pt x="1258007" y="1289162"/>
                </a:lnTo>
                <a:lnTo>
                  <a:pt x="0" y="1289162"/>
                </a:lnTo>
                <a:lnTo>
                  <a:pt x="0" y="0"/>
                </a:lnTo>
                <a:close/>
              </a:path>
            </a:pathLst>
          </a:custGeom>
          <a:blipFill rotWithShape="1">
            <a:blip r:embed="rId4">
              <a:alphaModFix/>
            </a:blip>
            <a:stretch>
              <a:fillRect b="0" l="0" r="0" t="0"/>
            </a:stretch>
          </a:blipFill>
          <a:ln>
            <a:noFill/>
          </a:ln>
        </p:spPr>
      </p:sp>
      <p:grpSp>
        <p:nvGrpSpPr>
          <p:cNvPr id="317" name="Google Shape;317;g33f91133ea5_0_37"/>
          <p:cNvGrpSpPr/>
          <p:nvPr/>
        </p:nvGrpSpPr>
        <p:grpSpPr>
          <a:xfrm>
            <a:off x="118900" y="9392235"/>
            <a:ext cx="10607763" cy="739758"/>
            <a:chOff x="2577" y="877098"/>
            <a:chExt cx="10553938" cy="917700"/>
          </a:xfrm>
        </p:grpSpPr>
        <p:sp>
          <p:nvSpPr>
            <p:cNvPr id="318" name="Google Shape;318;g33f91133ea5_0_37"/>
            <p:cNvSpPr/>
            <p:nvPr/>
          </p:nvSpPr>
          <p:spPr>
            <a:xfrm>
              <a:off x="2577"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g33f91133ea5_0_37"/>
            <p:cNvSpPr txBox="1"/>
            <p:nvPr/>
          </p:nvSpPr>
          <p:spPr>
            <a:xfrm>
              <a:off x="571834" y="1021426"/>
              <a:ext cx="1155900" cy="5910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i="0" lang="en-US" u="none" cap="none" strike="noStrike">
                  <a:solidFill>
                    <a:srgbClr val="002060"/>
                  </a:solidFill>
                </a:rPr>
                <a:t>Busine</a:t>
              </a:r>
              <a:r>
                <a:rPr lang="en-US">
                  <a:solidFill>
                    <a:srgbClr val="002060"/>
                  </a:solidFill>
                </a:rPr>
                <a:t>s</a:t>
              </a:r>
              <a:r>
                <a:rPr i="0" lang="en-US" u="none" cap="none" strike="noStrike">
                  <a:solidFill>
                    <a:srgbClr val="002060"/>
                  </a:solidFill>
                </a:rPr>
                <a:t>s Problem</a:t>
              </a:r>
              <a:endParaRPr i="0" u="none" cap="none" strike="noStrike">
                <a:solidFill>
                  <a:srgbClr val="002060"/>
                </a:solidFill>
              </a:endParaRPr>
            </a:p>
          </p:txBody>
        </p:sp>
        <p:sp>
          <p:nvSpPr>
            <p:cNvPr id="320" name="Google Shape;320;g33f91133ea5_0_37"/>
            <p:cNvSpPr/>
            <p:nvPr/>
          </p:nvSpPr>
          <p:spPr>
            <a:xfrm>
              <a:off x="2067462"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g33f91133ea5_0_37"/>
            <p:cNvSpPr txBox="1"/>
            <p:nvPr/>
          </p:nvSpPr>
          <p:spPr>
            <a:xfrm>
              <a:off x="2561114" y="972834"/>
              <a:ext cx="1155900" cy="6882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i="0" lang="en-US" u="none" cap="none" strike="noStrike">
                  <a:solidFill>
                    <a:srgbClr val="002060"/>
                  </a:solidFill>
                </a:rPr>
                <a:t>EDA &amp; Insights</a:t>
              </a:r>
              <a:endParaRPr i="0" u="none" cap="none" strike="noStrike">
                <a:solidFill>
                  <a:srgbClr val="002060"/>
                </a:solidFill>
              </a:endParaRPr>
            </a:p>
          </p:txBody>
        </p:sp>
        <p:sp>
          <p:nvSpPr>
            <p:cNvPr id="322" name="Google Shape;322;g33f91133ea5_0_37"/>
            <p:cNvSpPr/>
            <p:nvPr/>
          </p:nvSpPr>
          <p:spPr>
            <a:xfrm>
              <a:off x="4132346" y="877098"/>
              <a:ext cx="2294400" cy="917700"/>
            </a:xfrm>
            <a:prstGeom prst="chevron">
              <a:avLst>
                <a:gd fmla="val 50000" name="adj"/>
              </a:avLst>
            </a:prstGeom>
            <a:solidFill>
              <a:schemeClr val="lt2"/>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g33f91133ea5_0_37"/>
            <p:cNvSpPr/>
            <p:nvPr/>
          </p:nvSpPr>
          <p:spPr>
            <a:xfrm>
              <a:off x="6197231"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g33f91133ea5_0_37"/>
            <p:cNvSpPr txBox="1"/>
            <p:nvPr/>
          </p:nvSpPr>
          <p:spPr>
            <a:xfrm>
              <a:off x="6668795" y="973848"/>
              <a:ext cx="1489500" cy="688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Campaign Prediction</a:t>
              </a:r>
              <a:endParaRPr i="0" u="none" cap="none" strike="noStrike">
                <a:solidFill>
                  <a:srgbClr val="002060"/>
                </a:solidFill>
              </a:endParaRPr>
            </a:p>
          </p:txBody>
        </p:sp>
        <p:sp>
          <p:nvSpPr>
            <p:cNvPr id="325" name="Google Shape;325;g33f91133ea5_0_37"/>
            <p:cNvSpPr/>
            <p:nvPr/>
          </p:nvSpPr>
          <p:spPr>
            <a:xfrm>
              <a:off x="8262115"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g33f91133ea5_0_37"/>
            <p:cNvSpPr txBox="1"/>
            <p:nvPr/>
          </p:nvSpPr>
          <p:spPr>
            <a:xfrm>
              <a:off x="8648985" y="973811"/>
              <a:ext cx="1489500" cy="724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Recommendation</a:t>
              </a:r>
              <a:endParaRPr i="0" u="none" cap="none" strike="noStrike">
                <a:solidFill>
                  <a:srgbClr val="002060"/>
                </a:solidFill>
              </a:endParaRPr>
            </a:p>
          </p:txBody>
        </p:sp>
        <p:sp>
          <p:nvSpPr>
            <p:cNvPr id="327" name="Google Shape;327;g33f91133ea5_0_37"/>
            <p:cNvSpPr txBox="1"/>
            <p:nvPr/>
          </p:nvSpPr>
          <p:spPr>
            <a:xfrm>
              <a:off x="4550363" y="955709"/>
              <a:ext cx="1489500" cy="7242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Clustering &amp; Segmentation</a:t>
              </a:r>
              <a:endParaRPr i="0" u="none" cap="none" strike="noStrike">
                <a:solidFill>
                  <a:srgbClr val="002060"/>
                </a:solidFill>
              </a:endParaRPr>
            </a:p>
          </p:txBody>
        </p:sp>
      </p:grpSp>
      <p:sp>
        <p:nvSpPr>
          <p:cNvPr id="328" name="Google Shape;328;g33f91133ea5_0_37"/>
          <p:cNvSpPr/>
          <p:nvPr/>
        </p:nvSpPr>
        <p:spPr>
          <a:xfrm>
            <a:off x="13029268" y="912218"/>
            <a:ext cx="870958" cy="1074704"/>
          </a:xfrm>
          <a:custGeom>
            <a:rect b="b" l="l" r="r" t="t"/>
            <a:pathLst>
              <a:path extrusionOk="0" h="1074704" w="870958">
                <a:moveTo>
                  <a:pt x="0" y="0"/>
                </a:moveTo>
                <a:lnTo>
                  <a:pt x="870958" y="0"/>
                </a:lnTo>
                <a:lnTo>
                  <a:pt x="870958" y="1074704"/>
                </a:lnTo>
                <a:lnTo>
                  <a:pt x="0" y="1074704"/>
                </a:lnTo>
                <a:lnTo>
                  <a:pt x="0" y="0"/>
                </a:lnTo>
                <a:close/>
              </a:path>
            </a:pathLst>
          </a:custGeom>
          <a:blipFill rotWithShape="1">
            <a:blip r:embed="rId5">
              <a:alphaModFix/>
            </a:blip>
            <a:stretch>
              <a:fillRect b="0" l="0" r="0" t="0"/>
            </a:stretch>
          </a:blipFill>
          <a:ln>
            <a:noFill/>
          </a:ln>
        </p:spPr>
      </p:sp>
      <p:sp>
        <p:nvSpPr>
          <p:cNvPr id="329" name="Google Shape;329;g33f91133ea5_0_37"/>
          <p:cNvSpPr/>
          <p:nvPr/>
        </p:nvSpPr>
        <p:spPr>
          <a:xfrm>
            <a:off x="14205026" y="468552"/>
            <a:ext cx="1459264" cy="1962035"/>
          </a:xfrm>
          <a:custGeom>
            <a:rect b="b" l="l" r="r" t="t"/>
            <a:pathLst>
              <a:path extrusionOk="0" h="1962035" w="1459264">
                <a:moveTo>
                  <a:pt x="0" y="0"/>
                </a:moveTo>
                <a:lnTo>
                  <a:pt x="1459264" y="0"/>
                </a:lnTo>
                <a:lnTo>
                  <a:pt x="1459264" y="1962036"/>
                </a:lnTo>
                <a:lnTo>
                  <a:pt x="0" y="1962036"/>
                </a:lnTo>
                <a:lnTo>
                  <a:pt x="0" y="0"/>
                </a:lnTo>
                <a:close/>
              </a:path>
            </a:pathLst>
          </a:custGeom>
          <a:blipFill rotWithShape="1">
            <a:blip r:embed="rId6">
              <a:alphaModFix/>
            </a:blip>
            <a:stretch>
              <a:fillRect b="0" l="0" r="0" t="0"/>
            </a:stretch>
          </a:blipFill>
          <a:ln>
            <a:noFill/>
          </a:ln>
        </p:spPr>
      </p:sp>
      <p:pic>
        <p:nvPicPr>
          <p:cNvPr id="330" name="Google Shape;330;g33f91133ea5_0_37" title="Screenshot 2025-03-12 at 9.42.25 PM.png"/>
          <p:cNvPicPr preferRelativeResize="0"/>
          <p:nvPr/>
        </p:nvPicPr>
        <p:blipFill>
          <a:blip r:embed="rId7">
            <a:alphaModFix/>
          </a:blip>
          <a:stretch>
            <a:fillRect/>
          </a:stretch>
        </p:blipFill>
        <p:spPr>
          <a:xfrm>
            <a:off x="1789075" y="2110675"/>
            <a:ext cx="8680759" cy="6218049"/>
          </a:xfrm>
          <a:prstGeom prst="rect">
            <a:avLst/>
          </a:prstGeom>
          <a:noFill/>
          <a:ln>
            <a:noFill/>
          </a:ln>
        </p:spPr>
      </p:pic>
      <p:sp>
        <p:nvSpPr>
          <p:cNvPr id="331" name="Google Shape;331;g33f91133ea5_0_37"/>
          <p:cNvSpPr txBox="1"/>
          <p:nvPr/>
        </p:nvSpPr>
        <p:spPr>
          <a:xfrm>
            <a:off x="11172325" y="3066850"/>
            <a:ext cx="3744900" cy="615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4000">
                <a:solidFill>
                  <a:srgbClr val="1D5732"/>
                </a:solidFill>
              </a:rPr>
              <a:t>Product</a:t>
            </a:r>
            <a:endParaRPr sz="4000">
              <a:solidFill>
                <a:srgbClr val="1D5732"/>
              </a:solidFill>
            </a:endParaRPr>
          </a:p>
        </p:txBody>
      </p:sp>
      <p:sp>
        <p:nvSpPr>
          <p:cNvPr id="332" name="Google Shape;332;g33f91133ea5_0_37"/>
          <p:cNvSpPr txBox="1"/>
          <p:nvPr/>
        </p:nvSpPr>
        <p:spPr>
          <a:xfrm>
            <a:off x="11114550" y="3796050"/>
            <a:ext cx="5157600" cy="4532700"/>
          </a:xfrm>
          <a:prstGeom prst="rect">
            <a:avLst/>
          </a:prstGeom>
          <a:noFill/>
          <a:ln cap="flat" cmpd="sng" w="114300">
            <a:solidFill>
              <a:srgbClr val="81A902"/>
            </a:solidFill>
            <a:prstDash val="solid"/>
            <a:round/>
            <a:headEnd len="sm" w="sm" type="none"/>
            <a:tailEnd len="sm" w="sm" type="none"/>
          </a:ln>
        </p:spPr>
        <p:txBody>
          <a:bodyPr anchorCtr="0" anchor="t" bIns="91425" lIns="91425" spcFirstLastPara="1" rIns="91425" wrap="square" tIns="91425">
            <a:noAutofit/>
          </a:bodyPr>
          <a:lstStyle/>
          <a:p>
            <a:pPr indent="-387350" lvl="0" marL="457200" rtl="0" algn="l">
              <a:spcBef>
                <a:spcPts val="0"/>
              </a:spcBef>
              <a:spcAft>
                <a:spcPts val="0"/>
              </a:spcAft>
              <a:buClr>
                <a:srgbClr val="1D5732"/>
              </a:buClr>
              <a:buSzPts val="2500"/>
              <a:buChar char="●"/>
            </a:pPr>
            <a:r>
              <a:rPr b="1" lang="en-US" sz="2500">
                <a:solidFill>
                  <a:srgbClr val="1D5732"/>
                </a:solidFill>
              </a:rPr>
              <a:t>Premium Shoppers &amp; </a:t>
            </a:r>
            <a:r>
              <a:rPr b="1" lang="en-US" sz="2500">
                <a:solidFill>
                  <a:srgbClr val="1D5732"/>
                </a:solidFill>
              </a:rPr>
              <a:t>Balanced Spenders: </a:t>
            </a:r>
            <a:r>
              <a:rPr lang="en-US" sz="2500">
                <a:solidFill>
                  <a:srgbClr val="1D5732"/>
                </a:solidFill>
              </a:rPr>
              <a:t> </a:t>
            </a:r>
            <a:endParaRPr sz="2500">
              <a:solidFill>
                <a:srgbClr val="1D5732"/>
              </a:solidFill>
            </a:endParaRPr>
          </a:p>
          <a:p>
            <a:pPr indent="-387350" lvl="1" marL="914400" rtl="0" algn="l">
              <a:spcBef>
                <a:spcPts val="0"/>
              </a:spcBef>
              <a:spcAft>
                <a:spcPts val="0"/>
              </a:spcAft>
              <a:buClr>
                <a:srgbClr val="1D5732"/>
              </a:buClr>
              <a:buSzPts val="2500"/>
              <a:buChar char="○"/>
            </a:pPr>
            <a:r>
              <a:rPr lang="en-US" sz="2500">
                <a:solidFill>
                  <a:srgbClr val="1D5732"/>
                </a:solidFill>
              </a:rPr>
              <a:t>High share on Wines &amp; Meat, diverse purchase, mix of essential &amp; premium</a:t>
            </a:r>
            <a:endParaRPr sz="2500">
              <a:solidFill>
                <a:srgbClr val="1D5732"/>
              </a:solidFill>
            </a:endParaRPr>
          </a:p>
          <a:p>
            <a:pPr indent="0" lvl="0" marL="457200" rtl="0" algn="l">
              <a:spcBef>
                <a:spcPts val="0"/>
              </a:spcBef>
              <a:spcAft>
                <a:spcPts val="0"/>
              </a:spcAft>
              <a:buNone/>
            </a:pPr>
            <a:r>
              <a:t/>
            </a:r>
            <a:endParaRPr sz="2500">
              <a:solidFill>
                <a:srgbClr val="1D5732"/>
              </a:solidFill>
            </a:endParaRPr>
          </a:p>
          <a:p>
            <a:pPr indent="-387350" lvl="0" marL="457200" rtl="0" algn="l">
              <a:spcBef>
                <a:spcPts val="0"/>
              </a:spcBef>
              <a:spcAft>
                <a:spcPts val="0"/>
              </a:spcAft>
              <a:buClr>
                <a:srgbClr val="1D5732"/>
              </a:buClr>
              <a:buSzPts val="2500"/>
              <a:buChar char="●"/>
            </a:pPr>
            <a:r>
              <a:rPr b="1" lang="en-US" sz="2500">
                <a:solidFill>
                  <a:srgbClr val="1D5732"/>
                </a:solidFill>
              </a:rPr>
              <a:t>Budget-Conscious Young &amp; </a:t>
            </a:r>
            <a:r>
              <a:rPr b="1" lang="en-US" sz="2500">
                <a:solidFill>
                  <a:srgbClr val="1D5732"/>
                </a:solidFill>
              </a:rPr>
              <a:t>Senior Deal Hunters</a:t>
            </a:r>
            <a:r>
              <a:rPr lang="en-US" sz="2500">
                <a:solidFill>
                  <a:srgbClr val="1D5732"/>
                </a:solidFill>
              </a:rPr>
              <a:t>: </a:t>
            </a:r>
            <a:endParaRPr sz="2500">
              <a:solidFill>
                <a:srgbClr val="1D5732"/>
              </a:solidFill>
            </a:endParaRPr>
          </a:p>
          <a:p>
            <a:pPr indent="-387350" lvl="1" marL="914400" rtl="0" algn="l">
              <a:spcBef>
                <a:spcPts val="0"/>
              </a:spcBef>
              <a:spcAft>
                <a:spcPts val="0"/>
              </a:spcAft>
              <a:buClr>
                <a:srgbClr val="1D5732"/>
              </a:buClr>
              <a:buSzPts val="2500"/>
              <a:buChar char="○"/>
            </a:pPr>
            <a:r>
              <a:rPr lang="en-US" sz="2500">
                <a:solidFill>
                  <a:srgbClr val="1D5732"/>
                </a:solidFill>
              </a:rPr>
              <a:t>Minimal spending, slightly more on affordable essentials. </a:t>
            </a:r>
            <a:endParaRPr sz="2500">
              <a:solidFill>
                <a:srgbClr val="1D5732"/>
              </a:solidFill>
            </a:endParaRPr>
          </a:p>
          <a:p>
            <a:pPr indent="0" lvl="0" marL="457200" rtl="0" algn="l">
              <a:spcBef>
                <a:spcPts val="0"/>
              </a:spcBef>
              <a:spcAft>
                <a:spcPts val="0"/>
              </a:spcAft>
              <a:buNone/>
            </a:pPr>
            <a:r>
              <a:t/>
            </a:r>
            <a:endParaRPr sz="4600">
              <a:solidFill>
                <a:srgbClr val="1D5732"/>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3B1"/>
        </a:solidFill>
      </p:bgPr>
    </p:bg>
    <p:spTree>
      <p:nvGrpSpPr>
        <p:cNvPr id="336" name="Shape 336"/>
        <p:cNvGrpSpPr/>
        <p:nvPr/>
      </p:nvGrpSpPr>
      <p:grpSpPr>
        <a:xfrm>
          <a:off x="0" y="0"/>
          <a:ext cx="0" cy="0"/>
          <a:chOff x="0" y="0"/>
          <a:chExt cx="0" cy="0"/>
        </a:xfrm>
      </p:grpSpPr>
      <p:sp>
        <p:nvSpPr>
          <p:cNvPr id="337" name="Google Shape;337;g33f91133ea5_0_92"/>
          <p:cNvSpPr txBox="1"/>
          <p:nvPr/>
        </p:nvSpPr>
        <p:spPr>
          <a:xfrm>
            <a:off x="566425" y="561625"/>
            <a:ext cx="116958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6000">
                <a:solidFill>
                  <a:srgbClr val="1D5732"/>
                </a:solidFill>
              </a:rPr>
              <a:t>Marketing Mix by Segment</a:t>
            </a:r>
            <a:endParaRPr sz="6000">
              <a:solidFill>
                <a:srgbClr val="1D5732"/>
              </a:solidFill>
            </a:endParaRPr>
          </a:p>
        </p:txBody>
      </p:sp>
      <p:sp>
        <p:nvSpPr>
          <p:cNvPr id="338" name="Google Shape;338;g33f91133ea5_0_92"/>
          <p:cNvSpPr txBox="1"/>
          <p:nvPr/>
        </p:nvSpPr>
        <p:spPr>
          <a:xfrm>
            <a:off x="15969090" y="962025"/>
            <a:ext cx="1267800" cy="615600"/>
          </a:xfrm>
          <a:prstGeom prst="rect">
            <a:avLst/>
          </a:prstGeom>
          <a:noFill/>
          <a:ln>
            <a:noFill/>
          </a:ln>
        </p:spPr>
        <p:txBody>
          <a:bodyPr anchorCtr="0" anchor="t" bIns="0" lIns="0" spcFirstLastPara="1" rIns="0" wrap="square" tIns="0">
            <a:spAutoFit/>
          </a:bodyPr>
          <a:lstStyle/>
          <a:p>
            <a:pPr indent="0" lvl="0" marL="0" marR="0" rtl="0" algn="r">
              <a:lnSpc>
                <a:spcPct val="140010"/>
              </a:lnSpc>
              <a:spcBef>
                <a:spcPts val="0"/>
              </a:spcBef>
              <a:spcAft>
                <a:spcPts val="0"/>
              </a:spcAft>
              <a:buNone/>
            </a:pPr>
            <a:r>
              <a:rPr b="1" i="0" lang="en-US" sz="3999" u="none" cap="none" strike="noStrike">
                <a:solidFill>
                  <a:srgbClr val="EEE3B1"/>
                </a:solidFill>
                <a:latin typeface="Arial"/>
                <a:ea typeface="Arial"/>
                <a:cs typeface="Arial"/>
                <a:sym typeface="Arial"/>
              </a:rPr>
              <a:t>03</a:t>
            </a:r>
            <a:endParaRPr/>
          </a:p>
        </p:txBody>
      </p:sp>
      <p:grpSp>
        <p:nvGrpSpPr>
          <p:cNvPr id="339" name="Google Shape;339;g33f91133ea5_0_92"/>
          <p:cNvGrpSpPr/>
          <p:nvPr/>
        </p:nvGrpSpPr>
        <p:grpSpPr>
          <a:xfrm>
            <a:off x="-50" y="9147925"/>
            <a:ext cx="18288118" cy="1139089"/>
            <a:chOff x="0" y="-28575"/>
            <a:chExt cx="4816592" cy="792134"/>
          </a:xfrm>
        </p:grpSpPr>
        <p:sp>
          <p:nvSpPr>
            <p:cNvPr id="340" name="Google Shape;340;g33f91133ea5_0_92"/>
            <p:cNvSpPr/>
            <p:nvPr/>
          </p:nvSpPr>
          <p:spPr>
            <a:xfrm>
              <a:off x="0" y="0"/>
              <a:ext cx="4816592" cy="763559"/>
            </a:xfrm>
            <a:custGeom>
              <a:rect b="b" l="l" r="r" t="t"/>
              <a:pathLst>
                <a:path extrusionOk="0" h="763559" w="4816592">
                  <a:moveTo>
                    <a:pt x="0" y="0"/>
                  </a:moveTo>
                  <a:lnTo>
                    <a:pt x="4816592" y="0"/>
                  </a:lnTo>
                  <a:lnTo>
                    <a:pt x="4816592" y="763559"/>
                  </a:lnTo>
                  <a:lnTo>
                    <a:pt x="0" y="763559"/>
                  </a:lnTo>
                  <a:close/>
                </a:path>
              </a:pathLst>
            </a:custGeom>
            <a:solidFill>
              <a:srgbClr val="1D5732"/>
            </a:solidFill>
            <a:ln>
              <a:noFill/>
            </a:ln>
          </p:spPr>
        </p:sp>
        <p:sp>
          <p:nvSpPr>
            <p:cNvPr id="341" name="Google Shape;341;g33f91133ea5_0_92"/>
            <p:cNvSpPr txBox="1"/>
            <p:nvPr/>
          </p:nvSpPr>
          <p:spPr>
            <a:xfrm>
              <a:off x="0" y="-28575"/>
              <a:ext cx="4816500" cy="7920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2" name="Google Shape;342;g33f91133ea5_0_92"/>
          <p:cNvSpPr/>
          <p:nvPr/>
        </p:nvSpPr>
        <p:spPr>
          <a:xfrm rot="1282585">
            <a:off x="12140392" y="-646068"/>
            <a:ext cx="1351560" cy="1393361"/>
          </a:xfrm>
          <a:custGeom>
            <a:rect b="b" l="l" r="r" t="t"/>
            <a:pathLst>
              <a:path extrusionOk="0" h="1391427" w="1349684">
                <a:moveTo>
                  <a:pt x="0" y="0"/>
                </a:moveTo>
                <a:lnTo>
                  <a:pt x="1349684" y="0"/>
                </a:lnTo>
                <a:lnTo>
                  <a:pt x="1349684" y="1391427"/>
                </a:lnTo>
                <a:lnTo>
                  <a:pt x="0" y="1391427"/>
                </a:lnTo>
                <a:lnTo>
                  <a:pt x="0" y="0"/>
                </a:lnTo>
                <a:close/>
              </a:path>
            </a:pathLst>
          </a:custGeom>
          <a:blipFill rotWithShape="1">
            <a:blip r:embed="rId3">
              <a:alphaModFix/>
            </a:blip>
            <a:stretch>
              <a:fillRect b="0" l="0" r="0" t="0"/>
            </a:stretch>
          </a:blipFill>
          <a:ln>
            <a:noFill/>
          </a:ln>
        </p:spPr>
      </p:sp>
      <p:sp>
        <p:nvSpPr>
          <p:cNvPr id="343" name="Google Shape;343;g33f91133ea5_0_92"/>
          <p:cNvSpPr/>
          <p:nvPr/>
        </p:nvSpPr>
        <p:spPr>
          <a:xfrm>
            <a:off x="13712371" y="-376944"/>
            <a:ext cx="1258008" cy="1289163"/>
          </a:xfrm>
          <a:custGeom>
            <a:rect b="b" l="l" r="r" t="t"/>
            <a:pathLst>
              <a:path extrusionOk="0" h="1289163" w="1258008">
                <a:moveTo>
                  <a:pt x="0" y="0"/>
                </a:moveTo>
                <a:lnTo>
                  <a:pt x="1258007" y="0"/>
                </a:lnTo>
                <a:lnTo>
                  <a:pt x="1258007" y="1289162"/>
                </a:lnTo>
                <a:lnTo>
                  <a:pt x="0" y="1289162"/>
                </a:lnTo>
                <a:lnTo>
                  <a:pt x="0" y="0"/>
                </a:lnTo>
                <a:close/>
              </a:path>
            </a:pathLst>
          </a:custGeom>
          <a:blipFill rotWithShape="1">
            <a:blip r:embed="rId4">
              <a:alphaModFix/>
            </a:blip>
            <a:stretch>
              <a:fillRect b="0" l="0" r="0" t="0"/>
            </a:stretch>
          </a:blipFill>
          <a:ln>
            <a:noFill/>
          </a:ln>
        </p:spPr>
      </p:sp>
      <p:grpSp>
        <p:nvGrpSpPr>
          <p:cNvPr id="344" name="Google Shape;344;g33f91133ea5_0_92"/>
          <p:cNvGrpSpPr/>
          <p:nvPr/>
        </p:nvGrpSpPr>
        <p:grpSpPr>
          <a:xfrm>
            <a:off x="118900" y="9392235"/>
            <a:ext cx="10607763" cy="739758"/>
            <a:chOff x="2577" y="877098"/>
            <a:chExt cx="10553938" cy="917700"/>
          </a:xfrm>
        </p:grpSpPr>
        <p:sp>
          <p:nvSpPr>
            <p:cNvPr id="345" name="Google Shape;345;g33f91133ea5_0_92"/>
            <p:cNvSpPr/>
            <p:nvPr/>
          </p:nvSpPr>
          <p:spPr>
            <a:xfrm>
              <a:off x="2577"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g33f91133ea5_0_92"/>
            <p:cNvSpPr txBox="1"/>
            <p:nvPr/>
          </p:nvSpPr>
          <p:spPr>
            <a:xfrm>
              <a:off x="571834" y="1021426"/>
              <a:ext cx="1155900" cy="5910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i="0" lang="en-US" u="none" cap="none" strike="noStrike">
                  <a:solidFill>
                    <a:srgbClr val="002060"/>
                  </a:solidFill>
                </a:rPr>
                <a:t>Busine</a:t>
              </a:r>
              <a:r>
                <a:rPr lang="en-US">
                  <a:solidFill>
                    <a:srgbClr val="002060"/>
                  </a:solidFill>
                </a:rPr>
                <a:t>s</a:t>
              </a:r>
              <a:r>
                <a:rPr i="0" lang="en-US" u="none" cap="none" strike="noStrike">
                  <a:solidFill>
                    <a:srgbClr val="002060"/>
                  </a:solidFill>
                </a:rPr>
                <a:t>s Problem</a:t>
              </a:r>
              <a:endParaRPr i="0" u="none" cap="none" strike="noStrike">
                <a:solidFill>
                  <a:srgbClr val="002060"/>
                </a:solidFill>
              </a:endParaRPr>
            </a:p>
          </p:txBody>
        </p:sp>
        <p:sp>
          <p:nvSpPr>
            <p:cNvPr id="347" name="Google Shape;347;g33f91133ea5_0_92"/>
            <p:cNvSpPr/>
            <p:nvPr/>
          </p:nvSpPr>
          <p:spPr>
            <a:xfrm>
              <a:off x="2067462"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g33f91133ea5_0_92"/>
            <p:cNvSpPr txBox="1"/>
            <p:nvPr/>
          </p:nvSpPr>
          <p:spPr>
            <a:xfrm>
              <a:off x="2561114" y="972834"/>
              <a:ext cx="1155900" cy="6882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i="0" lang="en-US" u="none" cap="none" strike="noStrike">
                  <a:solidFill>
                    <a:srgbClr val="002060"/>
                  </a:solidFill>
                </a:rPr>
                <a:t>EDA &amp; Insights</a:t>
              </a:r>
              <a:endParaRPr i="0" u="none" cap="none" strike="noStrike">
                <a:solidFill>
                  <a:srgbClr val="002060"/>
                </a:solidFill>
              </a:endParaRPr>
            </a:p>
          </p:txBody>
        </p:sp>
        <p:sp>
          <p:nvSpPr>
            <p:cNvPr id="349" name="Google Shape;349;g33f91133ea5_0_92"/>
            <p:cNvSpPr/>
            <p:nvPr/>
          </p:nvSpPr>
          <p:spPr>
            <a:xfrm>
              <a:off x="4132346" y="877098"/>
              <a:ext cx="2294400" cy="917700"/>
            </a:xfrm>
            <a:prstGeom prst="chevron">
              <a:avLst>
                <a:gd fmla="val 50000" name="adj"/>
              </a:avLst>
            </a:prstGeom>
            <a:solidFill>
              <a:schemeClr val="lt2"/>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g33f91133ea5_0_92"/>
            <p:cNvSpPr/>
            <p:nvPr/>
          </p:nvSpPr>
          <p:spPr>
            <a:xfrm>
              <a:off x="6197231"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g33f91133ea5_0_92"/>
            <p:cNvSpPr txBox="1"/>
            <p:nvPr/>
          </p:nvSpPr>
          <p:spPr>
            <a:xfrm>
              <a:off x="6668795" y="973848"/>
              <a:ext cx="1489500" cy="688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Campaign Prediction</a:t>
              </a:r>
              <a:endParaRPr i="0" u="none" cap="none" strike="noStrike">
                <a:solidFill>
                  <a:srgbClr val="002060"/>
                </a:solidFill>
              </a:endParaRPr>
            </a:p>
          </p:txBody>
        </p:sp>
        <p:sp>
          <p:nvSpPr>
            <p:cNvPr id="352" name="Google Shape;352;g33f91133ea5_0_92"/>
            <p:cNvSpPr/>
            <p:nvPr/>
          </p:nvSpPr>
          <p:spPr>
            <a:xfrm>
              <a:off x="8262115"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g33f91133ea5_0_92"/>
            <p:cNvSpPr txBox="1"/>
            <p:nvPr/>
          </p:nvSpPr>
          <p:spPr>
            <a:xfrm>
              <a:off x="8648985" y="973811"/>
              <a:ext cx="1489500" cy="724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Recommendation</a:t>
              </a:r>
              <a:endParaRPr i="0" u="none" cap="none" strike="noStrike">
                <a:solidFill>
                  <a:srgbClr val="002060"/>
                </a:solidFill>
              </a:endParaRPr>
            </a:p>
          </p:txBody>
        </p:sp>
        <p:sp>
          <p:nvSpPr>
            <p:cNvPr id="354" name="Google Shape;354;g33f91133ea5_0_92"/>
            <p:cNvSpPr txBox="1"/>
            <p:nvPr/>
          </p:nvSpPr>
          <p:spPr>
            <a:xfrm>
              <a:off x="4550363" y="955709"/>
              <a:ext cx="1489500" cy="7242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Clustering &amp; Segmentation</a:t>
              </a:r>
              <a:endParaRPr i="0" u="none" cap="none" strike="noStrike">
                <a:solidFill>
                  <a:srgbClr val="002060"/>
                </a:solidFill>
              </a:endParaRPr>
            </a:p>
          </p:txBody>
        </p:sp>
      </p:grpSp>
      <p:sp>
        <p:nvSpPr>
          <p:cNvPr id="355" name="Google Shape;355;g33f91133ea5_0_92"/>
          <p:cNvSpPr/>
          <p:nvPr/>
        </p:nvSpPr>
        <p:spPr>
          <a:xfrm>
            <a:off x="13029268" y="912218"/>
            <a:ext cx="870958" cy="1074704"/>
          </a:xfrm>
          <a:custGeom>
            <a:rect b="b" l="l" r="r" t="t"/>
            <a:pathLst>
              <a:path extrusionOk="0" h="1074704" w="870958">
                <a:moveTo>
                  <a:pt x="0" y="0"/>
                </a:moveTo>
                <a:lnTo>
                  <a:pt x="870958" y="0"/>
                </a:lnTo>
                <a:lnTo>
                  <a:pt x="870958" y="1074704"/>
                </a:lnTo>
                <a:lnTo>
                  <a:pt x="0" y="1074704"/>
                </a:lnTo>
                <a:lnTo>
                  <a:pt x="0" y="0"/>
                </a:lnTo>
                <a:close/>
              </a:path>
            </a:pathLst>
          </a:custGeom>
          <a:blipFill rotWithShape="1">
            <a:blip r:embed="rId5">
              <a:alphaModFix/>
            </a:blip>
            <a:stretch>
              <a:fillRect b="0" l="0" r="0" t="0"/>
            </a:stretch>
          </a:blipFill>
          <a:ln>
            <a:noFill/>
          </a:ln>
        </p:spPr>
      </p:sp>
      <p:sp>
        <p:nvSpPr>
          <p:cNvPr id="356" name="Google Shape;356;g33f91133ea5_0_92"/>
          <p:cNvSpPr/>
          <p:nvPr/>
        </p:nvSpPr>
        <p:spPr>
          <a:xfrm>
            <a:off x="14205026" y="468552"/>
            <a:ext cx="1459264" cy="1962035"/>
          </a:xfrm>
          <a:custGeom>
            <a:rect b="b" l="l" r="r" t="t"/>
            <a:pathLst>
              <a:path extrusionOk="0" h="1962035" w="1459264">
                <a:moveTo>
                  <a:pt x="0" y="0"/>
                </a:moveTo>
                <a:lnTo>
                  <a:pt x="1459264" y="0"/>
                </a:lnTo>
                <a:lnTo>
                  <a:pt x="1459264" y="1962036"/>
                </a:lnTo>
                <a:lnTo>
                  <a:pt x="0" y="1962036"/>
                </a:lnTo>
                <a:lnTo>
                  <a:pt x="0" y="0"/>
                </a:lnTo>
                <a:close/>
              </a:path>
            </a:pathLst>
          </a:custGeom>
          <a:blipFill rotWithShape="1">
            <a:blip r:embed="rId6">
              <a:alphaModFix/>
            </a:blip>
            <a:stretch>
              <a:fillRect b="0" l="0" r="0" t="0"/>
            </a:stretch>
          </a:blipFill>
          <a:ln>
            <a:noFill/>
          </a:ln>
        </p:spPr>
      </p:sp>
      <p:sp>
        <p:nvSpPr>
          <p:cNvPr id="357" name="Google Shape;357;g33f91133ea5_0_92"/>
          <p:cNvSpPr txBox="1"/>
          <p:nvPr/>
        </p:nvSpPr>
        <p:spPr>
          <a:xfrm>
            <a:off x="11114550" y="2944175"/>
            <a:ext cx="4923600" cy="615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4000">
                <a:solidFill>
                  <a:srgbClr val="1D5732"/>
                </a:solidFill>
              </a:rPr>
              <a:t>Price Sensitivity</a:t>
            </a:r>
            <a:endParaRPr sz="4000">
              <a:solidFill>
                <a:srgbClr val="1D5732"/>
              </a:solidFill>
            </a:endParaRPr>
          </a:p>
        </p:txBody>
      </p:sp>
      <p:sp>
        <p:nvSpPr>
          <p:cNvPr id="358" name="Google Shape;358;g33f91133ea5_0_92"/>
          <p:cNvSpPr txBox="1"/>
          <p:nvPr/>
        </p:nvSpPr>
        <p:spPr>
          <a:xfrm>
            <a:off x="11114550" y="3719850"/>
            <a:ext cx="5515500" cy="4532700"/>
          </a:xfrm>
          <a:prstGeom prst="rect">
            <a:avLst/>
          </a:prstGeom>
          <a:noFill/>
          <a:ln cap="flat" cmpd="sng" w="114300">
            <a:solidFill>
              <a:srgbClr val="81A902"/>
            </a:solidFill>
            <a:prstDash val="solid"/>
            <a:round/>
            <a:headEnd len="sm" w="sm" type="none"/>
            <a:tailEnd len="sm" w="sm" type="none"/>
          </a:ln>
        </p:spPr>
        <p:txBody>
          <a:bodyPr anchorCtr="0" anchor="t" bIns="91425" lIns="91425" spcFirstLastPara="1" rIns="91425" wrap="square" tIns="91425">
            <a:noAutofit/>
          </a:bodyPr>
          <a:lstStyle/>
          <a:p>
            <a:pPr indent="-387350" lvl="0" marL="457200" rtl="0" algn="l">
              <a:spcBef>
                <a:spcPts val="0"/>
              </a:spcBef>
              <a:spcAft>
                <a:spcPts val="0"/>
              </a:spcAft>
              <a:buClr>
                <a:srgbClr val="1D5732"/>
              </a:buClr>
              <a:buSzPts val="2500"/>
              <a:buChar char="●"/>
            </a:pPr>
            <a:r>
              <a:rPr b="1" lang="en-US" sz="2500">
                <a:solidFill>
                  <a:srgbClr val="1D5732"/>
                </a:solidFill>
              </a:rPr>
              <a:t>Premium Shoppers: </a:t>
            </a:r>
            <a:endParaRPr b="1" sz="2500">
              <a:solidFill>
                <a:srgbClr val="1D5732"/>
              </a:solidFill>
            </a:endParaRPr>
          </a:p>
          <a:p>
            <a:pPr indent="-387350" lvl="1" marL="914400" rtl="0" algn="l">
              <a:spcBef>
                <a:spcPts val="0"/>
              </a:spcBef>
              <a:spcAft>
                <a:spcPts val="0"/>
              </a:spcAft>
              <a:buClr>
                <a:srgbClr val="1D5732"/>
              </a:buClr>
              <a:buSzPts val="2500"/>
              <a:buChar char="○"/>
            </a:pPr>
            <a:r>
              <a:rPr lang="en-US" sz="2500">
                <a:solidFill>
                  <a:srgbClr val="1D5732"/>
                </a:solidFill>
              </a:rPr>
              <a:t>Highest income and spending</a:t>
            </a:r>
            <a:endParaRPr sz="2500">
              <a:solidFill>
                <a:srgbClr val="1D5732"/>
              </a:solidFill>
            </a:endParaRPr>
          </a:p>
          <a:p>
            <a:pPr indent="-387350" lvl="0" marL="457200" rtl="0" algn="l">
              <a:spcBef>
                <a:spcPts val="0"/>
              </a:spcBef>
              <a:spcAft>
                <a:spcPts val="0"/>
              </a:spcAft>
              <a:buClr>
                <a:srgbClr val="1D5732"/>
              </a:buClr>
              <a:buSzPts val="2500"/>
              <a:buChar char="●"/>
            </a:pPr>
            <a:r>
              <a:rPr b="1" lang="en-US" sz="2500">
                <a:solidFill>
                  <a:srgbClr val="1D5732"/>
                </a:solidFill>
              </a:rPr>
              <a:t>Budget-Conscious Young: </a:t>
            </a:r>
            <a:endParaRPr b="1" sz="2500">
              <a:solidFill>
                <a:srgbClr val="1D5732"/>
              </a:solidFill>
            </a:endParaRPr>
          </a:p>
          <a:p>
            <a:pPr indent="-387350" lvl="1" marL="914400" rtl="0" algn="l">
              <a:spcBef>
                <a:spcPts val="0"/>
              </a:spcBef>
              <a:spcAft>
                <a:spcPts val="0"/>
              </a:spcAft>
              <a:buClr>
                <a:srgbClr val="1D5732"/>
              </a:buClr>
              <a:buSzPts val="2500"/>
              <a:buChar char="○"/>
            </a:pPr>
            <a:r>
              <a:rPr lang="en-US" sz="2500">
                <a:solidFill>
                  <a:srgbClr val="1D5732"/>
                </a:solidFill>
              </a:rPr>
              <a:t>Lowest income and Spending</a:t>
            </a:r>
            <a:endParaRPr sz="2500">
              <a:solidFill>
                <a:srgbClr val="1D5732"/>
              </a:solidFill>
            </a:endParaRPr>
          </a:p>
          <a:p>
            <a:pPr indent="-387350" lvl="0" marL="457200" rtl="0" algn="l">
              <a:spcBef>
                <a:spcPts val="0"/>
              </a:spcBef>
              <a:spcAft>
                <a:spcPts val="0"/>
              </a:spcAft>
              <a:buClr>
                <a:srgbClr val="1D5732"/>
              </a:buClr>
              <a:buSzPts val="2500"/>
              <a:buChar char="●"/>
            </a:pPr>
            <a:r>
              <a:rPr b="1" lang="en-US" sz="2500">
                <a:solidFill>
                  <a:srgbClr val="1D5732"/>
                </a:solidFill>
              </a:rPr>
              <a:t>Senior Deal Hunters: </a:t>
            </a:r>
            <a:endParaRPr b="1" sz="2500">
              <a:solidFill>
                <a:srgbClr val="1D5732"/>
              </a:solidFill>
            </a:endParaRPr>
          </a:p>
          <a:p>
            <a:pPr indent="-387350" lvl="1" marL="914400" rtl="0" algn="l">
              <a:spcBef>
                <a:spcPts val="0"/>
              </a:spcBef>
              <a:spcAft>
                <a:spcPts val="0"/>
              </a:spcAft>
              <a:buClr>
                <a:srgbClr val="1D5732"/>
              </a:buClr>
              <a:buSzPts val="2500"/>
              <a:buChar char="○"/>
            </a:pPr>
            <a:r>
              <a:rPr lang="en-US" sz="2500">
                <a:solidFill>
                  <a:srgbClr val="1D5732"/>
                </a:solidFill>
              </a:rPr>
              <a:t>Moderate income but low spending</a:t>
            </a:r>
            <a:endParaRPr sz="2500">
              <a:solidFill>
                <a:srgbClr val="1D5732"/>
              </a:solidFill>
            </a:endParaRPr>
          </a:p>
          <a:p>
            <a:pPr indent="-387350" lvl="0" marL="457200" rtl="0" algn="l">
              <a:spcBef>
                <a:spcPts val="0"/>
              </a:spcBef>
              <a:spcAft>
                <a:spcPts val="0"/>
              </a:spcAft>
              <a:buClr>
                <a:srgbClr val="1D5732"/>
              </a:buClr>
              <a:buSzPts val="2500"/>
              <a:buChar char="●"/>
            </a:pPr>
            <a:r>
              <a:rPr b="1" lang="en-US" sz="2500">
                <a:solidFill>
                  <a:srgbClr val="1D5732"/>
                </a:solidFill>
              </a:rPr>
              <a:t>Balanced Spenders: </a:t>
            </a:r>
            <a:endParaRPr b="1" sz="2500">
              <a:solidFill>
                <a:srgbClr val="1D5732"/>
              </a:solidFill>
            </a:endParaRPr>
          </a:p>
          <a:p>
            <a:pPr indent="-387350" lvl="1" marL="914400" rtl="0" algn="l">
              <a:spcBef>
                <a:spcPts val="0"/>
              </a:spcBef>
              <a:spcAft>
                <a:spcPts val="0"/>
              </a:spcAft>
              <a:buClr>
                <a:srgbClr val="1D5732"/>
              </a:buClr>
              <a:buSzPts val="2500"/>
              <a:buChar char="○"/>
            </a:pPr>
            <a:r>
              <a:rPr lang="en-US" sz="2500">
                <a:solidFill>
                  <a:srgbClr val="1D5732"/>
                </a:solidFill>
              </a:rPr>
              <a:t>Moderate income and spending</a:t>
            </a:r>
            <a:r>
              <a:rPr b="1" lang="en-US" sz="2500">
                <a:solidFill>
                  <a:srgbClr val="1D5732"/>
                </a:solidFill>
              </a:rPr>
              <a:t> </a:t>
            </a:r>
            <a:endParaRPr b="1" sz="2500">
              <a:solidFill>
                <a:srgbClr val="1D5732"/>
              </a:solidFill>
            </a:endParaRPr>
          </a:p>
          <a:p>
            <a:pPr indent="0" lvl="0" marL="457200" rtl="0" algn="l">
              <a:spcBef>
                <a:spcPts val="0"/>
              </a:spcBef>
              <a:spcAft>
                <a:spcPts val="0"/>
              </a:spcAft>
              <a:buNone/>
            </a:pPr>
            <a:r>
              <a:t/>
            </a:r>
            <a:endParaRPr sz="4600">
              <a:solidFill>
                <a:srgbClr val="1D5732"/>
              </a:solidFill>
              <a:latin typeface="Calibri"/>
              <a:ea typeface="Calibri"/>
              <a:cs typeface="Calibri"/>
              <a:sym typeface="Calibri"/>
            </a:endParaRPr>
          </a:p>
        </p:txBody>
      </p:sp>
      <p:pic>
        <p:nvPicPr>
          <p:cNvPr id="359" name="Google Shape;359;g33f91133ea5_0_92" title="Screenshot 2025-03-12 at 10.44.41 PM.png"/>
          <p:cNvPicPr preferRelativeResize="0"/>
          <p:nvPr/>
        </p:nvPicPr>
        <p:blipFill>
          <a:blip r:embed="rId7">
            <a:alphaModFix/>
          </a:blip>
          <a:stretch>
            <a:fillRect/>
          </a:stretch>
        </p:blipFill>
        <p:spPr>
          <a:xfrm>
            <a:off x="1799353" y="1758551"/>
            <a:ext cx="8810498" cy="64940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3B1"/>
        </a:solidFill>
      </p:bgPr>
    </p:bg>
    <p:spTree>
      <p:nvGrpSpPr>
        <p:cNvPr id="363" name="Shape 363"/>
        <p:cNvGrpSpPr/>
        <p:nvPr/>
      </p:nvGrpSpPr>
      <p:grpSpPr>
        <a:xfrm>
          <a:off x="0" y="0"/>
          <a:ext cx="0" cy="0"/>
          <a:chOff x="0" y="0"/>
          <a:chExt cx="0" cy="0"/>
        </a:xfrm>
      </p:grpSpPr>
      <p:sp>
        <p:nvSpPr>
          <p:cNvPr id="364" name="Google Shape;364;g33f91133ea5_0_118"/>
          <p:cNvSpPr txBox="1"/>
          <p:nvPr/>
        </p:nvSpPr>
        <p:spPr>
          <a:xfrm>
            <a:off x="566425" y="561625"/>
            <a:ext cx="116958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6000">
                <a:solidFill>
                  <a:srgbClr val="1D5732"/>
                </a:solidFill>
              </a:rPr>
              <a:t>Marketing Mix by Segment</a:t>
            </a:r>
            <a:endParaRPr sz="6000">
              <a:solidFill>
                <a:srgbClr val="1D5732"/>
              </a:solidFill>
            </a:endParaRPr>
          </a:p>
        </p:txBody>
      </p:sp>
      <p:sp>
        <p:nvSpPr>
          <p:cNvPr id="365" name="Google Shape;365;g33f91133ea5_0_118"/>
          <p:cNvSpPr txBox="1"/>
          <p:nvPr/>
        </p:nvSpPr>
        <p:spPr>
          <a:xfrm>
            <a:off x="15969090" y="962025"/>
            <a:ext cx="1267800" cy="615600"/>
          </a:xfrm>
          <a:prstGeom prst="rect">
            <a:avLst/>
          </a:prstGeom>
          <a:noFill/>
          <a:ln>
            <a:noFill/>
          </a:ln>
        </p:spPr>
        <p:txBody>
          <a:bodyPr anchorCtr="0" anchor="t" bIns="0" lIns="0" spcFirstLastPara="1" rIns="0" wrap="square" tIns="0">
            <a:spAutoFit/>
          </a:bodyPr>
          <a:lstStyle/>
          <a:p>
            <a:pPr indent="0" lvl="0" marL="0" marR="0" rtl="0" algn="r">
              <a:lnSpc>
                <a:spcPct val="140010"/>
              </a:lnSpc>
              <a:spcBef>
                <a:spcPts val="0"/>
              </a:spcBef>
              <a:spcAft>
                <a:spcPts val="0"/>
              </a:spcAft>
              <a:buNone/>
            </a:pPr>
            <a:r>
              <a:rPr b="1" i="0" lang="en-US" sz="3999" u="none" cap="none" strike="noStrike">
                <a:solidFill>
                  <a:srgbClr val="EEE3B1"/>
                </a:solidFill>
                <a:latin typeface="Arial"/>
                <a:ea typeface="Arial"/>
                <a:cs typeface="Arial"/>
                <a:sym typeface="Arial"/>
              </a:rPr>
              <a:t>03</a:t>
            </a:r>
            <a:endParaRPr/>
          </a:p>
        </p:txBody>
      </p:sp>
      <p:grpSp>
        <p:nvGrpSpPr>
          <p:cNvPr id="366" name="Google Shape;366;g33f91133ea5_0_118"/>
          <p:cNvGrpSpPr/>
          <p:nvPr/>
        </p:nvGrpSpPr>
        <p:grpSpPr>
          <a:xfrm>
            <a:off x="-50" y="9147925"/>
            <a:ext cx="18288118" cy="1139089"/>
            <a:chOff x="0" y="-28575"/>
            <a:chExt cx="4816592" cy="792134"/>
          </a:xfrm>
        </p:grpSpPr>
        <p:sp>
          <p:nvSpPr>
            <p:cNvPr id="367" name="Google Shape;367;g33f91133ea5_0_118"/>
            <p:cNvSpPr/>
            <p:nvPr/>
          </p:nvSpPr>
          <p:spPr>
            <a:xfrm>
              <a:off x="0" y="0"/>
              <a:ext cx="4816592" cy="763559"/>
            </a:xfrm>
            <a:custGeom>
              <a:rect b="b" l="l" r="r" t="t"/>
              <a:pathLst>
                <a:path extrusionOk="0" h="763559" w="4816592">
                  <a:moveTo>
                    <a:pt x="0" y="0"/>
                  </a:moveTo>
                  <a:lnTo>
                    <a:pt x="4816592" y="0"/>
                  </a:lnTo>
                  <a:lnTo>
                    <a:pt x="4816592" y="763559"/>
                  </a:lnTo>
                  <a:lnTo>
                    <a:pt x="0" y="763559"/>
                  </a:lnTo>
                  <a:close/>
                </a:path>
              </a:pathLst>
            </a:custGeom>
            <a:solidFill>
              <a:srgbClr val="1D5732"/>
            </a:solidFill>
            <a:ln>
              <a:noFill/>
            </a:ln>
          </p:spPr>
        </p:sp>
        <p:sp>
          <p:nvSpPr>
            <p:cNvPr id="368" name="Google Shape;368;g33f91133ea5_0_118"/>
            <p:cNvSpPr txBox="1"/>
            <p:nvPr/>
          </p:nvSpPr>
          <p:spPr>
            <a:xfrm>
              <a:off x="0" y="-28575"/>
              <a:ext cx="4816500" cy="7920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9" name="Google Shape;369;g33f91133ea5_0_118"/>
          <p:cNvSpPr/>
          <p:nvPr/>
        </p:nvSpPr>
        <p:spPr>
          <a:xfrm rot="1282585">
            <a:off x="12140392" y="-646068"/>
            <a:ext cx="1351560" cy="1393361"/>
          </a:xfrm>
          <a:custGeom>
            <a:rect b="b" l="l" r="r" t="t"/>
            <a:pathLst>
              <a:path extrusionOk="0" h="1391427" w="1349684">
                <a:moveTo>
                  <a:pt x="0" y="0"/>
                </a:moveTo>
                <a:lnTo>
                  <a:pt x="1349684" y="0"/>
                </a:lnTo>
                <a:lnTo>
                  <a:pt x="1349684" y="1391427"/>
                </a:lnTo>
                <a:lnTo>
                  <a:pt x="0" y="1391427"/>
                </a:lnTo>
                <a:lnTo>
                  <a:pt x="0" y="0"/>
                </a:lnTo>
                <a:close/>
              </a:path>
            </a:pathLst>
          </a:custGeom>
          <a:blipFill rotWithShape="1">
            <a:blip r:embed="rId3">
              <a:alphaModFix/>
            </a:blip>
            <a:stretch>
              <a:fillRect b="0" l="0" r="0" t="0"/>
            </a:stretch>
          </a:blipFill>
          <a:ln>
            <a:noFill/>
          </a:ln>
        </p:spPr>
      </p:sp>
      <p:sp>
        <p:nvSpPr>
          <p:cNvPr id="370" name="Google Shape;370;g33f91133ea5_0_118"/>
          <p:cNvSpPr/>
          <p:nvPr/>
        </p:nvSpPr>
        <p:spPr>
          <a:xfrm>
            <a:off x="13712371" y="-376944"/>
            <a:ext cx="1258008" cy="1289163"/>
          </a:xfrm>
          <a:custGeom>
            <a:rect b="b" l="l" r="r" t="t"/>
            <a:pathLst>
              <a:path extrusionOk="0" h="1289163" w="1258008">
                <a:moveTo>
                  <a:pt x="0" y="0"/>
                </a:moveTo>
                <a:lnTo>
                  <a:pt x="1258007" y="0"/>
                </a:lnTo>
                <a:lnTo>
                  <a:pt x="1258007" y="1289162"/>
                </a:lnTo>
                <a:lnTo>
                  <a:pt x="0" y="1289162"/>
                </a:lnTo>
                <a:lnTo>
                  <a:pt x="0" y="0"/>
                </a:lnTo>
                <a:close/>
              </a:path>
            </a:pathLst>
          </a:custGeom>
          <a:blipFill rotWithShape="1">
            <a:blip r:embed="rId4">
              <a:alphaModFix/>
            </a:blip>
            <a:stretch>
              <a:fillRect b="0" l="0" r="0" t="0"/>
            </a:stretch>
          </a:blipFill>
          <a:ln>
            <a:noFill/>
          </a:ln>
        </p:spPr>
      </p:sp>
      <p:grpSp>
        <p:nvGrpSpPr>
          <p:cNvPr id="371" name="Google Shape;371;g33f91133ea5_0_118"/>
          <p:cNvGrpSpPr/>
          <p:nvPr/>
        </p:nvGrpSpPr>
        <p:grpSpPr>
          <a:xfrm>
            <a:off x="118900" y="9392235"/>
            <a:ext cx="10607763" cy="739758"/>
            <a:chOff x="2577" y="877098"/>
            <a:chExt cx="10553938" cy="917700"/>
          </a:xfrm>
        </p:grpSpPr>
        <p:sp>
          <p:nvSpPr>
            <p:cNvPr id="372" name="Google Shape;372;g33f91133ea5_0_118"/>
            <p:cNvSpPr/>
            <p:nvPr/>
          </p:nvSpPr>
          <p:spPr>
            <a:xfrm>
              <a:off x="2577"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g33f91133ea5_0_118"/>
            <p:cNvSpPr txBox="1"/>
            <p:nvPr/>
          </p:nvSpPr>
          <p:spPr>
            <a:xfrm>
              <a:off x="571834" y="1021426"/>
              <a:ext cx="1155900" cy="5910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i="0" lang="en-US" u="none" cap="none" strike="noStrike">
                  <a:solidFill>
                    <a:srgbClr val="002060"/>
                  </a:solidFill>
                </a:rPr>
                <a:t>Busine</a:t>
              </a:r>
              <a:r>
                <a:rPr lang="en-US">
                  <a:solidFill>
                    <a:srgbClr val="002060"/>
                  </a:solidFill>
                </a:rPr>
                <a:t>s</a:t>
              </a:r>
              <a:r>
                <a:rPr i="0" lang="en-US" u="none" cap="none" strike="noStrike">
                  <a:solidFill>
                    <a:srgbClr val="002060"/>
                  </a:solidFill>
                </a:rPr>
                <a:t>s Problem</a:t>
              </a:r>
              <a:endParaRPr i="0" u="none" cap="none" strike="noStrike">
                <a:solidFill>
                  <a:srgbClr val="002060"/>
                </a:solidFill>
              </a:endParaRPr>
            </a:p>
          </p:txBody>
        </p:sp>
        <p:sp>
          <p:nvSpPr>
            <p:cNvPr id="374" name="Google Shape;374;g33f91133ea5_0_118"/>
            <p:cNvSpPr/>
            <p:nvPr/>
          </p:nvSpPr>
          <p:spPr>
            <a:xfrm>
              <a:off x="2067462"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g33f91133ea5_0_118"/>
            <p:cNvSpPr txBox="1"/>
            <p:nvPr/>
          </p:nvSpPr>
          <p:spPr>
            <a:xfrm>
              <a:off x="2561114" y="972834"/>
              <a:ext cx="1155900" cy="6882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i="0" lang="en-US" u="none" cap="none" strike="noStrike">
                  <a:solidFill>
                    <a:srgbClr val="002060"/>
                  </a:solidFill>
                </a:rPr>
                <a:t>EDA &amp; Insights</a:t>
              </a:r>
              <a:endParaRPr i="0" u="none" cap="none" strike="noStrike">
                <a:solidFill>
                  <a:srgbClr val="002060"/>
                </a:solidFill>
              </a:endParaRPr>
            </a:p>
          </p:txBody>
        </p:sp>
        <p:sp>
          <p:nvSpPr>
            <p:cNvPr id="376" name="Google Shape;376;g33f91133ea5_0_118"/>
            <p:cNvSpPr/>
            <p:nvPr/>
          </p:nvSpPr>
          <p:spPr>
            <a:xfrm>
              <a:off x="4132346" y="877098"/>
              <a:ext cx="2294400" cy="917700"/>
            </a:xfrm>
            <a:prstGeom prst="chevron">
              <a:avLst>
                <a:gd fmla="val 50000" name="adj"/>
              </a:avLst>
            </a:prstGeom>
            <a:solidFill>
              <a:schemeClr val="lt2"/>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g33f91133ea5_0_118"/>
            <p:cNvSpPr/>
            <p:nvPr/>
          </p:nvSpPr>
          <p:spPr>
            <a:xfrm>
              <a:off x="6197231"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g33f91133ea5_0_118"/>
            <p:cNvSpPr txBox="1"/>
            <p:nvPr/>
          </p:nvSpPr>
          <p:spPr>
            <a:xfrm>
              <a:off x="6668795" y="973848"/>
              <a:ext cx="1489500" cy="688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Campaign Prediction</a:t>
              </a:r>
              <a:endParaRPr i="0" u="none" cap="none" strike="noStrike">
                <a:solidFill>
                  <a:srgbClr val="002060"/>
                </a:solidFill>
              </a:endParaRPr>
            </a:p>
          </p:txBody>
        </p:sp>
        <p:sp>
          <p:nvSpPr>
            <p:cNvPr id="379" name="Google Shape;379;g33f91133ea5_0_118"/>
            <p:cNvSpPr/>
            <p:nvPr/>
          </p:nvSpPr>
          <p:spPr>
            <a:xfrm>
              <a:off x="8262115"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g33f91133ea5_0_118"/>
            <p:cNvSpPr txBox="1"/>
            <p:nvPr/>
          </p:nvSpPr>
          <p:spPr>
            <a:xfrm>
              <a:off x="8648985" y="973811"/>
              <a:ext cx="1489500" cy="724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Recommendation</a:t>
              </a:r>
              <a:endParaRPr i="0" u="none" cap="none" strike="noStrike">
                <a:solidFill>
                  <a:srgbClr val="002060"/>
                </a:solidFill>
              </a:endParaRPr>
            </a:p>
          </p:txBody>
        </p:sp>
        <p:sp>
          <p:nvSpPr>
            <p:cNvPr id="381" name="Google Shape;381;g33f91133ea5_0_118"/>
            <p:cNvSpPr txBox="1"/>
            <p:nvPr/>
          </p:nvSpPr>
          <p:spPr>
            <a:xfrm>
              <a:off x="4550363" y="955709"/>
              <a:ext cx="1489500" cy="7242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Clustering &amp; Segmentation</a:t>
              </a:r>
              <a:endParaRPr i="0" u="none" cap="none" strike="noStrike">
                <a:solidFill>
                  <a:srgbClr val="002060"/>
                </a:solidFill>
              </a:endParaRPr>
            </a:p>
          </p:txBody>
        </p:sp>
      </p:grpSp>
      <p:sp>
        <p:nvSpPr>
          <p:cNvPr id="382" name="Google Shape;382;g33f91133ea5_0_118"/>
          <p:cNvSpPr/>
          <p:nvPr/>
        </p:nvSpPr>
        <p:spPr>
          <a:xfrm>
            <a:off x="13029268" y="912218"/>
            <a:ext cx="870958" cy="1074704"/>
          </a:xfrm>
          <a:custGeom>
            <a:rect b="b" l="l" r="r" t="t"/>
            <a:pathLst>
              <a:path extrusionOk="0" h="1074704" w="870958">
                <a:moveTo>
                  <a:pt x="0" y="0"/>
                </a:moveTo>
                <a:lnTo>
                  <a:pt x="870958" y="0"/>
                </a:lnTo>
                <a:lnTo>
                  <a:pt x="870958" y="1074704"/>
                </a:lnTo>
                <a:lnTo>
                  <a:pt x="0" y="1074704"/>
                </a:lnTo>
                <a:lnTo>
                  <a:pt x="0" y="0"/>
                </a:lnTo>
                <a:close/>
              </a:path>
            </a:pathLst>
          </a:custGeom>
          <a:blipFill rotWithShape="1">
            <a:blip r:embed="rId5">
              <a:alphaModFix/>
            </a:blip>
            <a:stretch>
              <a:fillRect b="0" l="0" r="0" t="0"/>
            </a:stretch>
          </a:blipFill>
          <a:ln>
            <a:noFill/>
          </a:ln>
        </p:spPr>
      </p:sp>
      <p:sp>
        <p:nvSpPr>
          <p:cNvPr id="383" name="Google Shape;383;g33f91133ea5_0_118"/>
          <p:cNvSpPr/>
          <p:nvPr/>
        </p:nvSpPr>
        <p:spPr>
          <a:xfrm>
            <a:off x="14205026" y="468552"/>
            <a:ext cx="1459264" cy="1962035"/>
          </a:xfrm>
          <a:custGeom>
            <a:rect b="b" l="l" r="r" t="t"/>
            <a:pathLst>
              <a:path extrusionOk="0" h="1962035" w="1459264">
                <a:moveTo>
                  <a:pt x="0" y="0"/>
                </a:moveTo>
                <a:lnTo>
                  <a:pt x="1459264" y="0"/>
                </a:lnTo>
                <a:lnTo>
                  <a:pt x="1459264" y="1962036"/>
                </a:lnTo>
                <a:lnTo>
                  <a:pt x="0" y="1962036"/>
                </a:lnTo>
                <a:lnTo>
                  <a:pt x="0" y="0"/>
                </a:lnTo>
                <a:close/>
              </a:path>
            </a:pathLst>
          </a:custGeom>
          <a:blipFill rotWithShape="1">
            <a:blip r:embed="rId6">
              <a:alphaModFix/>
            </a:blip>
            <a:stretch>
              <a:fillRect b="0" l="0" r="0" t="0"/>
            </a:stretch>
          </a:blipFill>
          <a:ln>
            <a:noFill/>
          </a:ln>
        </p:spPr>
      </p:sp>
      <p:sp>
        <p:nvSpPr>
          <p:cNvPr id="384" name="Google Shape;384;g33f91133ea5_0_118"/>
          <p:cNvSpPr txBox="1"/>
          <p:nvPr/>
        </p:nvSpPr>
        <p:spPr>
          <a:xfrm>
            <a:off x="11553325" y="3143050"/>
            <a:ext cx="3744900" cy="615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4000">
                <a:solidFill>
                  <a:srgbClr val="1D5732"/>
                </a:solidFill>
              </a:rPr>
              <a:t>Promotion</a:t>
            </a:r>
            <a:endParaRPr sz="4000">
              <a:solidFill>
                <a:srgbClr val="1D5732"/>
              </a:solidFill>
            </a:endParaRPr>
          </a:p>
        </p:txBody>
      </p:sp>
      <p:sp>
        <p:nvSpPr>
          <p:cNvPr id="385" name="Google Shape;385;g33f91133ea5_0_118"/>
          <p:cNvSpPr txBox="1"/>
          <p:nvPr/>
        </p:nvSpPr>
        <p:spPr>
          <a:xfrm>
            <a:off x="11495550" y="3872250"/>
            <a:ext cx="5157600" cy="4532700"/>
          </a:xfrm>
          <a:prstGeom prst="rect">
            <a:avLst/>
          </a:prstGeom>
          <a:noFill/>
          <a:ln cap="flat" cmpd="sng" w="114300">
            <a:solidFill>
              <a:srgbClr val="81A902"/>
            </a:solidFill>
            <a:prstDash val="solid"/>
            <a:round/>
            <a:headEnd len="sm" w="sm" type="none"/>
            <a:tailEnd len="sm" w="sm" type="none"/>
          </a:ln>
        </p:spPr>
        <p:txBody>
          <a:bodyPr anchorCtr="0" anchor="t" bIns="91425" lIns="91425" spcFirstLastPara="1" rIns="91425" wrap="square" tIns="91425">
            <a:noAutofit/>
          </a:bodyPr>
          <a:lstStyle/>
          <a:p>
            <a:pPr indent="-387350" lvl="0" marL="457200" rtl="0" algn="l">
              <a:spcBef>
                <a:spcPts val="0"/>
              </a:spcBef>
              <a:spcAft>
                <a:spcPts val="0"/>
              </a:spcAft>
              <a:buClr>
                <a:srgbClr val="1D5732"/>
              </a:buClr>
              <a:buSzPts val="2500"/>
              <a:buChar char="●"/>
            </a:pPr>
            <a:r>
              <a:rPr b="1" lang="en-US" sz="2500">
                <a:solidFill>
                  <a:srgbClr val="1D5732"/>
                </a:solidFill>
              </a:rPr>
              <a:t>Premium Shoppers: </a:t>
            </a:r>
            <a:endParaRPr b="1" sz="2500">
              <a:solidFill>
                <a:srgbClr val="1D5732"/>
              </a:solidFill>
            </a:endParaRPr>
          </a:p>
          <a:p>
            <a:pPr indent="-387350" lvl="1" marL="914400" rtl="0" algn="l">
              <a:spcBef>
                <a:spcPts val="0"/>
              </a:spcBef>
              <a:spcAft>
                <a:spcPts val="0"/>
              </a:spcAft>
              <a:buClr>
                <a:srgbClr val="1D5732"/>
              </a:buClr>
              <a:buSzPts val="2500"/>
              <a:buChar char="○"/>
            </a:pPr>
            <a:r>
              <a:rPr lang="en-US" sz="2500">
                <a:solidFill>
                  <a:srgbClr val="1D5732"/>
                </a:solidFill>
              </a:rPr>
              <a:t>~20%</a:t>
            </a:r>
            <a:endParaRPr sz="2500">
              <a:solidFill>
                <a:srgbClr val="1D5732"/>
              </a:solidFill>
            </a:endParaRPr>
          </a:p>
          <a:p>
            <a:pPr indent="-387350" lvl="0" marL="457200" rtl="0" algn="l">
              <a:spcBef>
                <a:spcPts val="0"/>
              </a:spcBef>
              <a:spcAft>
                <a:spcPts val="0"/>
              </a:spcAft>
              <a:buClr>
                <a:srgbClr val="1D5732"/>
              </a:buClr>
              <a:buSzPts val="2500"/>
              <a:buChar char="●"/>
            </a:pPr>
            <a:r>
              <a:rPr b="1" lang="en-US" sz="2500">
                <a:solidFill>
                  <a:srgbClr val="1D5732"/>
                </a:solidFill>
              </a:rPr>
              <a:t>Balanced Spenders:</a:t>
            </a:r>
            <a:endParaRPr b="1" sz="2500">
              <a:solidFill>
                <a:srgbClr val="1D5732"/>
              </a:solidFill>
            </a:endParaRPr>
          </a:p>
          <a:p>
            <a:pPr indent="-387350" lvl="1" marL="914400" rtl="0" algn="l">
              <a:spcBef>
                <a:spcPts val="0"/>
              </a:spcBef>
              <a:spcAft>
                <a:spcPts val="0"/>
              </a:spcAft>
              <a:buClr>
                <a:srgbClr val="1D5732"/>
              </a:buClr>
              <a:buSzPts val="2500"/>
              <a:buChar char="○"/>
            </a:pPr>
            <a:r>
              <a:rPr lang="en-US" sz="2500">
                <a:solidFill>
                  <a:srgbClr val="1D5732"/>
                </a:solidFill>
              </a:rPr>
              <a:t>~10%</a:t>
            </a:r>
            <a:endParaRPr sz="2500">
              <a:solidFill>
                <a:srgbClr val="1D5732"/>
              </a:solidFill>
            </a:endParaRPr>
          </a:p>
          <a:p>
            <a:pPr indent="-387350" lvl="0" marL="457200" rtl="0" algn="l">
              <a:spcBef>
                <a:spcPts val="0"/>
              </a:spcBef>
              <a:spcAft>
                <a:spcPts val="0"/>
              </a:spcAft>
              <a:buClr>
                <a:srgbClr val="1D5732"/>
              </a:buClr>
              <a:buSzPts val="2500"/>
              <a:buChar char="●"/>
            </a:pPr>
            <a:r>
              <a:rPr b="1" lang="en-US" sz="2500">
                <a:solidFill>
                  <a:srgbClr val="1D5732"/>
                </a:solidFill>
              </a:rPr>
              <a:t>Budget-Conscious Young &amp; Senior Deal Hunters</a:t>
            </a:r>
            <a:r>
              <a:rPr lang="en-US" sz="2500">
                <a:solidFill>
                  <a:srgbClr val="1D5732"/>
                </a:solidFill>
              </a:rPr>
              <a:t>: </a:t>
            </a:r>
            <a:endParaRPr sz="2500">
              <a:solidFill>
                <a:srgbClr val="1D5732"/>
              </a:solidFill>
            </a:endParaRPr>
          </a:p>
          <a:p>
            <a:pPr indent="-387350" lvl="1" marL="914400" rtl="0" algn="l">
              <a:spcBef>
                <a:spcPts val="0"/>
              </a:spcBef>
              <a:spcAft>
                <a:spcPts val="0"/>
              </a:spcAft>
              <a:buClr>
                <a:srgbClr val="1D5732"/>
              </a:buClr>
              <a:buSzPts val="2500"/>
              <a:buChar char="○"/>
            </a:pPr>
            <a:r>
              <a:rPr lang="en-US" sz="2500">
                <a:solidFill>
                  <a:srgbClr val="1D5732"/>
                </a:solidFill>
              </a:rPr>
              <a:t>&lt;5%</a:t>
            </a:r>
            <a:endParaRPr sz="2500">
              <a:solidFill>
                <a:srgbClr val="1D5732"/>
              </a:solidFill>
            </a:endParaRPr>
          </a:p>
          <a:p>
            <a:pPr indent="-387350" lvl="1" marL="914400" rtl="0" algn="l">
              <a:spcBef>
                <a:spcPts val="0"/>
              </a:spcBef>
              <a:spcAft>
                <a:spcPts val="0"/>
              </a:spcAft>
              <a:buClr>
                <a:srgbClr val="1D5732"/>
              </a:buClr>
              <a:buSzPts val="2500"/>
              <a:buChar char="○"/>
            </a:pPr>
            <a:r>
              <a:rPr lang="en-US" sz="2500">
                <a:solidFill>
                  <a:srgbClr val="1D5732"/>
                </a:solidFill>
              </a:rPr>
              <a:t>potential for low-end discount</a:t>
            </a:r>
            <a:endParaRPr sz="2500">
              <a:solidFill>
                <a:srgbClr val="1D5732"/>
              </a:solidFill>
            </a:endParaRPr>
          </a:p>
          <a:p>
            <a:pPr indent="0" lvl="0" marL="0" rtl="0" algn="l">
              <a:spcBef>
                <a:spcPts val="0"/>
              </a:spcBef>
              <a:spcAft>
                <a:spcPts val="0"/>
              </a:spcAft>
              <a:buNone/>
            </a:pPr>
            <a:r>
              <a:t/>
            </a:r>
            <a:endParaRPr sz="2500">
              <a:solidFill>
                <a:srgbClr val="1D5732"/>
              </a:solidFill>
            </a:endParaRPr>
          </a:p>
          <a:p>
            <a:pPr indent="0" lvl="0" marL="457200" rtl="0" algn="l">
              <a:spcBef>
                <a:spcPts val="0"/>
              </a:spcBef>
              <a:spcAft>
                <a:spcPts val="0"/>
              </a:spcAft>
              <a:buNone/>
            </a:pPr>
            <a:r>
              <a:t/>
            </a:r>
            <a:endParaRPr sz="4600">
              <a:solidFill>
                <a:srgbClr val="1D5732"/>
              </a:solidFill>
              <a:latin typeface="Calibri"/>
              <a:ea typeface="Calibri"/>
              <a:cs typeface="Calibri"/>
              <a:sym typeface="Calibri"/>
            </a:endParaRPr>
          </a:p>
        </p:txBody>
      </p:sp>
      <p:pic>
        <p:nvPicPr>
          <p:cNvPr id="386" name="Google Shape;386;g33f91133ea5_0_118" title="Screenshot 2025-03-12 at 11.00.02 PM.png"/>
          <p:cNvPicPr preferRelativeResize="0"/>
          <p:nvPr/>
        </p:nvPicPr>
        <p:blipFill>
          <a:blip r:embed="rId7">
            <a:alphaModFix/>
          </a:blip>
          <a:stretch>
            <a:fillRect/>
          </a:stretch>
        </p:blipFill>
        <p:spPr>
          <a:xfrm>
            <a:off x="1176018" y="1888600"/>
            <a:ext cx="9898082" cy="65163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3B1"/>
        </a:solidFill>
      </p:bgPr>
    </p:bg>
    <p:spTree>
      <p:nvGrpSpPr>
        <p:cNvPr id="390" name="Shape 390"/>
        <p:cNvGrpSpPr/>
        <p:nvPr/>
      </p:nvGrpSpPr>
      <p:grpSpPr>
        <a:xfrm>
          <a:off x="0" y="0"/>
          <a:ext cx="0" cy="0"/>
          <a:chOff x="0" y="0"/>
          <a:chExt cx="0" cy="0"/>
        </a:xfrm>
      </p:grpSpPr>
      <p:sp>
        <p:nvSpPr>
          <p:cNvPr id="391" name="Google Shape;391;g33f91133ea5_0_144"/>
          <p:cNvSpPr txBox="1"/>
          <p:nvPr/>
        </p:nvSpPr>
        <p:spPr>
          <a:xfrm>
            <a:off x="566425" y="561625"/>
            <a:ext cx="116958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6000">
                <a:solidFill>
                  <a:srgbClr val="1D5732"/>
                </a:solidFill>
              </a:rPr>
              <a:t>Marketing Mix by Segment</a:t>
            </a:r>
            <a:endParaRPr sz="6000">
              <a:solidFill>
                <a:srgbClr val="1D5732"/>
              </a:solidFill>
            </a:endParaRPr>
          </a:p>
        </p:txBody>
      </p:sp>
      <p:sp>
        <p:nvSpPr>
          <p:cNvPr id="392" name="Google Shape;392;g33f91133ea5_0_144"/>
          <p:cNvSpPr txBox="1"/>
          <p:nvPr/>
        </p:nvSpPr>
        <p:spPr>
          <a:xfrm>
            <a:off x="15969090" y="962025"/>
            <a:ext cx="1267800" cy="615600"/>
          </a:xfrm>
          <a:prstGeom prst="rect">
            <a:avLst/>
          </a:prstGeom>
          <a:noFill/>
          <a:ln>
            <a:noFill/>
          </a:ln>
        </p:spPr>
        <p:txBody>
          <a:bodyPr anchorCtr="0" anchor="t" bIns="0" lIns="0" spcFirstLastPara="1" rIns="0" wrap="square" tIns="0">
            <a:spAutoFit/>
          </a:bodyPr>
          <a:lstStyle/>
          <a:p>
            <a:pPr indent="0" lvl="0" marL="0" marR="0" rtl="0" algn="r">
              <a:lnSpc>
                <a:spcPct val="140010"/>
              </a:lnSpc>
              <a:spcBef>
                <a:spcPts val="0"/>
              </a:spcBef>
              <a:spcAft>
                <a:spcPts val="0"/>
              </a:spcAft>
              <a:buNone/>
            </a:pPr>
            <a:r>
              <a:rPr b="1" i="0" lang="en-US" sz="3999" u="none" cap="none" strike="noStrike">
                <a:solidFill>
                  <a:srgbClr val="EEE3B1"/>
                </a:solidFill>
                <a:latin typeface="Arial"/>
                <a:ea typeface="Arial"/>
                <a:cs typeface="Arial"/>
                <a:sym typeface="Arial"/>
              </a:rPr>
              <a:t>03</a:t>
            </a:r>
            <a:endParaRPr/>
          </a:p>
        </p:txBody>
      </p:sp>
      <p:grpSp>
        <p:nvGrpSpPr>
          <p:cNvPr id="393" name="Google Shape;393;g33f91133ea5_0_144"/>
          <p:cNvGrpSpPr/>
          <p:nvPr/>
        </p:nvGrpSpPr>
        <p:grpSpPr>
          <a:xfrm>
            <a:off x="-50" y="9147925"/>
            <a:ext cx="18288118" cy="1139089"/>
            <a:chOff x="0" y="-28575"/>
            <a:chExt cx="4816592" cy="792134"/>
          </a:xfrm>
        </p:grpSpPr>
        <p:sp>
          <p:nvSpPr>
            <p:cNvPr id="394" name="Google Shape;394;g33f91133ea5_0_144"/>
            <p:cNvSpPr/>
            <p:nvPr/>
          </p:nvSpPr>
          <p:spPr>
            <a:xfrm>
              <a:off x="0" y="0"/>
              <a:ext cx="4816592" cy="763559"/>
            </a:xfrm>
            <a:custGeom>
              <a:rect b="b" l="l" r="r" t="t"/>
              <a:pathLst>
                <a:path extrusionOk="0" h="763559" w="4816592">
                  <a:moveTo>
                    <a:pt x="0" y="0"/>
                  </a:moveTo>
                  <a:lnTo>
                    <a:pt x="4816592" y="0"/>
                  </a:lnTo>
                  <a:lnTo>
                    <a:pt x="4816592" y="763559"/>
                  </a:lnTo>
                  <a:lnTo>
                    <a:pt x="0" y="763559"/>
                  </a:lnTo>
                  <a:close/>
                </a:path>
              </a:pathLst>
            </a:custGeom>
            <a:solidFill>
              <a:srgbClr val="1D5732"/>
            </a:solidFill>
            <a:ln>
              <a:noFill/>
            </a:ln>
          </p:spPr>
        </p:sp>
        <p:sp>
          <p:nvSpPr>
            <p:cNvPr id="395" name="Google Shape;395;g33f91133ea5_0_144"/>
            <p:cNvSpPr txBox="1"/>
            <p:nvPr/>
          </p:nvSpPr>
          <p:spPr>
            <a:xfrm>
              <a:off x="0" y="-28575"/>
              <a:ext cx="4816500" cy="7920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96" name="Google Shape;396;g33f91133ea5_0_144"/>
          <p:cNvSpPr/>
          <p:nvPr/>
        </p:nvSpPr>
        <p:spPr>
          <a:xfrm rot="1282585">
            <a:off x="12140392" y="-646068"/>
            <a:ext cx="1351560" cy="1393361"/>
          </a:xfrm>
          <a:custGeom>
            <a:rect b="b" l="l" r="r" t="t"/>
            <a:pathLst>
              <a:path extrusionOk="0" h="1391427" w="1349684">
                <a:moveTo>
                  <a:pt x="0" y="0"/>
                </a:moveTo>
                <a:lnTo>
                  <a:pt x="1349684" y="0"/>
                </a:lnTo>
                <a:lnTo>
                  <a:pt x="1349684" y="1391427"/>
                </a:lnTo>
                <a:lnTo>
                  <a:pt x="0" y="1391427"/>
                </a:lnTo>
                <a:lnTo>
                  <a:pt x="0" y="0"/>
                </a:lnTo>
                <a:close/>
              </a:path>
            </a:pathLst>
          </a:custGeom>
          <a:blipFill rotWithShape="1">
            <a:blip r:embed="rId3">
              <a:alphaModFix/>
            </a:blip>
            <a:stretch>
              <a:fillRect b="0" l="0" r="0" t="0"/>
            </a:stretch>
          </a:blipFill>
          <a:ln>
            <a:noFill/>
          </a:ln>
        </p:spPr>
      </p:sp>
      <p:sp>
        <p:nvSpPr>
          <p:cNvPr id="397" name="Google Shape;397;g33f91133ea5_0_144"/>
          <p:cNvSpPr/>
          <p:nvPr/>
        </p:nvSpPr>
        <p:spPr>
          <a:xfrm>
            <a:off x="13712371" y="-376944"/>
            <a:ext cx="1258008" cy="1289163"/>
          </a:xfrm>
          <a:custGeom>
            <a:rect b="b" l="l" r="r" t="t"/>
            <a:pathLst>
              <a:path extrusionOk="0" h="1289163" w="1258008">
                <a:moveTo>
                  <a:pt x="0" y="0"/>
                </a:moveTo>
                <a:lnTo>
                  <a:pt x="1258007" y="0"/>
                </a:lnTo>
                <a:lnTo>
                  <a:pt x="1258007" y="1289162"/>
                </a:lnTo>
                <a:lnTo>
                  <a:pt x="0" y="1289162"/>
                </a:lnTo>
                <a:lnTo>
                  <a:pt x="0" y="0"/>
                </a:lnTo>
                <a:close/>
              </a:path>
            </a:pathLst>
          </a:custGeom>
          <a:blipFill rotWithShape="1">
            <a:blip r:embed="rId4">
              <a:alphaModFix/>
            </a:blip>
            <a:stretch>
              <a:fillRect b="0" l="0" r="0" t="0"/>
            </a:stretch>
          </a:blipFill>
          <a:ln>
            <a:noFill/>
          </a:ln>
        </p:spPr>
      </p:sp>
      <p:grpSp>
        <p:nvGrpSpPr>
          <p:cNvPr id="398" name="Google Shape;398;g33f91133ea5_0_144"/>
          <p:cNvGrpSpPr/>
          <p:nvPr/>
        </p:nvGrpSpPr>
        <p:grpSpPr>
          <a:xfrm>
            <a:off x="118900" y="9392235"/>
            <a:ext cx="10607763" cy="739758"/>
            <a:chOff x="2577" y="877098"/>
            <a:chExt cx="10553938" cy="917700"/>
          </a:xfrm>
        </p:grpSpPr>
        <p:sp>
          <p:nvSpPr>
            <p:cNvPr id="399" name="Google Shape;399;g33f91133ea5_0_144"/>
            <p:cNvSpPr/>
            <p:nvPr/>
          </p:nvSpPr>
          <p:spPr>
            <a:xfrm>
              <a:off x="2577"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g33f91133ea5_0_144"/>
            <p:cNvSpPr txBox="1"/>
            <p:nvPr/>
          </p:nvSpPr>
          <p:spPr>
            <a:xfrm>
              <a:off x="571834" y="1021426"/>
              <a:ext cx="1155900" cy="5910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i="0" lang="en-US" u="none" cap="none" strike="noStrike">
                  <a:solidFill>
                    <a:srgbClr val="002060"/>
                  </a:solidFill>
                </a:rPr>
                <a:t>Busine</a:t>
              </a:r>
              <a:r>
                <a:rPr lang="en-US">
                  <a:solidFill>
                    <a:srgbClr val="002060"/>
                  </a:solidFill>
                </a:rPr>
                <a:t>s</a:t>
              </a:r>
              <a:r>
                <a:rPr i="0" lang="en-US" u="none" cap="none" strike="noStrike">
                  <a:solidFill>
                    <a:srgbClr val="002060"/>
                  </a:solidFill>
                </a:rPr>
                <a:t>s Problem</a:t>
              </a:r>
              <a:endParaRPr i="0" u="none" cap="none" strike="noStrike">
                <a:solidFill>
                  <a:srgbClr val="002060"/>
                </a:solidFill>
              </a:endParaRPr>
            </a:p>
          </p:txBody>
        </p:sp>
        <p:sp>
          <p:nvSpPr>
            <p:cNvPr id="401" name="Google Shape;401;g33f91133ea5_0_144"/>
            <p:cNvSpPr/>
            <p:nvPr/>
          </p:nvSpPr>
          <p:spPr>
            <a:xfrm>
              <a:off x="2067462"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g33f91133ea5_0_144"/>
            <p:cNvSpPr txBox="1"/>
            <p:nvPr/>
          </p:nvSpPr>
          <p:spPr>
            <a:xfrm>
              <a:off x="2561114" y="972834"/>
              <a:ext cx="1155900" cy="6882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i="0" lang="en-US" u="none" cap="none" strike="noStrike">
                  <a:solidFill>
                    <a:srgbClr val="002060"/>
                  </a:solidFill>
                </a:rPr>
                <a:t>EDA &amp; Insights</a:t>
              </a:r>
              <a:endParaRPr i="0" u="none" cap="none" strike="noStrike">
                <a:solidFill>
                  <a:srgbClr val="002060"/>
                </a:solidFill>
              </a:endParaRPr>
            </a:p>
          </p:txBody>
        </p:sp>
        <p:sp>
          <p:nvSpPr>
            <p:cNvPr id="403" name="Google Shape;403;g33f91133ea5_0_144"/>
            <p:cNvSpPr/>
            <p:nvPr/>
          </p:nvSpPr>
          <p:spPr>
            <a:xfrm>
              <a:off x="4132346" y="877098"/>
              <a:ext cx="2294400" cy="917700"/>
            </a:xfrm>
            <a:prstGeom prst="chevron">
              <a:avLst>
                <a:gd fmla="val 50000" name="adj"/>
              </a:avLst>
            </a:prstGeom>
            <a:solidFill>
              <a:schemeClr val="lt2"/>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g33f91133ea5_0_144"/>
            <p:cNvSpPr/>
            <p:nvPr/>
          </p:nvSpPr>
          <p:spPr>
            <a:xfrm>
              <a:off x="6197231"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g33f91133ea5_0_144"/>
            <p:cNvSpPr txBox="1"/>
            <p:nvPr/>
          </p:nvSpPr>
          <p:spPr>
            <a:xfrm>
              <a:off x="6668795" y="973848"/>
              <a:ext cx="1489500" cy="688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Campaign Prediction</a:t>
              </a:r>
              <a:endParaRPr i="0" u="none" cap="none" strike="noStrike">
                <a:solidFill>
                  <a:srgbClr val="002060"/>
                </a:solidFill>
              </a:endParaRPr>
            </a:p>
          </p:txBody>
        </p:sp>
        <p:sp>
          <p:nvSpPr>
            <p:cNvPr id="406" name="Google Shape;406;g33f91133ea5_0_144"/>
            <p:cNvSpPr/>
            <p:nvPr/>
          </p:nvSpPr>
          <p:spPr>
            <a:xfrm>
              <a:off x="8262115"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g33f91133ea5_0_144"/>
            <p:cNvSpPr txBox="1"/>
            <p:nvPr/>
          </p:nvSpPr>
          <p:spPr>
            <a:xfrm>
              <a:off x="8648985" y="973811"/>
              <a:ext cx="1489500" cy="724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Recommendation</a:t>
              </a:r>
              <a:endParaRPr i="0" u="none" cap="none" strike="noStrike">
                <a:solidFill>
                  <a:srgbClr val="002060"/>
                </a:solidFill>
              </a:endParaRPr>
            </a:p>
          </p:txBody>
        </p:sp>
        <p:sp>
          <p:nvSpPr>
            <p:cNvPr id="408" name="Google Shape;408;g33f91133ea5_0_144"/>
            <p:cNvSpPr txBox="1"/>
            <p:nvPr/>
          </p:nvSpPr>
          <p:spPr>
            <a:xfrm>
              <a:off x="4550363" y="955709"/>
              <a:ext cx="1489500" cy="7242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Clustering &amp; Segmentation</a:t>
              </a:r>
              <a:endParaRPr i="0" u="none" cap="none" strike="noStrike">
                <a:solidFill>
                  <a:srgbClr val="002060"/>
                </a:solidFill>
              </a:endParaRPr>
            </a:p>
          </p:txBody>
        </p:sp>
      </p:grpSp>
      <p:sp>
        <p:nvSpPr>
          <p:cNvPr id="409" name="Google Shape;409;g33f91133ea5_0_144"/>
          <p:cNvSpPr/>
          <p:nvPr/>
        </p:nvSpPr>
        <p:spPr>
          <a:xfrm>
            <a:off x="13029268" y="912218"/>
            <a:ext cx="870958" cy="1074704"/>
          </a:xfrm>
          <a:custGeom>
            <a:rect b="b" l="l" r="r" t="t"/>
            <a:pathLst>
              <a:path extrusionOk="0" h="1074704" w="870958">
                <a:moveTo>
                  <a:pt x="0" y="0"/>
                </a:moveTo>
                <a:lnTo>
                  <a:pt x="870958" y="0"/>
                </a:lnTo>
                <a:lnTo>
                  <a:pt x="870958" y="1074704"/>
                </a:lnTo>
                <a:lnTo>
                  <a:pt x="0" y="1074704"/>
                </a:lnTo>
                <a:lnTo>
                  <a:pt x="0" y="0"/>
                </a:lnTo>
                <a:close/>
              </a:path>
            </a:pathLst>
          </a:custGeom>
          <a:blipFill rotWithShape="1">
            <a:blip r:embed="rId5">
              <a:alphaModFix/>
            </a:blip>
            <a:stretch>
              <a:fillRect b="0" l="0" r="0" t="0"/>
            </a:stretch>
          </a:blipFill>
          <a:ln>
            <a:noFill/>
          </a:ln>
        </p:spPr>
      </p:sp>
      <p:sp>
        <p:nvSpPr>
          <p:cNvPr id="410" name="Google Shape;410;g33f91133ea5_0_144"/>
          <p:cNvSpPr/>
          <p:nvPr/>
        </p:nvSpPr>
        <p:spPr>
          <a:xfrm>
            <a:off x="14205026" y="468552"/>
            <a:ext cx="1459264" cy="1962035"/>
          </a:xfrm>
          <a:custGeom>
            <a:rect b="b" l="l" r="r" t="t"/>
            <a:pathLst>
              <a:path extrusionOk="0" h="1962035" w="1459264">
                <a:moveTo>
                  <a:pt x="0" y="0"/>
                </a:moveTo>
                <a:lnTo>
                  <a:pt x="1459264" y="0"/>
                </a:lnTo>
                <a:lnTo>
                  <a:pt x="1459264" y="1962036"/>
                </a:lnTo>
                <a:lnTo>
                  <a:pt x="0" y="1962036"/>
                </a:lnTo>
                <a:lnTo>
                  <a:pt x="0" y="0"/>
                </a:lnTo>
                <a:close/>
              </a:path>
            </a:pathLst>
          </a:custGeom>
          <a:blipFill rotWithShape="1">
            <a:blip r:embed="rId6">
              <a:alphaModFix/>
            </a:blip>
            <a:stretch>
              <a:fillRect b="0" l="0" r="0" t="0"/>
            </a:stretch>
          </a:blipFill>
          <a:ln>
            <a:noFill/>
          </a:ln>
        </p:spPr>
      </p:sp>
      <p:sp>
        <p:nvSpPr>
          <p:cNvPr id="411" name="Google Shape;411;g33f91133ea5_0_144"/>
          <p:cNvSpPr txBox="1"/>
          <p:nvPr/>
        </p:nvSpPr>
        <p:spPr>
          <a:xfrm>
            <a:off x="11629525" y="2990650"/>
            <a:ext cx="3744900" cy="615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4000">
                <a:solidFill>
                  <a:srgbClr val="1D5732"/>
                </a:solidFill>
              </a:rPr>
              <a:t>Place</a:t>
            </a:r>
            <a:endParaRPr sz="4000">
              <a:solidFill>
                <a:srgbClr val="1D5732"/>
              </a:solidFill>
            </a:endParaRPr>
          </a:p>
        </p:txBody>
      </p:sp>
      <p:sp>
        <p:nvSpPr>
          <p:cNvPr id="412" name="Google Shape;412;g33f91133ea5_0_144"/>
          <p:cNvSpPr txBox="1"/>
          <p:nvPr/>
        </p:nvSpPr>
        <p:spPr>
          <a:xfrm>
            <a:off x="11571750" y="3719850"/>
            <a:ext cx="5157600" cy="4532700"/>
          </a:xfrm>
          <a:prstGeom prst="rect">
            <a:avLst/>
          </a:prstGeom>
          <a:noFill/>
          <a:ln cap="flat" cmpd="sng" w="114300">
            <a:solidFill>
              <a:srgbClr val="81A902"/>
            </a:solidFill>
            <a:prstDash val="solid"/>
            <a:round/>
            <a:headEnd len="sm" w="sm" type="none"/>
            <a:tailEnd len="sm" w="sm" type="none"/>
          </a:ln>
        </p:spPr>
        <p:txBody>
          <a:bodyPr anchorCtr="0" anchor="t" bIns="91425" lIns="91425" spcFirstLastPara="1" rIns="91425" wrap="square" tIns="91425">
            <a:noAutofit/>
          </a:bodyPr>
          <a:lstStyle/>
          <a:p>
            <a:pPr indent="-387350" lvl="0" marL="457200" rtl="0" algn="l">
              <a:spcBef>
                <a:spcPts val="0"/>
              </a:spcBef>
              <a:spcAft>
                <a:spcPts val="0"/>
              </a:spcAft>
              <a:buClr>
                <a:srgbClr val="1D5732"/>
              </a:buClr>
              <a:buSzPts val="2500"/>
              <a:buChar char="●"/>
            </a:pPr>
            <a:r>
              <a:rPr b="1" lang="en-US" sz="2500">
                <a:solidFill>
                  <a:srgbClr val="1D5732"/>
                </a:solidFill>
              </a:rPr>
              <a:t>Premium Shoppers </a:t>
            </a:r>
            <a:endParaRPr b="1" sz="2500">
              <a:solidFill>
                <a:srgbClr val="1D5732"/>
              </a:solidFill>
            </a:endParaRPr>
          </a:p>
          <a:p>
            <a:pPr indent="-387350" lvl="1" marL="914400" rtl="0" algn="l">
              <a:spcBef>
                <a:spcPts val="0"/>
              </a:spcBef>
              <a:spcAft>
                <a:spcPts val="0"/>
              </a:spcAft>
              <a:buClr>
                <a:srgbClr val="1D5732"/>
              </a:buClr>
              <a:buSzPts val="2500"/>
              <a:buChar char="○"/>
            </a:pPr>
            <a:r>
              <a:rPr lang="en-US" sz="2500">
                <a:solidFill>
                  <a:srgbClr val="1D5732"/>
                </a:solidFill>
              </a:rPr>
              <a:t>higher catalog share</a:t>
            </a:r>
            <a:endParaRPr sz="2500">
              <a:solidFill>
                <a:srgbClr val="1D5732"/>
              </a:solidFill>
            </a:endParaRPr>
          </a:p>
          <a:p>
            <a:pPr indent="-387350" lvl="1" marL="914400" rtl="0" algn="l">
              <a:spcBef>
                <a:spcPts val="0"/>
              </a:spcBef>
              <a:spcAft>
                <a:spcPts val="0"/>
              </a:spcAft>
              <a:buClr>
                <a:srgbClr val="1D5732"/>
              </a:buClr>
              <a:buSzPts val="2500"/>
              <a:buChar char="○"/>
            </a:pPr>
            <a:r>
              <a:rPr lang="en-US" sz="2500">
                <a:solidFill>
                  <a:srgbClr val="1D5732"/>
                </a:solidFill>
              </a:rPr>
              <a:t>suggesting a preference for personalized, high-end offerings</a:t>
            </a:r>
            <a:r>
              <a:rPr lang="en-US" sz="2500">
                <a:solidFill>
                  <a:srgbClr val="1D5732"/>
                </a:solidFill>
              </a:rPr>
              <a:t> </a:t>
            </a:r>
            <a:endParaRPr sz="2500">
              <a:solidFill>
                <a:srgbClr val="1D5732"/>
              </a:solidFill>
            </a:endParaRPr>
          </a:p>
          <a:p>
            <a:pPr indent="-387350" lvl="0" marL="457200" rtl="0" algn="l">
              <a:spcBef>
                <a:spcPts val="0"/>
              </a:spcBef>
              <a:spcAft>
                <a:spcPts val="0"/>
              </a:spcAft>
              <a:buClr>
                <a:srgbClr val="1D5732"/>
              </a:buClr>
              <a:buSzPts val="2500"/>
              <a:buChar char="●"/>
            </a:pPr>
            <a:r>
              <a:rPr b="1" lang="en-US" sz="2500">
                <a:solidFill>
                  <a:srgbClr val="1D5732"/>
                </a:solidFill>
              </a:rPr>
              <a:t>Budget-Conscious Young &amp; Senior Deal Hunters</a:t>
            </a:r>
            <a:r>
              <a:rPr lang="en-US" sz="2500">
                <a:solidFill>
                  <a:srgbClr val="1D5732"/>
                </a:solidFill>
              </a:rPr>
              <a:t>: </a:t>
            </a:r>
            <a:endParaRPr sz="2500">
              <a:solidFill>
                <a:srgbClr val="1D5732"/>
              </a:solidFill>
            </a:endParaRPr>
          </a:p>
          <a:p>
            <a:pPr indent="-387350" lvl="1" marL="914400" rtl="0" algn="l">
              <a:spcBef>
                <a:spcPts val="0"/>
              </a:spcBef>
              <a:spcAft>
                <a:spcPts val="0"/>
              </a:spcAft>
              <a:buClr>
                <a:srgbClr val="1D5732"/>
              </a:buClr>
              <a:buSzPts val="2500"/>
              <a:buChar char="○"/>
            </a:pPr>
            <a:r>
              <a:rPr lang="en-US" sz="2500">
                <a:solidFill>
                  <a:srgbClr val="1D5732"/>
                </a:solidFill>
              </a:rPr>
              <a:t>Highly rely on in-store purchase for deals</a:t>
            </a:r>
            <a:endParaRPr sz="2500">
              <a:solidFill>
                <a:srgbClr val="1D5732"/>
              </a:solidFill>
            </a:endParaRPr>
          </a:p>
          <a:p>
            <a:pPr indent="-387350" lvl="0" marL="457200" rtl="0" algn="l">
              <a:spcBef>
                <a:spcPts val="0"/>
              </a:spcBef>
              <a:spcAft>
                <a:spcPts val="0"/>
              </a:spcAft>
              <a:buClr>
                <a:srgbClr val="1D5732"/>
              </a:buClr>
              <a:buSzPts val="2500"/>
              <a:buChar char="●"/>
            </a:pPr>
            <a:r>
              <a:rPr b="1" lang="en-US" sz="2500">
                <a:solidFill>
                  <a:srgbClr val="1D5732"/>
                </a:solidFill>
              </a:rPr>
              <a:t>Balanced Spenders: </a:t>
            </a:r>
            <a:r>
              <a:rPr lang="en-US" sz="2500">
                <a:solidFill>
                  <a:srgbClr val="1D5732"/>
                </a:solidFill>
              </a:rPr>
              <a:t> </a:t>
            </a:r>
            <a:endParaRPr sz="2500">
              <a:solidFill>
                <a:srgbClr val="1D5732"/>
              </a:solidFill>
            </a:endParaRPr>
          </a:p>
          <a:p>
            <a:pPr indent="-387350" lvl="1" marL="914400" rtl="0" algn="l">
              <a:spcBef>
                <a:spcPts val="0"/>
              </a:spcBef>
              <a:spcAft>
                <a:spcPts val="0"/>
              </a:spcAft>
              <a:buClr>
                <a:srgbClr val="1D5732"/>
              </a:buClr>
              <a:buSzPts val="2500"/>
              <a:buChar char="○"/>
            </a:pPr>
            <a:r>
              <a:rPr lang="en-US" sz="2500">
                <a:solidFill>
                  <a:srgbClr val="1D5732"/>
                </a:solidFill>
              </a:rPr>
              <a:t>omni-channel</a:t>
            </a:r>
            <a:endParaRPr sz="2500">
              <a:solidFill>
                <a:srgbClr val="1D5732"/>
              </a:solidFill>
            </a:endParaRPr>
          </a:p>
          <a:p>
            <a:pPr indent="0" lvl="0" marL="457200" rtl="0" algn="l">
              <a:spcBef>
                <a:spcPts val="0"/>
              </a:spcBef>
              <a:spcAft>
                <a:spcPts val="0"/>
              </a:spcAft>
              <a:buNone/>
            </a:pPr>
            <a:r>
              <a:t/>
            </a:r>
            <a:endParaRPr sz="2500">
              <a:solidFill>
                <a:srgbClr val="1D5732"/>
              </a:solidFill>
            </a:endParaRPr>
          </a:p>
          <a:p>
            <a:pPr indent="0" lvl="0" marL="457200" rtl="0" algn="l">
              <a:spcBef>
                <a:spcPts val="0"/>
              </a:spcBef>
              <a:spcAft>
                <a:spcPts val="0"/>
              </a:spcAft>
              <a:buNone/>
            </a:pPr>
            <a:r>
              <a:t/>
            </a:r>
            <a:endParaRPr sz="2500">
              <a:solidFill>
                <a:srgbClr val="1D5732"/>
              </a:solidFill>
            </a:endParaRPr>
          </a:p>
          <a:p>
            <a:pPr indent="0" lvl="0" marL="457200" rtl="0" algn="l">
              <a:spcBef>
                <a:spcPts val="0"/>
              </a:spcBef>
              <a:spcAft>
                <a:spcPts val="0"/>
              </a:spcAft>
              <a:buNone/>
            </a:pPr>
            <a:r>
              <a:t/>
            </a:r>
            <a:endParaRPr sz="4600">
              <a:solidFill>
                <a:srgbClr val="1D5732"/>
              </a:solidFill>
              <a:latin typeface="Calibri"/>
              <a:ea typeface="Calibri"/>
              <a:cs typeface="Calibri"/>
              <a:sym typeface="Calibri"/>
            </a:endParaRPr>
          </a:p>
        </p:txBody>
      </p:sp>
      <p:pic>
        <p:nvPicPr>
          <p:cNvPr id="413" name="Google Shape;413;g33f91133ea5_0_144" title="Screenshot 2025-03-12 at 11.10.52 PM.png"/>
          <p:cNvPicPr preferRelativeResize="0"/>
          <p:nvPr/>
        </p:nvPicPr>
        <p:blipFill>
          <a:blip r:embed="rId7">
            <a:alphaModFix/>
          </a:blip>
          <a:stretch>
            <a:fillRect/>
          </a:stretch>
        </p:blipFill>
        <p:spPr>
          <a:xfrm>
            <a:off x="1252225" y="2554464"/>
            <a:ext cx="10023850" cy="574611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3B1"/>
        </a:solidFill>
      </p:bgPr>
    </p:bg>
    <p:spTree>
      <p:nvGrpSpPr>
        <p:cNvPr id="417" name="Shape 417"/>
        <p:cNvGrpSpPr/>
        <p:nvPr/>
      </p:nvGrpSpPr>
      <p:grpSpPr>
        <a:xfrm>
          <a:off x="0" y="0"/>
          <a:ext cx="0" cy="0"/>
          <a:chOff x="0" y="0"/>
          <a:chExt cx="0" cy="0"/>
        </a:xfrm>
      </p:grpSpPr>
      <p:sp>
        <p:nvSpPr>
          <p:cNvPr id="418" name="Google Shape;418;g33f545acea5_1_123"/>
          <p:cNvSpPr txBox="1"/>
          <p:nvPr/>
        </p:nvSpPr>
        <p:spPr>
          <a:xfrm>
            <a:off x="566425" y="561625"/>
            <a:ext cx="116958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6000">
                <a:solidFill>
                  <a:srgbClr val="1D5732"/>
                </a:solidFill>
              </a:rPr>
              <a:t>Campaign Prediction</a:t>
            </a:r>
            <a:endParaRPr sz="6000">
              <a:solidFill>
                <a:srgbClr val="1D5732"/>
              </a:solidFill>
            </a:endParaRPr>
          </a:p>
        </p:txBody>
      </p:sp>
      <p:sp>
        <p:nvSpPr>
          <p:cNvPr id="419" name="Google Shape;419;g33f545acea5_1_123"/>
          <p:cNvSpPr txBox="1"/>
          <p:nvPr/>
        </p:nvSpPr>
        <p:spPr>
          <a:xfrm>
            <a:off x="15969090" y="962025"/>
            <a:ext cx="1267800" cy="615600"/>
          </a:xfrm>
          <a:prstGeom prst="rect">
            <a:avLst/>
          </a:prstGeom>
          <a:noFill/>
          <a:ln>
            <a:noFill/>
          </a:ln>
        </p:spPr>
        <p:txBody>
          <a:bodyPr anchorCtr="0" anchor="t" bIns="0" lIns="0" spcFirstLastPara="1" rIns="0" wrap="square" tIns="0">
            <a:spAutoFit/>
          </a:bodyPr>
          <a:lstStyle/>
          <a:p>
            <a:pPr indent="0" lvl="0" marL="0" marR="0" rtl="0" algn="r">
              <a:lnSpc>
                <a:spcPct val="140010"/>
              </a:lnSpc>
              <a:spcBef>
                <a:spcPts val="0"/>
              </a:spcBef>
              <a:spcAft>
                <a:spcPts val="0"/>
              </a:spcAft>
              <a:buNone/>
            </a:pPr>
            <a:r>
              <a:rPr b="1" i="0" lang="en-US" sz="3999" u="none" cap="none" strike="noStrike">
                <a:solidFill>
                  <a:srgbClr val="EEE3B1"/>
                </a:solidFill>
                <a:latin typeface="Arial"/>
                <a:ea typeface="Arial"/>
                <a:cs typeface="Arial"/>
                <a:sym typeface="Arial"/>
              </a:rPr>
              <a:t>03</a:t>
            </a:r>
            <a:endParaRPr/>
          </a:p>
        </p:txBody>
      </p:sp>
      <p:grpSp>
        <p:nvGrpSpPr>
          <p:cNvPr id="420" name="Google Shape;420;g33f545acea5_1_123"/>
          <p:cNvGrpSpPr/>
          <p:nvPr/>
        </p:nvGrpSpPr>
        <p:grpSpPr>
          <a:xfrm>
            <a:off x="-50" y="9147925"/>
            <a:ext cx="18288118" cy="1139089"/>
            <a:chOff x="0" y="-28575"/>
            <a:chExt cx="4816592" cy="792134"/>
          </a:xfrm>
        </p:grpSpPr>
        <p:sp>
          <p:nvSpPr>
            <p:cNvPr id="421" name="Google Shape;421;g33f545acea5_1_123"/>
            <p:cNvSpPr/>
            <p:nvPr/>
          </p:nvSpPr>
          <p:spPr>
            <a:xfrm>
              <a:off x="0" y="0"/>
              <a:ext cx="4816592" cy="763559"/>
            </a:xfrm>
            <a:custGeom>
              <a:rect b="b" l="l" r="r" t="t"/>
              <a:pathLst>
                <a:path extrusionOk="0" h="763559" w="4816592">
                  <a:moveTo>
                    <a:pt x="0" y="0"/>
                  </a:moveTo>
                  <a:lnTo>
                    <a:pt x="4816592" y="0"/>
                  </a:lnTo>
                  <a:lnTo>
                    <a:pt x="4816592" y="763559"/>
                  </a:lnTo>
                  <a:lnTo>
                    <a:pt x="0" y="763559"/>
                  </a:lnTo>
                  <a:close/>
                </a:path>
              </a:pathLst>
            </a:custGeom>
            <a:solidFill>
              <a:srgbClr val="1D5732"/>
            </a:solidFill>
            <a:ln>
              <a:noFill/>
            </a:ln>
          </p:spPr>
        </p:sp>
        <p:sp>
          <p:nvSpPr>
            <p:cNvPr id="422" name="Google Shape;422;g33f545acea5_1_123"/>
            <p:cNvSpPr txBox="1"/>
            <p:nvPr/>
          </p:nvSpPr>
          <p:spPr>
            <a:xfrm>
              <a:off x="0" y="-28575"/>
              <a:ext cx="4816500" cy="7920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23" name="Google Shape;423;g33f545acea5_1_123"/>
          <p:cNvSpPr/>
          <p:nvPr/>
        </p:nvSpPr>
        <p:spPr>
          <a:xfrm>
            <a:off x="13638668" y="107231"/>
            <a:ext cx="870958" cy="1074704"/>
          </a:xfrm>
          <a:custGeom>
            <a:rect b="b" l="l" r="r" t="t"/>
            <a:pathLst>
              <a:path extrusionOk="0" h="1074704" w="870958">
                <a:moveTo>
                  <a:pt x="0" y="0"/>
                </a:moveTo>
                <a:lnTo>
                  <a:pt x="870958" y="0"/>
                </a:lnTo>
                <a:lnTo>
                  <a:pt x="870958" y="1074704"/>
                </a:lnTo>
                <a:lnTo>
                  <a:pt x="0" y="1074704"/>
                </a:lnTo>
                <a:lnTo>
                  <a:pt x="0" y="0"/>
                </a:lnTo>
                <a:close/>
              </a:path>
            </a:pathLst>
          </a:custGeom>
          <a:blipFill rotWithShape="1">
            <a:blip r:embed="rId3">
              <a:alphaModFix/>
            </a:blip>
            <a:stretch>
              <a:fillRect b="0" l="0" r="0" t="0"/>
            </a:stretch>
          </a:blipFill>
          <a:ln>
            <a:noFill/>
          </a:ln>
        </p:spPr>
      </p:sp>
      <p:sp>
        <p:nvSpPr>
          <p:cNvPr id="424" name="Google Shape;424;g33f545acea5_1_123"/>
          <p:cNvSpPr/>
          <p:nvPr/>
        </p:nvSpPr>
        <p:spPr>
          <a:xfrm rot="1282585">
            <a:off x="15816692" y="1531332"/>
            <a:ext cx="1351560" cy="1393361"/>
          </a:xfrm>
          <a:custGeom>
            <a:rect b="b" l="l" r="r" t="t"/>
            <a:pathLst>
              <a:path extrusionOk="0" h="1391427" w="1349684">
                <a:moveTo>
                  <a:pt x="0" y="0"/>
                </a:moveTo>
                <a:lnTo>
                  <a:pt x="1349684" y="0"/>
                </a:lnTo>
                <a:lnTo>
                  <a:pt x="1349684" y="1391427"/>
                </a:lnTo>
                <a:lnTo>
                  <a:pt x="0" y="1391427"/>
                </a:lnTo>
                <a:lnTo>
                  <a:pt x="0" y="0"/>
                </a:lnTo>
                <a:close/>
              </a:path>
            </a:pathLst>
          </a:custGeom>
          <a:blipFill rotWithShape="1">
            <a:blip r:embed="rId4">
              <a:alphaModFix/>
            </a:blip>
            <a:stretch>
              <a:fillRect b="0" l="0" r="0" t="0"/>
            </a:stretch>
          </a:blipFill>
          <a:ln>
            <a:noFill/>
          </a:ln>
        </p:spPr>
      </p:sp>
      <p:sp>
        <p:nvSpPr>
          <p:cNvPr id="425" name="Google Shape;425;g33f545acea5_1_123"/>
          <p:cNvSpPr/>
          <p:nvPr/>
        </p:nvSpPr>
        <p:spPr>
          <a:xfrm>
            <a:off x="16514296" y="6"/>
            <a:ext cx="1258008" cy="1289163"/>
          </a:xfrm>
          <a:custGeom>
            <a:rect b="b" l="l" r="r" t="t"/>
            <a:pathLst>
              <a:path extrusionOk="0" h="1289163" w="1258008">
                <a:moveTo>
                  <a:pt x="0" y="0"/>
                </a:moveTo>
                <a:lnTo>
                  <a:pt x="1258007" y="0"/>
                </a:lnTo>
                <a:lnTo>
                  <a:pt x="1258007" y="1289162"/>
                </a:lnTo>
                <a:lnTo>
                  <a:pt x="0" y="1289162"/>
                </a:lnTo>
                <a:lnTo>
                  <a:pt x="0" y="0"/>
                </a:lnTo>
                <a:close/>
              </a:path>
            </a:pathLst>
          </a:custGeom>
          <a:blipFill rotWithShape="1">
            <a:blip r:embed="rId5">
              <a:alphaModFix/>
            </a:blip>
            <a:stretch>
              <a:fillRect b="0" l="0" r="0" t="0"/>
            </a:stretch>
          </a:blipFill>
          <a:ln>
            <a:noFill/>
          </a:ln>
        </p:spPr>
      </p:sp>
      <p:sp>
        <p:nvSpPr>
          <p:cNvPr id="426" name="Google Shape;426;g33f545acea5_1_123"/>
          <p:cNvSpPr/>
          <p:nvPr/>
        </p:nvSpPr>
        <p:spPr>
          <a:xfrm>
            <a:off x="14205026" y="468552"/>
            <a:ext cx="1459264" cy="1962035"/>
          </a:xfrm>
          <a:custGeom>
            <a:rect b="b" l="l" r="r" t="t"/>
            <a:pathLst>
              <a:path extrusionOk="0" h="1962035" w="1459264">
                <a:moveTo>
                  <a:pt x="0" y="0"/>
                </a:moveTo>
                <a:lnTo>
                  <a:pt x="1459264" y="0"/>
                </a:lnTo>
                <a:lnTo>
                  <a:pt x="1459264" y="1962036"/>
                </a:lnTo>
                <a:lnTo>
                  <a:pt x="0" y="1962036"/>
                </a:lnTo>
                <a:lnTo>
                  <a:pt x="0" y="0"/>
                </a:lnTo>
                <a:close/>
              </a:path>
            </a:pathLst>
          </a:custGeom>
          <a:blipFill rotWithShape="1">
            <a:blip r:embed="rId6">
              <a:alphaModFix/>
            </a:blip>
            <a:stretch>
              <a:fillRect b="0" l="0" r="0" t="0"/>
            </a:stretch>
          </a:blipFill>
          <a:ln>
            <a:noFill/>
          </a:ln>
        </p:spPr>
      </p:sp>
      <p:grpSp>
        <p:nvGrpSpPr>
          <p:cNvPr id="427" name="Google Shape;427;g33f545acea5_1_123"/>
          <p:cNvGrpSpPr/>
          <p:nvPr/>
        </p:nvGrpSpPr>
        <p:grpSpPr>
          <a:xfrm>
            <a:off x="118900" y="9392235"/>
            <a:ext cx="10607763" cy="739758"/>
            <a:chOff x="2577" y="877098"/>
            <a:chExt cx="10553938" cy="917700"/>
          </a:xfrm>
        </p:grpSpPr>
        <p:sp>
          <p:nvSpPr>
            <p:cNvPr id="428" name="Google Shape;428;g33f545acea5_1_123"/>
            <p:cNvSpPr/>
            <p:nvPr/>
          </p:nvSpPr>
          <p:spPr>
            <a:xfrm>
              <a:off x="2577"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g33f545acea5_1_123"/>
            <p:cNvSpPr txBox="1"/>
            <p:nvPr/>
          </p:nvSpPr>
          <p:spPr>
            <a:xfrm>
              <a:off x="571834" y="1021426"/>
              <a:ext cx="1155900" cy="5910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i="0" lang="en-US" u="none" cap="none" strike="noStrike">
                  <a:solidFill>
                    <a:srgbClr val="002060"/>
                  </a:solidFill>
                </a:rPr>
                <a:t>Busine</a:t>
              </a:r>
              <a:r>
                <a:rPr lang="en-US">
                  <a:solidFill>
                    <a:srgbClr val="002060"/>
                  </a:solidFill>
                </a:rPr>
                <a:t>s</a:t>
              </a:r>
              <a:r>
                <a:rPr i="0" lang="en-US" u="none" cap="none" strike="noStrike">
                  <a:solidFill>
                    <a:srgbClr val="002060"/>
                  </a:solidFill>
                </a:rPr>
                <a:t>s Problem</a:t>
              </a:r>
              <a:endParaRPr i="0" u="none" cap="none" strike="noStrike">
                <a:solidFill>
                  <a:srgbClr val="002060"/>
                </a:solidFill>
              </a:endParaRPr>
            </a:p>
          </p:txBody>
        </p:sp>
        <p:sp>
          <p:nvSpPr>
            <p:cNvPr id="430" name="Google Shape;430;g33f545acea5_1_123"/>
            <p:cNvSpPr/>
            <p:nvPr/>
          </p:nvSpPr>
          <p:spPr>
            <a:xfrm>
              <a:off x="2067462"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g33f545acea5_1_123"/>
            <p:cNvSpPr txBox="1"/>
            <p:nvPr/>
          </p:nvSpPr>
          <p:spPr>
            <a:xfrm>
              <a:off x="2561114" y="972834"/>
              <a:ext cx="1155900" cy="6882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i="0" lang="en-US" u="none" cap="none" strike="noStrike">
                  <a:solidFill>
                    <a:srgbClr val="002060"/>
                  </a:solidFill>
                </a:rPr>
                <a:t>EDA &amp; Insights</a:t>
              </a:r>
              <a:endParaRPr i="0" u="none" cap="none" strike="noStrike">
                <a:solidFill>
                  <a:srgbClr val="002060"/>
                </a:solidFill>
              </a:endParaRPr>
            </a:p>
          </p:txBody>
        </p:sp>
        <p:sp>
          <p:nvSpPr>
            <p:cNvPr id="432" name="Google Shape;432;g33f545acea5_1_123"/>
            <p:cNvSpPr/>
            <p:nvPr/>
          </p:nvSpPr>
          <p:spPr>
            <a:xfrm>
              <a:off x="4132346"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g33f545acea5_1_123"/>
            <p:cNvSpPr/>
            <p:nvPr/>
          </p:nvSpPr>
          <p:spPr>
            <a:xfrm>
              <a:off x="6197231" y="877098"/>
              <a:ext cx="2294400" cy="917700"/>
            </a:xfrm>
            <a:prstGeom prst="chevron">
              <a:avLst>
                <a:gd fmla="val 50000" name="adj"/>
              </a:avLst>
            </a:prstGeom>
            <a:solidFill>
              <a:schemeClr val="lt2"/>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g33f545acea5_1_123"/>
            <p:cNvSpPr txBox="1"/>
            <p:nvPr/>
          </p:nvSpPr>
          <p:spPr>
            <a:xfrm>
              <a:off x="6668795" y="973848"/>
              <a:ext cx="1489500" cy="6882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Campaign Prediction</a:t>
              </a:r>
              <a:endParaRPr i="0" u="none" cap="none" strike="noStrike">
                <a:solidFill>
                  <a:srgbClr val="002060"/>
                </a:solidFill>
              </a:endParaRPr>
            </a:p>
          </p:txBody>
        </p:sp>
        <p:sp>
          <p:nvSpPr>
            <p:cNvPr id="435" name="Google Shape;435;g33f545acea5_1_123"/>
            <p:cNvSpPr/>
            <p:nvPr/>
          </p:nvSpPr>
          <p:spPr>
            <a:xfrm>
              <a:off x="8262115"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g33f545acea5_1_123"/>
            <p:cNvSpPr txBox="1"/>
            <p:nvPr/>
          </p:nvSpPr>
          <p:spPr>
            <a:xfrm>
              <a:off x="8648985" y="973811"/>
              <a:ext cx="1489500" cy="724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Recommendation</a:t>
              </a:r>
              <a:endParaRPr i="0" u="none" cap="none" strike="noStrike">
                <a:solidFill>
                  <a:srgbClr val="002060"/>
                </a:solidFill>
              </a:endParaRPr>
            </a:p>
          </p:txBody>
        </p:sp>
        <p:sp>
          <p:nvSpPr>
            <p:cNvPr id="437" name="Google Shape;437;g33f545acea5_1_123"/>
            <p:cNvSpPr txBox="1"/>
            <p:nvPr/>
          </p:nvSpPr>
          <p:spPr>
            <a:xfrm>
              <a:off x="4550363" y="955709"/>
              <a:ext cx="1489500" cy="7242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Clustering &amp; Segmentation</a:t>
              </a:r>
              <a:endParaRPr i="0" u="none" cap="none" strike="noStrike">
                <a:solidFill>
                  <a:srgbClr val="002060"/>
                </a:solidFill>
              </a:endParaRPr>
            </a:p>
          </p:txBody>
        </p:sp>
      </p:grpSp>
      <p:sp>
        <p:nvSpPr>
          <p:cNvPr id="438" name="Google Shape;438;g33f545acea5_1_123"/>
          <p:cNvSpPr txBox="1"/>
          <p:nvPr/>
        </p:nvSpPr>
        <p:spPr>
          <a:xfrm>
            <a:off x="317950" y="1485025"/>
            <a:ext cx="5452200" cy="829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None/>
            </a:pPr>
            <a:r>
              <a:t/>
            </a:r>
            <a:endParaRPr sz="2300">
              <a:solidFill>
                <a:srgbClr val="1D5732"/>
              </a:solidFill>
              <a:latin typeface="Roboto"/>
              <a:ea typeface="Roboto"/>
              <a:cs typeface="Roboto"/>
              <a:sym typeface="Roboto"/>
            </a:endParaRPr>
          </a:p>
          <a:p>
            <a:pPr indent="-374650" lvl="0" marL="457200" rtl="0" algn="l">
              <a:lnSpc>
                <a:spcPct val="115000"/>
              </a:lnSpc>
              <a:spcBef>
                <a:spcPts val="300"/>
              </a:spcBef>
              <a:spcAft>
                <a:spcPts val="0"/>
              </a:spcAft>
              <a:buClr>
                <a:srgbClr val="1D5732"/>
              </a:buClr>
              <a:buSzPts val="2300"/>
              <a:buFont typeface="Roboto"/>
              <a:buAutoNum type="arabicPeriod"/>
            </a:pPr>
            <a:r>
              <a:rPr b="1" lang="en-US" sz="2300">
                <a:solidFill>
                  <a:srgbClr val="1D5732"/>
                </a:solidFill>
                <a:latin typeface="Roboto"/>
                <a:ea typeface="Roboto"/>
                <a:cs typeface="Roboto"/>
                <a:sym typeface="Roboto"/>
              </a:rPr>
              <a:t>Model Training</a:t>
            </a:r>
            <a:r>
              <a:rPr lang="en-US" sz="2300">
                <a:solidFill>
                  <a:srgbClr val="1D5732"/>
                </a:solidFill>
                <a:latin typeface="Roboto"/>
                <a:ea typeface="Roboto"/>
                <a:cs typeface="Roboto"/>
                <a:sym typeface="Roboto"/>
              </a:rPr>
              <a:t>:</a:t>
            </a:r>
            <a:endParaRPr sz="2300">
              <a:solidFill>
                <a:srgbClr val="1D5732"/>
              </a:solidFill>
              <a:latin typeface="Roboto"/>
              <a:ea typeface="Roboto"/>
              <a:cs typeface="Roboto"/>
              <a:sym typeface="Roboto"/>
            </a:endParaRPr>
          </a:p>
          <a:p>
            <a:pPr indent="-374650" lvl="1" marL="914400" rtl="0" algn="l">
              <a:lnSpc>
                <a:spcPct val="115000"/>
              </a:lnSpc>
              <a:spcBef>
                <a:spcPts val="0"/>
              </a:spcBef>
              <a:spcAft>
                <a:spcPts val="0"/>
              </a:spcAft>
              <a:buClr>
                <a:srgbClr val="1D5732"/>
              </a:buClr>
              <a:buSzPts val="2300"/>
              <a:buFont typeface="Roboto"/>
              <a:buChar char="○"/>
            </a:pPr>
            <a:r>
              <a:rPr lang="en-US" sz="2300">
                <a:solidFill>
                  <a:srgbClr val="1D5732"/>
                </a:solidFill>
                <a:latin typeface="Roboto"/>
                <a:ea typeface="Roboto"/>
                <a:cs typeface="Roboto"/>
                <a:sym typeface="Roboto"/>
              </a:rPr>
              <a:t>Applies </a:t>
            </a:r>
            <a:r>
              <a:rPr b="1" lang="en-US" sz="2300">
                <a:solidFill>
                  <a:srgbClr val="1D5732"/>
                </a:solidFill>
                <a:latin typeface="Roboto"/>
                <a:ea typeface="Roboto"/>
                <a:cs typeface="Roboto"/>
                <a:sym typeface="Roboto"/>
              </a:rPr>
              <a:t>Random Forest Classifier</a:t>
            </a:r>
            <a:r>
              <a:rPr lang="en-US" sz="2300">
                <a:solidFill>
                  <a:srgbClr val="1D5732"/>
                </a:solidFill>
                <a:latin typeface="Roboto"/>
                <a:ea typeface="Roboto"/>
                <a:cs typeface="Roboto"/>
                <a:sym typeface="Roboto"/>
              </a:rPr>
              <a:t> with </a:t>
            </a:r>
            <a:r>
              <a:rPr b="1" lang="en-US" sz="2300">
                <a:solidFill>
                  <a:srgbClr val="1D5732"/>
                </a:solidFill>
                <a:latin typeface="Roboto"/>
                <a:ea typeface="Roboto"/>
                <a:cs typeface="Roboto"/>
                <a:sym typeface="Roboto"/>
              </a:rPr>
              <a:t>GridSearchCV</a:t>
            </a:r>
            <a:r>
              <a:rPr lang="en-US" sz="2300">
                <a:solidFill>
                  <a:srgbClr val="1D5732"/>
                </a:solidFill>
                <a:latin typeface="Roboto"/>
                <a:ea typeface="Roboto"/>
                <a:cs typeface="Roboto"/>
                <a:sym typeface="Roboto"/>
              </a:rPr>
              <a:t> for hyperparameter tuning.</a:t>
            </a:r>
            <a:endParaRPr sz="2300">
              <a:solidFill>
                <a:srgbClr val="1D5732"/>
              </a:solidFill>
              <a:latin typeface="Roboto"/>
              <a:ea typeface="Roboto"/>
              <a:cs typeface="Roboto"/>
              <a:sym typeface="Roboto"/>
            </a:endParaRPr>
          </a:p>
          <a:p>
            <a:pPr indent="-323850" lvl="1" marL="914400" rtl="0" algn="l">
              <a:lnSpc>
                <a:spcPct val="115000"/>
              </a:lnSpc>
              <a:spcBef>
                <a:spcPts val="0"/>
              </a:spcBef>
              <a:spcAft>
                <a:spcPts val="0"/>
              </a:spcAft>
              <a:buClr>
                <a:srgbClr val="1D5732"/>
              </a:buClr>
              <a:buSzPts val="1500"/>
              <a:buFont typeface="Roboto"/>
              <a:buChar char="○"/>
            </a:pPr>
            <a:r>
              <a:rPr b="1" lang="en-US" sz="2300">
                <a:solidFill>
                  <a:srgbClr val="1D5732"/>
                </a:solidFill>
                <a:latin typeface="Roboto"/>
                <a:ea typeface="Roboto"/>
                <a:cs typeface="Roboto"/>
                <a:sym typeface="Roboto"/>
              </a:rPr>
              <a:t>Optimizes parameters</a:t>
            </a:r>
            <a:r>
              <a:rPr lang="en-US" sz="2300">
                <a:solidFill>
                  <a:srgbClr val="1D5732"/>
                </a:solidFill>
                <a:latin typeface="Roboto"/>
                <a:ea typeface="Roboto"/>
                <a:cs typeface="Roboto"/>
                <a:sym typeface="Roboto"/>
              </a:rPr>
              <a:t> to find the best model.</a:t>
            </a:r>
            <a:endParaRPr sz="2300">
              <a:solidFill>
                <a:srgbClr val="1D5732"/>
              </a:solidFill>
              <a:latin typeface="Roboto"/>
              <a:ea typeface="Roboto"/>
              <a:cs typeface="Roboto"/>
              <a:sym typeface="Roboto"/>
            </a:endParaRPr>
          </a:p>
          <a:p>
            <a:pPr indent="0" lvl="0" marL="0" rtl="0" algn="l">
              <a:lnSpc>
                <a:spcPct val="115000"/>
              </a:lnSpc>
              <a:spcBef>
                <a:spcPts val="900"/>
              </a:spcBef>
              <a:spcAft>
                <a:spcPts val="0"/>
              </a:spcAft>
              <a:buNone/>
            </a:pPr>
            <a:r>
              <a:t/>
            </a:r>
            <a:endParaRPr sz="2300">
              <a:solidFill>
                <a:srgbClr val="1D5732"/>
              </a:solidFill>
              <a:latin typeface="Roboto"/>
              <a:ea typeface="Roboto"/>
              <a:cs typeface="Roboto"/>
              <a:sym typeface="Roboto"/>
            </a:endParaRPr>
          </a:p>
          <a:p>
            <a:pPr indent="-374650" lvl="0" marL="457200" rtl="0" algn="l">
              <a:lnSpc>
                <a:spcPct val="115000"/>
              </a:lnSpc>
              <a:spcBef>
                <a:spcPts val="300"/>
              </a:spcBef>
              <a:spcAft>
                <a:spcPts val="0"/>
              </a:spcAft>
              <a:buClr>
                <a:srgbClr val="1D5732"/>
              </a:buClr>
              <a:buSzPts val="2300"/>
              <a:buFont typeface="Roboto"/>
              <a:buAutoNum type="arabicPeriod"/>
            </a:pPr>
            <a:r>
              <a:rPr b="1" lang="en-US" sz="2300">
                <a:solidFill>
                  <a:srgbClr val="1D5732"/>
                </a:solidFill>
                <a:latin typeface="Roboto"/>
                <a:ea typeface="Roboto"/>
                <a:cs typeface="Roboto"/>
                <a:sym typeface="Roboto"/>
              </a:rPr>
              <a:t>Model Evaluation</a:t>
            </a:r>
            <a:r>
              <a:rPr lang="en-US" sz="2300">
                <a:solidFill>
                  <a:srgbClr val="1D5732"/>
                </a:solidFill>
                <a:latin typeface="Roboto"/>
                <a:ea typeface="Roboto"/>
                <a:cs typeface="Roboto"/>
                <a:sym typeface="Roboto"/>
              </a:rPr>
              <a:t>:</a:t>
            </a:r>
            <a:endParaRPr sz="2300">
              <a:solidFill>
                <a:srgbClr val="1D5732"/>
              </a:solidFill>
              <a:latin typeface="Roboto"/>
              <a:ea typeface="Roboto"/>
              <a:cs typeface="Roboto"/>
              <a:sym typeface="Roboto"/>
            </a:endParaRPr>
          </a:p>
          <a:p>
            <a:pPr indent="-374650" lvl="1" marL="914400" rtl="0" algn="l">
              <a:lnSpc>
                <a:spcPct val="115000"/>
              </a:lnSpc>
              <a:spcBef>
                <a:spcPts val="0"/>
              </a:spcBef>
              <a:spcAft>
                <a:spcPts val="0"/>
              </a:spcAft>
              <a:buClr>
                <a:srgbClr val="1D5732"/>
              </a:buClr>
              <a:buSzPts val="2300"/>
              <a:buFont typeface="Roboto"/>
              <a:buChar char="○"/>
            </a:pPr>
            <a:r>
              <a:rPr lang="en-US" sz="2300">
                <a:solidFill>
                  <a:srgbClr val="1D5732"/>
                </a:solidFill>
                <a:latin typeface="Roboto"/>
                <a:ea typeface="Roboto"/>
                <a:cs typeface="Roboto"/>
                <a:sym typeface="Roboto"/>
              </a:rPr>
              <a:t>Evaluates performance using </a:t>
            </a:r>
            <a:r>
              <a:rPr b="1" lang="en-US" sz="2300">
                <a:solidFill>
                  <a:srgbClr val="1D5732"/>
                </a:solidFill>
                <a:latin typeface="Roboto"/>
                <a:ea typeface="Roboto"/>
                <a:cs typeface="Roboto"/>
                <a:sym typeface="Roboto"/>
              </a:rPr>
              <a:t>Accuracy</a:t>
            </a:r>
            <a:r>
              <a:rPr lang="en-US" sz="2300">
                <a:solidFill>
                  <a:srgbClr val="1D5732"/>
                </a:solidFill>
                <a:latin typeface="Roboto"/>
                <a:ea typeface="Roboto"/>
                <a:cs typeface="Roboto"/>
                <a:sym typeface="Roboto"/>
              </a:rPr>
              <a:t>, </a:t>
            </a:r>
            <a:r>
              <a:rPr b="1" lang="en-US" sz="2300">
                <a:solidFill>
                  <a:srgbClr val="1D5732"/>
                </a:solidFill>
                <a:latin typeface="Roboto"/>
                <a:ea typeface="Roboto"/>
                <a:cs typeface="Roboto"/>
                <a:sym typeface="Roboto"/>
              </a:rPr>
              <a:t>Classification Report</a:t>
            </a:r>
            <a:r>
              <a:rPr lang="en-US" sz="2300">
                <a:solidFill>
                  <a:srgbClr val="1D5732"/>
                </a:solidFill>
                <a:latin typeface="Roboto"/>
                <a:ea typeface="Roboto"/>
                <a:cs typeface="Roboto"/>
                <a:sym typeface="Roboto"/>
              </a:rPr>
              <a:t>, and </a:t>
            </a:r>
            <a:r>
              <a:rPr b="1" lang="en-US" sz="2300">
                <a:solidFill>
                  <a:srgbClr val="1D5732"/>
                </a:solidFill>
                <a:latin typeface="Roboto"/>
                <a:ea typeface="Roboto"/>
                <a:cs typeface="Roboto"/>
                <a:sym typeface="Roboto"/>
              </a:rPr>
              <a:t>Confusion Matrix</a:t>
            </a:r>
            <a:r>
              <a:rPr lang="en-US" sz="2300">
                <a:solidFill>
                  <a:srgbClr val="1D5732"/>
                </a:solidFill>
                <a:latin typeface="Roboto"/>
                <a:ea typeface="Roboto"/>
                <a:cs typeface="Roboto"/>
                <a:sym typeface="Roboto"/>
              </a:rPr>
              <a:t>.</a:t>
            </a:r>
            <a:endParaRPr sz="2300">
              <a:solidFill>
                <a:srgbClr val="1D5732"/>
              </a:solidFill>
              <a:latin typeface="Roboto"/>
              <a:ea typeface="Roboto"/>
              <a:cs typeface="Roboto"/>
              <a:sym typeface="Roboto"/>
            </a:endParaRPr>
          </a:p>
          <a:p>
            <a:pPr indent="-374650" lvl="1" marL="914400" rtl="0" algn="l">
              <a:lnSpc>
                <a:spcPct val="115000"/>
              </a:lnSpc>
              <a:spcBef>
                <a:spcPts val="0"/>
              </a:spcBef>
              <a:spcAft>
                <a:spcPts val="0"/>
              </a:spcAft>
              <a:buClr>
                <a:srgbClr val="1D5732"/>
              </a:buClr>
              <a:buSzPts val="2300"/>
              <a:buFont typeface="Roboto"/>
              <a:buChar char="○"/>
            </a:pPr>
            <a:r>
              <a:rPr lang="en-US" sz="2300">
                <a:solidFill>
                  <a:srgbClr val="1D5732"/>
                </a:solidFill>
                <a:latin typeface="Roboto"/>
                <a:ea typeface="Roboto"/>
                <a:cs typeface="Roboto"/>
                <a:sym typeface="Roboto"/>
              </a:rPr>
              <a:t>Checks for </a:t>
            </a:r>
            <a:r>
              <a:rPr b="1" lang="en-US" sz="2300">
                <a:solidFill>
                  <a:srgbClr val="1D5732"/>
                </a:solidFill>
                <a:latin typeface="Roboto"/>
                <a:ea typeface="Roboto"/>
                <a:cs typeface="Roboto"/>
                <a:sym typeface="Roboto"/>
              </a:rPr>
              <a:t>overfitting</a:t>
            </a:r>
            <a:r>
              <a:rPr lang="en-US" sz="2300">
                <a:solidFill>
                  <a:srgbClr val="1D5732"/>
                </a:solidFill>
                <a:latin typeface="Roboto"/>
                <a:ea typeface="Roboto"/>
                <a:cs typeface="Roboto"/>
                <a:sym typeface="Roboto"/>
              </a:rPr>
              <a:t> by comparing training and testing accuracy.</a:t>
            </a:r>
            <a:endParaRPr sz="2300">
              <a:solidFill>
                <a:srgbClr val="1D5732"/>
              </a:solidFill>
              <a:latin typeface="Roboto"/>
              <a:ea typeface="Roboto"/>
              <a:cs typeface="Roboto"/>
              <a:sym typeface="Roboto"/>
            </a:endParaRPr>
          </a:p>
          <a:p>
            <a:pPr indent="-374650" lvl="1" marL="914400" rtl="0" algn="l">
              <a:lnSpc>
                <a:spcPct val="115000"/>
              </a:lnSpc>
              <a:spcBef>
                <a:spcPts val="0"/>
              </a:spcBef>
              <a:spcAft>
                <a:spcPts val="0"/>
              </a:spcAft>
              <a:buClr>
                <a:srgbClr val="1D5732"/>
              </a:buClr>
              <a:buSzPts val="2300"/>
              <a:buFont typeface="Roboto"/>
              <a:buChar char="○"/>
            </a:pPr>
            <a:r>
              <a:rPr lang="en-US" sz="2300">
                <a:solidFill>
                  <a:srgbClr val="1D5732"/>
                </a:solidFill>
                <a:latin typeface="Roboto"/>
                <a:ea typeface="Roboto"/>
                <a:cs typeface="Roboto"/>
                <a:sym typeface="Roboto"/>
              </a:rPr>
              <a:t>Generates </a:t>
            </a:r>
            <a:r>
              <a:rPr b="1" lang="en-US" sz="2300">
                <a:solidFill>
                  <a:srgbClr val="1D5732"/>
                </a:solidFill>
                <a:latin typeface="Roboto"/>
                <a:ea typeface="Roboto"/>
                <a:cs typeface="Roboto"/>
                <a:sym typeface="Roboto"/>
              </a:rPr>
              <a:t>AUC-ROC Curve</a:t>
            </a:r>
            <a:r>
              <a:rPr lang="en-US" sz="2300">
                <a:solidFill>
                  <a:srgbClr val="1D5732"/>
                </a:solidFill>
                <a:latin typeface="Roboto"/>
                <a:ea typeface="Roboto"/>
                <a:cs typeface="Roboto"/>
                <a:sym typeface="Roboto"/>
              </a:rPr>
              <a:t> to assess the model's ability to distinguish between classes.</a:t>
            </a:r>
            <a:endParaRPr sz="2300">
              <a:solidFill>
                <a:srgbClr val="1D5732"/>
              </a:solidFill>
              <a:latin typeface="Roboto"/>
              <a:ea typeface="Roboto"/>
              <a:cs typeface="Roboto"/>
              <a:sym typeface="Roboto"/>
            </a:endParaRPr>
          </a:p>
          <a:p>
            <a:pPr indent="0" lvl="0" marL="0" rtl="0" algn="l">
              <a:spcBef>
                <a:spcPts val="0"/>
              </a:spcBef>
              <a:spcAft>
                <a:spcPts val="0"/>
              </a:spcAft>
              <a:buNone/>
            </a:pPr>
            <a:r>
              <a:t/>
            </a:r>
            <a:endParaRPr sz="3800">
              <a:solidFill>
                <a:schemeClr val="dk1"/>
              </a:solidFill>
              <a:latin typeface="Calibri"/>
              <a:ea typeface="Calibri"/>
              <a:cs typeface="Calibri"/>
              <a:sym typeface="Calibri"/>
            </a:endParaRPr>
          </a:p>
        </p:txBody>
      </p:sp>
      <p:pic>
        <p:nvPicPr>
          <p:cNvPr id="439" name="Google Shape;439;g33f545acea5_1_123"/>
          <p:cNvPicPr preferRelativeResize="0"/>
          <p:nvPr/>
        </p:nvPicPr>
        <p:blipFill rotWithShape="1">
          <a:blip r:embed="rId7">
            <a:alphaModFix/>
          </a:blip>
          <a:srcRect b="76964" l="0" r="0" t="2340"/>
          <a:stretch/>
        </p:blipFill>
        <p:spPr>
          <a:xfrm>
            <a:off x="12114500" y="3292750"/>
            <a:ext cx="6088900" cy="663207"/>
          </a:xfrm>
          <a:prstGeom prst="rect">
            <a:avLst/>
          </a:prstGeom>
          <a:noFill/>
          <a:ln>
            <a:noFill/>
          </a:ln>
        </p:spPr>
      </p:pic>
      <p:pic>
        <p:nvPicPr>
          <p:cNvPr id="440" name="Google Shape;440;g33f545acea5_1_123"/>
          <p:cNvPicPr preferRelativeResize="0"/>
          <p:nvPr/>
        </p:nvPicPr>
        <p:blipFill>
          <a:blip r:embed="rId8">
            <a:alphaModFix/>
          </a:blip>
          <a:stretch>
            <a:fillRect/>
          </a:stretch>
        </p:blipFill>
        <p:spPr>
          <a:xfrm>
            <a:off x="12114500" y="4122713"/>
            <a:ext cx="6088901" cy="4724576"/>
          </a:xfrm>
          <a:prstGeom prst="rect">
            <a:avLst/>
          </a:prstGeom>
          <a:noFill/>
          <a:ln>
            <a:noFill/>
          </a:ln>
        </p:spPr>
      </p:pic>
      <p:pic>
        <p:nvPicPr>
          <p:cNvPr id="441" name="Google Shape;441;g33f545acea5_1_123"/>
          <p:cNvPicPr preferRelativeResize="0"/>
          <p:nvPr/>
        </p:nvPicPr>
        <p:blipFill>
          <a:blip r:embed="rId9">
            <a:alphaModFix/>
          </a:blip>
          <a:stretch>
            <a:fillRect/>
          </a:stretch>
        </p:blipFill>
        <p:spPr>
          <a:xfrm>
            <a:off x="6206000" y="4143525"/>
            <a:ext cx="5573274" cy="4682974"/>
          </a:xfrm>
          <a:prstGeom prst="rect">
            <a:avLst/>
          </a:prstGeom>
          <a:noFill/>
          <a:ln>
            <a:noFill/>
          </a:ln>
        </p:spPr>
      </p:pic>
      <p:pic>
        <p:nvPicPr>
          <p:cNvPr id="442" name="Google Shape;442;g33f545acea5_1_123"/>
          <p:cNvPicPr preferRelativeResize="0"/>
          <p:nvPr/>
        </p:nvPicPr>
        <p:blipFill rotWithShape="1">
          <a:blip r:embed="rId10">
            <a:alphaModFix/>
          </a:blip>
          <a:srcRect b="0" l="0" r="0" t="0"/>
          <a:stretch/>
        </p:blipFill>
        <p:spPr>
          <a:xfrm>
            <a:off x="6172388" y="1886450"/>
            <a:ext cx="5640500" cy="2102650"/>
          </a:xfrm>
          <a:prstGeom prst="rect">
            <a:avLst/>
          </a:prstGeom>
          <a:noFill/>
          <a:ln>
            <a:noFill/>
          </a:ln>
        </p:spPr>
      </p:pic>
      <p:sp>
        <p:nvSpPr>
          <p:cNvPr id="443" name="Google Shape;443;g33f545acea5_1_123"/>
          <p:cNvSpPr/>
          <p:nvPr/>
        </p:nvSpPr>
        <p:spPr>
          <a:xfrm>
            <a:off x="8387525" y="1711750"/>
            <a:ext cx="530100" cy="447300"/>
          </a:xfrm>
          <a:prstGeom prst="ellipse">
            <a:avLst/>
          </a:prstGeom>
          <a:noFill/>
          <a:ln cap="flat" cmpd="sng" w="76200">
            <a:solidFill>
              <a:srgbClr val="81A9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444" name="Google Shape;444;g33f545acea5_1_123"/>
          <p:cNvCxnSpPr/>
          <p:nvPr/>
        </p:nvCxnSpPr>
        <p:spPr>
          <a:xfrm flipH="1" rot="10800000">
            <a:off x="12114500" y="3948150"/>
            <a:ext cx="5582700" cy="7800"/>
          </a:xfrm>
          <a:prstGeom prst="straightConnector1">
            <a:avLst/>
          </a:prstGeom>
          <a:noFill/>
          <a:ln cap="flat" cmpd="sng" w="38100">
            <a:solidFill>
              <a:srgbClr val="81A902"/>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3B1"/>
        </a:solidFill>
      </p:bgPr>
    </p:bg>
    <p:spTree>
      <p:nvGrpSpPr>
        <p:cNvPr id="448" name="Shape 448"/>
        <p:cNvGrpSpPr/>
        <p:nvPr/>
      </p:nvGrpSpPr>
      <p:grpSpPr>
        <a:xfrm>
          <a:off x="0" y="0"/>
          <a:ext cx="0" cy="0"/>
          <a:chOff x="0" y="0"/>
          <a:chExt cx="0" cy="0"/>
        </a:xfrm>
      </p:grpSpPr>
      <p:sp>
        <p:nvSpPr>
          <p:cNvPr id="449" name="Google Shape;449;g33f5385c820_0_3"/>
          <p:cNvSpPr txBox="1"/>
          <p:nvPr/>
        </p:nvSpPr>
        <p:spPr>
          <a:xfrm>
            <a:off x="483400" y="107225"/>
            <a:ext cx="131802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6000">
                <a:solidFill>
                  <a:srgbClr val="1D5732"/>
                </a:solidFill>
              </a:rPr>
              <a:t>Top 10 Features for Each Cluster</a:t>
            </a:r>
            <a:endParaRPr b="1" sz="6000">
              <a:solidFill>
                <a:srgbClr val="1D5732"/>
              </a:solidFill>
            </a:endParaRPr>
          </a:p>
        </p:txBody>
      </p:sp>
      <p:sp>
        <p:nvSpPr>
          <p:cNvPr id="450" name="Google Shape;450;g33f5385c820_0_3"/>
          <p:cNvSpPr txBox="1"/>
          <p:nvPr/>
        </p:nvSpPr>
        <p:spPr>
          <a:xfrm>
            <a:off x="15969090" y="962025"/>
            <a:ext cx="1267800" cy="615600"/>
          </a:xfrm>
          <a:prstGeom prst="rect">
            <a:avLst/>
          </a:prstGeom>
          <a:noFill/>
          <a:ln>
            <a:noFill/>
          </a:ln>
        </p:spPr>
        <p:txBody>
          <a:bodyPr anchorCtr="0" anchor="t" bIns="0" lIns="0" spcFirstLastPara="1" rIns="0" wrap="square" tIns="0">
            <a:spAutoFit/>
          </a:bodyPr>
          <a:lstStyle/>
          <a:p>
            <a:pPr indent="0" lvl="0" marL="0" marR="0" rtl="0" algn="r">
              <a:lnSpc>
                <a:spcPct val="140010"/>
              </a:lnSpc>
              <a:spcBef>
                <a:spcPts val="0"/>
              </a:spcBef>
              <a:spcAft>
                <a:spcPts val="0"/>
              </a:spcAft>
              <a:buNone/>
            </a:pPr>
            <a:r>
              <a:rPr b="1" i="0" lang="en-US" sz="3999" u="none" cap="none" strike="noStrike">
                <a:solidFill>
                  <a:srgbClr val="EEE3B1"/>
                </a:solidFill>
                <a:latin typeface="Arial"/>
                <a:ea typeface="Arial"/>
                <a:cs typeface="Arial"/>
                <a:sym typeface="Arial"/>
              </a:rPr>
              <a:t>03</a:t>
            </a:r>
            <a:endParaRPr/>
          </a:p>
        </p:txBody>
      </p:sp>
      <p:grpSp>
        <p:nvGrpSpPr>
          <p:cNvPr id="451" name="Google Shape;451;g33f5385c820_0_3"/>
          <p:cNvGrpSpPr/>
          <p:nvPr/>
        </p:nvGrpSpPr>
        <p:grpSpPr>
          <a:xfrm>
            <a:off x="-50" y="9147925"/>
            <a:ext cx="18288118" cy="1139089"/>
            <a:chOff x="0" y="-28575"/>
            <a:chExt cx="4816592" cy="792134"/>
          </a:xfrm>
        </p:grpSpPr>
        <p:sp>
          <p:nvSpPr>
            <p:cNvPr id="452" name="Google Shape;452;g33f5385c820_0_3"/>
            <p:cNvSpPr/>
            <p:nvPr/>
          </p:nvSpPr>
          <p:spPr>
            <a:xfrm>
              <a:off x="0" y="0"/>
              <a:ext cx="4816592" cy="763559"/>
            </a:xfrm>
            <a:custGeom>
              <a:rect b="b" l="l" r="r" t="t"/>
              <a:pathLst>
                <a:path extrusionOk="0" h="763559" w="4816592">
                  <a:moveTo>
                    <a:pt x="0" y="0"/>
                  </a:moveTo>
                  <a:lnTo>
                    <a:pt x="4816592" y="0"/>
                  </a:lnTo>
                  <a:lnTo>
                    <a:pt x="4816592" y="763559"/>
                  </a:lnTo>
                  <a:lnTo>
                    <a:pt x="0" y="763559"/>
                  </a:lnTo>
                  <a:close/>
                </a:path>
              </a:pathLst>
            </a:custGeom>
            <a:solidFill>
              <a:srgbClr val="1D5732"/>
            </a:solidFill>
            <a:ln>
              <a:noFill/>
            </a:ln>
          </p:spPr>
        </p:sp>
        <p:sp>
          <p:nvSpPr>
            <p:cNvPr id="453" name="Google Shape;453;g33f5385c820_0_3"/>
            <p:cNvSpPr txBox="1"/>
            <p:nvPr/>
          </p:nvSpPr>
          <p:spPr>
            <a:xfrm>
              <a:off x="0" y="-28575"/>
              <a:ext cx="4816500" cy="7920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54" name="Google Shape;454;g33f5385c820_0_3"/>
          <p:cNvSpPr/>
          <p:nvPr/>
        </p:nvSpPr>
        <p:spPr>
          <a:xfrm>
            <a:off x="14052818" y="107243"/>
            <a:ext cx="870958" cy="1074704"/>
          </a:xfrm>
          <a:custGeom>
            <a:rect b="b" l="l" r="r" t="t"/>
            <a:pathLst>
              <a:path extrusionOk="0" h="1074704" w="870958">
                <a:moveTo>
                  <a:pt x="0" y="0"/>
                </a:moveTo>
                <a:lnTo>
                  <a:pt x="870958" y="0"/>
                </a:lnTo>
                <a:lnTo>
                  <a:pt x="870958" y="1074704"/>
                </a:lnTo>
                <a:lnTo>
                  <a:pt x="0" y="1074704"/>
                </a:lnTo>
                <a:lnTo>
                  <a:pt x="0" y="0"/>
                </a:lnTo>
                <a:close/>
              </a:path>
            </a:pathLst>
          </a:custGeom>
          <a:blipFill rotWithShape="1">
            <a:blip r:embed="rId3">
              <a:alphaModFix/>
            </a:blip>
            <a:stretch>
              <a:fillRect b="0" l="0" r="0" t="0"/>
            </a:stretch>
          </a:blipFill>
          <a:ln>
            <a:noFill/>
          </a:ln>
        </p:spPr>
      </p:sp>
      <p:sp>
        <p:nvSpPr>
          <p:cNvPr id="455" name="Google Shape;455;g33f5385c820_0_3"/>
          <p:cNvSpPr/>
          <p:nvPr/>
        </p:nvSpPr>
        <p:spPr>
          <a:xfrm rot="1282585">
            <a:off x="16305367" y="1380332"/>
            <a:ext cx="1351560" cy="1393361"/>
          </a:xfrm>
          <a:custGeom>
            <a:rect b="b" l="l" r="r" t="t"/>
            <a:pathLst>
              <a:path extrusionOk="0" h="1391427" w="1349684">
                <a:moveTo>
                  <a:pt x="0" y="0"/>
                </a:moveTo>
                <a:lnTo>
                  <a:pt x="1349684" y="0"/>
                </a:lnTo>
                <a:lnTo>
                  <a:pt x="1349684" y="1391427"/>
                </a:lnTo>
                <a:lnTo>
                  <a:pt x="0" y="1391427"/>
                </a:lnTo>
                <a:lnTo>
                  <a:pt x="0" y="0"/>
                </a:lnTo>
                <a:close/>
              </a:path>
            </a:pathLst>
          </a:custGeom>
          <a:blipFill rotWithShape="1">
            <a:blip r:embed="rId4">
              <a:alphaModFix/>
            </a:blip>
            <a:stretch>
              <a:fillRect b="0" l="0" r="0" t="0"/>
            </a:stretch>
          </a:blipFill>
          <a:ln>
            <a:noFill/>
          </a:ln>
        </p:spPr>
      </p:sp>
      <p:sp>
        <p:nvSpPr>
          <p:cNvPr id="456" name="Google Shape;456;g33f5385c820_0_3"/>
          <p:cNvSpPr/>
          <p:nvPr/>
        </p:nvSpPr>
        <p:spPr>
          <a:xfrm>
            <a:off x="16514296" y="6"/>
            <a:ext cx="1258008" cy="1289163"/>
          </a:xfrm>
          <a:custGeom>
            <a:rect b="b" l="l" r="r" t="t"/>
            <a:pathLst>
              <a:path extrusionOk="0" h="1289163" w="1258008">
                <a:moveTo>
                  <a:pt x="0" y="0"/>
                </a:moveTo>
                <a:lnTo>
                  <a:pt x="1258007" y="0"/>
                </a:lnTo>
                <a:lnTo>
                  <a:pt x="1258007" y="1289162"/>
                </a:lnTo>
                <a:lnTo>
                  <a:pt x="0" y="1289162"/>
                </a:lnTo>
                <a:lnTo>
                  <a:pt x="0" y="0"/>
                </a:lnTo>
                <a:close/>
              </a:path>
            </a:pathLst>
          </a:custGeom>
          <a:blipFill rotWithShape="1">
            <a:blip r:embed="rId5">
              <a:alphaModFix/>
            </a:blip>
            <a:stretch>
              <a:fillRect b="0" l="0" r="0" t="0"/>
            </a:stretch>
          </a:blipFill>
          <a:ln>
            <a:noFill/>
          </a:ln>
        </p:spPr>
      </p:sp>
      <p:sp>
        <p:nvSpPr>
          <p:cNvPr id="457" name="Google Shape;457;g33f5385c820_0_3"/>
          <p:cNvSpPr/>
          <p:nvPr/>
        </p:nvSpPr>
        <p:spPr>
          <a:xfrm>
            <a:off x="14989401" y="-157373"/>
            <a:ext cx="1459264" cy="1962035"/>
          </a:xfrm>
          <a:custGeom>
            <a:rect b="b" l="l" r="r" t="t"/>
            <a:pathLst>
              <a:path extrusionOk="0" h="1962035" w="1459264">
                <a:moveTo>
                  <a:pt x="0" y="0"/>
                </a:moveTo>
                <a:lnTo>
                  <a:pt x="1459264" y="0"/>
                </a:lnTo>
                <a:lnTo>
                  <a:pt x="1459264" y="1962036"/>
                </a:lnTo>
                <a:lnTo>
                  <a:pt x="0" y="1962036"/>
                </a:lnTo>
                <a:lnTo>
                  <a:pt x="0" y="0"/>
                </a:lnTo>
                <a:close/>
              </a:path>
            </a:pathLst>
          </a:custGeom>
          <a:blipFill rotWithShape="1">
            <a:blip r:embed="rId6">
              <a:alphaModFix/>
            </a:blip>
            <a:stretch>
              <a:fillRect b="0" l="0" r="0" t="0"/>
            </a:stretch>
          </a:blipFill>
          <a:ln>
            <a:noFill/>
          </a:ln>
        </p:spPr>
      </p:sp>
      <p:grpSp>
        <p:nvGrpSpPr>
          <p:cNvPr id="458" name="Google Shape;458;g33f5385c820_0_3"/>
          <p:cNvGrpSpPr/>
          <p:nvPr/>
        </p:nvGrpSpPr>
        <p:grpSpPr>
          <a:xfrm>
            <a:off x="118900" y="9392235"/>
            <a:ext cx="10607763" cy="739758"/>
            <a:chOff x="2577" y="877098"/>
            <a:chExt cx="10553938" cy="917700"/>
          </a:xfrm>
        </p:grpSpPr>
        <p:sp>
          <p:nvSpPr>
            <p:cNvPr id="459" name="Google Shape;459;g33f5385c820_0_3"/>
            <p:cNvSpPr/>
            <p:nvPr/>
          </p:nvSpPr>
          <p:spPr>
            <a:xfrm>
              <a:off x="2577"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g33f5385c820_0_3"/>
            <p:cNvSpPr txBox="1"/>
            <p:nvPr/>
          </p:nvSpPr>
          <p:spPr>
            <a:xfrm>
              <a:off x="571834" y="1021426"/>
              <a:ext cx="1155900" cy="5910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i="0" lang="en-US" u="none" cap="none" strike="noStrike">
                  <a:solidFill>
                    <a:srgbClr val="002060"/>
                  </a:solidFill>
                </a:rPr>
                <a:t>Busine</a:t>
              </a:r>
              <a:r>
                <a:rPr lang="en-US">
                  <a:solidFill>
                    <a:srgbClr val="002060"/>
                  </a:solidFill>
                </a:rPr>
                <a:t>s</a:t>
              </a:r>
              <a:r>
                <a:rPr i="0" lang="en-US" u="none" cap="none" strike="noStrike">
                  <a:solidFill>
                    <a:srgbClr val="002060"/>
                  </a:solidFill>
                </a:rPr>
                <a:t>s Problem</a:t>
              </a:r>
              <a:endParaRPr i="0" u="none" cap="none" strike="noStrike">
                <a:solidFill>
                  <a:srgbClr val="002060"/>
                </a:solidFill>
              </a:endParaRPr>
            </a:p>
          </p:txBody>
        </p:sp>
        <p:sp>
          <p:nvSpPr>
            <p:cNvPr id="461" name="Google Shape;461;g33f5385c820_0_3"/>
            <p:cNvSpPr/>
            <p:nvPr/>
          </p:nvSpPr>
          <p:spPr>
            <a:xfrm>
              <a:off x="2067462"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g33f5385c820_0_3"/>
            <p:cNvSpPr txBox="1"/>
            <p:nvPr/>
          </p:nvSpPr>
          <p:spPr>
            <a:xfrm>
              <a:off x="2561114" y="972834"/>
              <a:ext cx="1155900" cy="6882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i="0" lang="en-US" u="none" cap="none" strike="noStrike">
                  <a:solidFill>
                    <a:srgbClr val="002060"/>
                  </a:solidFill>
                </a:rPr>
                <a:t>EDA &amp; Insights</a:t>
              </a:r>
              <a:endParaRPr i="0" u="none" cap="none" strike="noStrike">
                <a:solidFill>
                  <a:srgbClr val="002060"/>
                </a:solidFill>
              </a:endParaRPr>
            </a:p>
          </p:txBody>
        </p:sp>
        <p:sp>
          <p:nvSpPr>
            <p:cNvPr id="463" name="Google Shape;463;g33f5385c820_0_3"/>
            <p:cNvSpPr/>
            <p:nvPr/>
          </p:nvSpPr>
          <p:spPr>
            <a:xfrm>
              <a:off x="4132346"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g33f5385c820_0_3"/>
            <p:cNvSpPr/>
            <p:nvPr/>
          </p:nvSpPr>
          <p:spPr>
            <a:xfrm>
              <a:off x="6197231" y="877098"/>
              <a:ext cx="2294400" cy="917700"/>
            </a:xfrm>
            <a:prstGeom prst="chevron">
              <a:avLst>
                <a:gd fmla="val 50000" name="adj"/>
              </a:avLst>
            </a:prstGeom>
            <a:solidFill>
              <a:schemeClr val="lt2"/>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g33f5385c820_0_3"/>
            <p:cNvSpPr txBox="1"/>
            <p:nvPr/>
          </p:nvSpPr>
          <p:spPr>
            <a:xfrm>
              <a:off x="6668795" y="973848"/>
              <a:ext cx="1489500" cy="6882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Campaign Prediction</a:t>
              </a:r>
              <a:endParaRPr i="0" u="none" cap="none" strike="noStrike">
                <a:solidFill>
                  <a:srgbClr val="002060"/>
                </a:solidFill>
              </a:endParaRPr>
            </a:p>
          </p:txBody>
        </p:sp>
        <p:sp>
          <p:nvSpPr>
            <p:cNvPr id="466" name="Google Shape;466;g33f5385c820_0_3"/>
            <p:cNvSpPr/>
            <p:nvPr/>
          </p:nvSpPr>
          <p:spPr>
            <a:xfrm>
              <a:off x="8262115"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g33f5385c820_0_3"/>
            <p:cNvSpPr txBox="1"/>
            <p:nvPr/>
          </p:nvSpPr>
          <p:spPr>
            <a:xfrm>
              <a:off x="8648985" y="973811"/>
              <a:ext cx="1489500" cy="724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Recommendation</a:t>
              </a:r>
              <a:endParaRPr i="0" u="none" cap="none" strike="noStrike">
                <a:solidFill>
                  <a:srgbClr val="002060"/>
                </a:solidFill>
              </a:endParaRPr>
            </a:p>
          </p:txBody>
        </p:sp>
        <p:sp>
          <p:nvSpPr>
            <p:cNvPr id="468" name="Google Shape;468;g33f5385c820_0_3"/>
            <p:cNvSpPr txBox="1"/>
            <p:nvPr/>
          </p:nvSpPr>
          <p:spPr>
            <a:xfrm>
              <a:off x="4550363" y="955709"/>
              <a:ext cx="1489500" cy="7242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Clustering &amp; Segmentation</a:t>
              </a:r>
              <a:endParaRPr i="0" u="none" cap="none" strike="noStrike">
                <a:solidFill>
                  <a:srgbClr val="002060"/>
                </a:solidFill>
              </a:endParaRPr>
            </a:p>
          </p:txBody>
        </p:sp>
      </p:grpSp>
      <p:pic>
        <p:nvPicPr>
          <p:cNvPr id="469" name="Google Shape;469;g33f5385c820_0_3" title="image.png"/>
          <p:cNvPicPr preferRelativeResize="0"/>
          <p:nvPr/>
        </p:nvPicPr>
        <p:blipFill rotWithShape="1">
          <a:blip r:embed="rId7">
            <a:alphaModFix/>
          </a:blip>
          <a:srcRect b="0" l="0" r="0" t="0"/>
          <a:stretch/>
        </p:blipFill>
        <p:spPr>
          <a:xfrm>
            <a:off x="1728325" y="5353575"/>
            <a:ext cx="6899399" cy="3794350"/>
          </a:xfrm>
          <a:prstGeom prst="rect">
            <a:avLst/>
          </a:prstGeom>
          <a:noFill/>
          <a:ln>
            <a:noFill/>
          </a:ln>
        </p:spPr>
      </p:pic>
      <p:pic>
        <p:nvPicPr>
          <p:cNvPr id="470" name="Google Shape;470;g33f5385c820_0_3" title="image.png"/>
          <p:cNvPicPr preferRelativeResize="0"/>
          <p:nvPr/>
        </p:nvPicPr>
        <p:blipFill>
          <a:blip r:embed="rId8">
            <a:alphaModFix/>
          </a:blip>
          <a:stretch>
            <a:fillRect/>
          </a:stretch>
        </p:blipFill>
        <p:spPr>
          <a:xfrm>
            <a:off x="8632525" y="1326405"/>
            <a:ext cx="7084876" cy="3940095"/>
          </a:xfrm>
          <a:prstGeom prst="rect">
            <a:avLst/>
          </a:prstGeom>
          <a:noFill/>
          <a:ln>
            <a:noFill/>
          </a:ln>
        </p:spPr>
      </p:pic>
      <p:pic>
        <p:nvPicPr>
          <p:cNvPr id="471" name="Google Shape;471;g33f5385c820_0_3" title="image.png"/>
          <p:cNvPicPr preferRelativeResize="0"/>
          <p:nvPr/>
        </p:nvPicPr>
        <p:blipFill>
          <a:blip r:embed="rId9">
            <a:alphaModFix/>
          </a:blip>
          <a:stretch>
            <a:fillRect/>
          </a:stretch>
        </p:blipFill>
        <p:spPr>
          <a:xfrm>
            <a:off x="1733125" y="1332950"/>
            <a:ext cx="6899400" cy="4035875"/>
          </a:xfrm>
          <a:prstGeom prst="rect">
            <a:avLst/>
          </a:prstGeom>
          <a:noFill/>
          <a:ln>
            <a:noFill/>
          </a:ln>
        </p:spPr>
      </p:pic>
      <p:pic>
        <p:nvPicPr>
          <p:cNvPr id="472" name="Google Shape;472;g33f5385c820_0_3" title="image.png"/>
          <p:cNvPicPr preferRelativeResize="0"/>
          <p:nvPr/>
        </p:nvPicPr>
        <p:blipFill>
          <a:blip r:embed="rId10">
            <a:alphaModFix/>
          </a:blip>
          <a:stretch>
            <a:fillRect/>
          </a:stretch>
        </p:blipFill>
        <p:spPr>
          <a:xfrm>
            <a:off x="8632525" y="5241650"/>
            <a:ext cx="7084886" cy="3888500"/>
          </a:xfrm>
          <a:prstGeom prst="rect">
            <a:avLst/>
          </a:prstGeom>
          <a:noFill/>
          <a:ln>
            <a:noFill/>
          </a:ln>
        </p:spPr>
      </p:pic>
      <p:sp>
        <p:nvSpPr>
          <p:cNvPr id="473" name="Google Shape;473;g33f5385c820_0_3"/>
          <p:cNvSpPr txBox="1"/>
          <p:nvPr/>
        </p:nvSpPr>
        <p:spPr>
          <a:xfrm>
            <a:off x="5721975" y="4477288"/>
            <a:ext cx="3744900" cy="354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300">
                <a:solidFill>
                  <a:srgbClr val="1D5732"/>
                </a:solidFill>
              </a:rPr>
              <a:t>Premium Shoppers</a:t>
            </a:r>
            <a:endParaRPr sz="2300">
              <a:solidFill>
                <a:srgbClr val="1D5732"/>
              </a:solidFill>
            </a:endParaRPr>
          </a:p>
        </p:txBody>
      </p:sp>
      <p:sp>
        <p:nvSpPr>
          <p:cNvPr id="474" name="Google Shape;474;g33f5385c820_0_3"/>
          <p:cNvSpPr txBox="1"/>
          <p:nvPr/>
        </p:nvSpPr>
        <p:spPr>
          <a:xfrm>
            <a:off x="12010050" y="4376238"/>
            <a:ext cx="5187900" cy="354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300">
                <a:solidFill>
                  <a:srgbClr val="1D5732"/>
                </a:solidFill>
              </a:rPr>
              <a:t>Budget-Conscious Young</a:t>
            </a:r>
            <a:endParaRPr b="1" sz="2300">
              <a:solidFill>
                <a:srgbClr val="1D5732"/>
              </a:solidFill>
            </a:endParaRPr>
          </a:p>
        </p:txBody>
      </p:sp>
      <p:sp>
        <p:nvSpPr>
          <p:cNvPr id="475" name="Google Shape;475;g33f5385c820_0_3"/>
          <p:cNvSpPr txBox="1"/>
          <p:nvPr/>
        </p:nvSpPr>
        <p:spPr>
          <a:xfrm>
            <a:off x="5569575" y="8096250"/>
            <a:ext cx="3744900" cy="354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300">
                <a:solidFill>
                  <a:srgbClr val="1D5732"/>
                </a:solidFill>
              </a:rPr>
              <a:t>Senior Deal Hunters</a:t>
            </a:r>
            <a:endParaRPr sz="2300">
              <a:solidFill>
                <a:srgbClr val="1D5732"/>
              </a:solidFill>
            </a:endParaRPr>
          </a:p>
        </p:txBody>
      </p:sp>
      <p:sp>
        <p:nvSpPr>
          <p:cNvPr id="476" name="Google Shape;476;g33f5385c820_0_3"/>
          <p:cNvSpPr txBox="1"/>
          <p:nvPr/>
        </p:nvSpPr>
        <p:spPr>
          <a:xfrm>
            <a:off x="12741575" y="8075863"/>
            <a:ext cx="6236700" cy="354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2300">
                <a:solidFill>
                  <a:srgbClr val="1D5732"/>
                </a:solidFill>
              </a:rPr>
              <a:t>Balanced Shoppers</a:t>
            </a:r>
            <a:endParaRPr sz="2300">
              <a:solidFill>
                <a:srgbClr val="1D573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3B1"/>
        </a:solidFill>
      </p:bgPr>
    </p:bg>
    <p:spTree>
      <p:nvGrpSpPr>
        <p:cNvPr id="480" name="Shape 480"/>
        <p:cNvGrpSpPr/>
        <p:nvPr/>
      </p:nvGrpSpPr>
      <p:grpSpPr>
        <a:xfrm>
          <a:off x="0" y="0"/>
          <a:ext cx="0" cy="0"/>
          <a:chOff x="0" y="0"/>
          <a:chExt cx="0" cy="0"/>
        </a:xfrm>
      </p:grpSpPr>
      <p:sp>
        <p:nvSpPr>
          <p:cNvPr id="481" name="Google Shape;481;g33f5385c820_0_42"/>
          <p:cNvSpPr txBox="1"/>
          <p:nvPr/>
        </p:nvSpPr>
        <p:spPr>
          <a:xfrm>
            <a:off x="15969090" y="962025"/>
            <a:ext cx="1267800" cy="615600"/>
          </a:xfrm>
          <a:prstGeom prst="rect">
            <a:avLst/>
          </a:prstGeom>
          <a:noFill/>
          <a:ln>
            <a:noFill/>
          </a:ln>
        </p:spPr>
        <p:txBody>
          <a:bodyPr anchorCtr="0" anchor="t" bIns="0" lIns="0" spcFirstLastPara="1" rIns="0" wrap="square" tIns="0">
            <a:spAutoFit/>
          </a:bodyPr>
          <a:lstStyle/>
          <a:p>
            <a:pPr indent="0" lvl="0" marL="0" marR="0" rtl="0" algn="r">
              <a:lnSpc>
                <a:spcPct val="140010"/>
              </a:lnSpc>
              <a:spcBef>
                <a:spcPts val="0"/>
              </a:spcBef>
              <a:spcAft>
                <a:spcPts val="0"/>
              </a:spcAft>
              <a:buNone/>
            </a:pPr>
            <a:r>
              <a:rPr b="1" i="0" lang="en-US" sz="3999" u="none" cap="none" strike="noStrike">
                <a:solidFill>
                  <a:srgbClr val="EEE3B1"/>
                </a:solidFill>
                <a:latin typeface="Arial"/>
                <a:ea typeface="Arial"/>
                <a:cs typeface="Arial"/>
                <a:sym typeface="Arial"/>
              </a:rPr>
              <a:t>03</a:t>
            </a:r>
            <a:endParaRPr/>
          </a:p>
        </p:txBody>
      </p:sp>
      <p:grpSp>
        <p:nvGrpSpPr>
          <p:cNvPr id="482" name="Google Shape;482;g33f5385c820_0_42"/>
          <p:cNvGrpSpPr/>
          <p:nvPr/>
        </p:nvGrpSpPr>
        <p:grpSpPr>
          <a:xfrm>
            <a:off x="-50" y="9147925"/>
            <a:ext cx="18288118" cy="1139089"/>
            <a:chOff x="0" y="-28575"/>
            <a:chExt cx="4816592" cy="792134"/>
          </a:xfrm>
        </p:grpSpPr>
        <p:sp>
          <p:nvSpPr>
            <p:cNvPr id="483" name="Google Shape;483;g33f5385c820_0_42"/>
            <p:cNvSpPr/>
            <p:nvPr/>
          </p:nvSpPr>
          <p:spPr>
            <a:xfrm>
              <a:off x="0" y="0"/>
              <a:ext cx="4816592" cy="763559"/>
            </a:xfrm>
            <a:custGeom>
              <a:rect b="b" l="l" r="r" t="t"/>
              <a:pathLst>
                <a:path extrusionOk="0" h="763559" w="4816592">
                  <a:moveTo>
                    <a:pt x="0" y="0"/>
                  </a:moveTo>
                  <a:lnTo>
                    <a:pt x="4816592" y="0"/>
                  </a:lnTo>
                  <a:lnTo>
                    <a:pt x="4816592" y="763559"/>
                  </a:lnTo>
                  <a:lnTo>
                    <a:pt x="0" y="763559"/>
                  </a:lnTo>
                  <a:close/>
                </a:path>
              </a:pathLst>
            </a:custGeom>
            <a:solidFill>
              <a:srgbClr val="1D5732"/>
            </a:solidFill>
            <a:ln>
              <a:noFill/>
            </a:ln>
          </p:spPr>
        </p:sp>
        <p:sp>
          <p:nvSpPr>
            <p:cNvPr id="484" name="Google Shape;484;g33f5385c820_0_42"/>
            <p:cNvSpPr txBox="1"/>
            <p:nvPr/>
          </p:nvSpPr>
          <p:spPr>
            <a:xfrm>
              <a:off x="0" y="-28575"/>
              <a:ext cx="4816500" cy="7920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85" name="Google Shape;485;g33f5385c820_0_42"/>
          <p:cNvSpPr/>
          <p:nvPr/>
        </p:nvSpPr>
        <p:spPr>
          <a:xfrm>
            <a:off x="13029268" y="912218"/>
            <a:ext cx="870958" cy="1074704"/>
          </a:xfrm>
          <a:custGeom>
            <a:rect b="b" l="l" r="r" t="t"/>
            <a:pathLst>
              <a:path extrusionOk="0" h="1074704" w="870958">
                <a:moveTo>
                  <a:pt x="0" y="0"/>
                </a:moveTo>
                <a:lnTo>
                  <a:pt x="870958" y="0"/>
                </a:lnTo>
                <a:lnTo>
                  <a:pt x="870958" y="1074704"/>
                </a:lnTo>
                <a:lnTo>
                  <a:pt x="0" y="1074704"/>
                </a:lnTo>
                <a:lnTo>
                  <a:pt x="0" y="0"/>
                </a:lnTo>
                <a:close/>
              </a:path>
            </a:pathLst>
          </a:custGeom>
          <a:blipFill rotWithShape="1">
            <a:blip r:embed="rId3">
              <a:alphaModFix/>
            </a:blip>
            <a:stretch>
              <a:fillRect b="0" l="0" r="0" t="0"/>
            </a:stretch>
          </a:blipFill>
          <a:ln>
            <a:noFill/>
          </a:ln>
        </p:spPr>
      </p:sp>
      <p:sp>
        <p:nvSpPr>
          <p:cNvPr id="486" name="Google Shape;486;g33f5385c820_0_42"/>
          <p:cNvSpPr/>
          <p:nvPr/>
        </p:nvSpPr>
        <p:spPr>
          <a:xfrm rot="1282585">
            <a:off x="12140392" y="-646068"/>
            <a:ext cx="1351560" cy="1393361"/>
          </a:xfrm>
          <a:custGeom>
            <a:rect b="b" l="l" r="r" t="t"/>
            <a:pathLst>
              <a:path extrusionOk="0" h="1391427" w="1349684">
                <a:moveTo>
                  <a:pt x="0" y="0"/>
                </a:moveTo>
                <a:lnTo>
                  <a:pt x="1349684" y="0"/>
                </a:lnTo>
                <a:lnTo>
                  <a:pt x="1349684" y="1391427"/>
                </a:lnTo>
                <a:lnTo>
                  <a:pt x="0" y="1391427"/>
                </a:lnTo>
                <a:lnTo>
                  <a:pt x="0" y="0"/>
                </a:lnTo>
                <a:close/>
              </a:path>
            </a:pathLst>
          </a:custGeom>
          <a:blipFill rotWithShape="1">
            <a:blip r:embed="rId4">
              <a:alphaModFix/>
            </a:blip>
            <a:stretch>
              <a:fillRect b="0" l="0" r="0" t="0"/>
            </a:stretch>
          </a:blipFill>
          <a:ln>
            <a:noFill/>
          </a:ln>
        </p:spPr>
      </p:sp>
      <p:sp>
        <p:nvSpPr>
          <p:cNvPr id="487" name="Google Shape;487;g33f5385c820_0_42"/>
          <p:cNvSpPr/>
          <p:nvPr/>
        </p:nvSpPr>
        <p:spPr>
          <a:xfrm>
            <a:off x="13712371" y="-376944"/>
            <a:ext cx="1258008" cy="1289163"/>
          </a:xfrm>
          <a:custGeom>
            <a:rect b="b" l="l" r="r" t="t"/>
            <a:pathLst>
              <a:path extrusionOk="0" h="1289163" w="1258008">
                <a:moveTo>
                  <a:pt x="0" y="0"/>
                </a:moveTo>
                <a:lnTo>
                  <a:pt x="1258007" y="0"/>
                </a:lnTo>
                <a:lnTo>
                  <a:pt x="1258007" y="1289162"/>
                </a:lnTo>
                <a:lnTo>
                  <a:pt x="0" y="1289162"/>
                </a:lnTo>
                <a:lnTo>
                  <a:pt x="0" y="0"/>
                </a:lnTo>
                <a:close/>
              </a:path>
            </a:pathLst>
          </a:custGeom>
          <a:blipFill rotWithShape="1">
            <a:blip r:embed="rId5">
              <a:alphaModFix/>
            </a:blip>
            <a:stretch>
              <a:fillRect b="0" l="0" r="0" t="0"/>
            </a:stretch>
          </a:blipFill>
          <a:ln>
            <a:noFill/>
          </a:ln>
        </p:spPr>
      </p:sp>
      <p:sp>
        <p:nvSpPr>
          <p:cNvPr id="488" name="Google Shape;488;g33f5385c820_0_42"/>
          <p:cNvSpPr/>
          <p:nvPr/>
        </p:nvSpPr>
        <p:spPr>
          <a:xfrm>
            <a:off x="14205026" y="468552"/>
            <a:ext cx="1459264" cy="1962035"/>
          </a:xfrm>
          <a:custGeom>
            <a:rect b="b" l="l" r="r" t="t"/>
            <a:pathLst>
              <a:path extrusionOk="0" h="1962035" w="1459264">
                <a:moveTo>
                  <a:pt x="0" y="0"/>
                </a:moveTo>
                <a:lnTo>
                  <a:pt x="1459264" y="0"/>
                </a:lnTo>
                <a:lnTo>
                  <a:pt x="1459264" y="1962036"/>
                </a:lnTo>
                <a:lnTo>
                  <a:pt x="0" y="1962036"/>
                </a:lnTo>
                <a:lnTo>
                  <a:pt x="0" y="0"/>
                </a:lnTo>
                <a:close/>
              </a:path>
            </a:pathLst>
          </a:custGeom>
          <a:blipFill rotWithShape="1">
            <a:blip r:embed="rId6">
              <a:alphaModFix/>
            </a:blip>
            <a:stretch>
              <a:fillRect b="0" l="0" r="0" t="0"/>
            </a:stretch>
          </a:blipFill>
          <a:ln>
            <a:noFill/>
          </a:ln>
        </p:spPr>
      </p:sp>
      <p:grpSp>
        <p:nvGrpSpPr>
          <p:cNvPr id="489" name="Google Shape;489;g33f5385c820_0_42"/>
          <p:cNvGrpSpPr/>
          <p:nvPr/>
        </p:nvGrpSpPr>
        <p:grpSpPr>
          <a:xfrm>
            <a:off x="118900" y="9392235"/>
            <a:ext cx="10607763" cy="739758"/>
            <a:chOff x="2577" y="877098"/>
            <a:chExt cx="10553938" cy="917700"/>
          </a:xfrm>
        </p:grpSpPr>
        <p:sp>
          <p:nvSpPr>
            <p:cNvPr id="490" name="Google Shape;490;g33f5385c820_0_42"/>
            <p:cNvSpPr/>
            <p:nvPr/>
          </p:nvSpPr>
          <p:spPr>
            <a:xfrm>
              <a:off x="2577"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g33f5385c820_0_42"/>
            <p:cNvSpPr txBox="1"/>
            <p:nvPr/>
          </p:nvSpPr>
          <p:spPr>
            <a:xfrm>
              <a:off x="571834" y="1021426"/>
              <a:ext cx="1155900" cy="5910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i="0" lang="en-US" u="none" cap="none" strike="noStrike">
                  <a:solidFill>
                    <a:srgbClr val="002060"/>
                  </a:solidFill>
                </a:rPr>
                <a:t>Busine</a:t>
              </a:r>
              <a:r>
                <a:rPr lang="en-US">
                  <a:solidFill>
                    <a:srgbClr val="002060"/>
                  </a:solidFill>
                </a:rPr>
                <a:t>s</a:t>
              </a:r>
              <a:r>
                <a:rPr i="0" lang="en-US" u="none" cap="none" strike="noStrike">
                  <a:solidFill>
                    <a:srgbClr val="002060"/>
                  </a:solidFill>
                </a:rPr>
                <a:t>s Problem</a:t>
              </a:r>
              <a:endParaRPr i="0" u="none" cap="none" strike="noStrike">
                <a:solidFill>
                  <a:srgbClr val="002060"/>
                </a:solidFill>
              </a:endParaRPr>
            </a:p>
          </p:txBody>
        </p:sp>
        <p:sp>
          <p:nvSpPr>
            <p:cNvPr id="492" name="Google Shape;492;g33f5385c820_0_42"/>
            <p:cNvSpPr/>
            <p:nvPr/>
          </p:nvSpPr>
          <p:spPr>
            <a:xfrm>
              <a:off x="2067462"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g33f5385c820_0_42"/>
            <p:cNvSpPr txBox="1"/>
            <p:nvPr/>
          </p:nvSpPr>
          <p:spPr>
            <a:xfrm>
              <a:off x="2561114" y="972834"/>
              <a:ext cx="1155900" cy="6882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i="0" lang="en-US" u="none" cap="none" strike="noStrike">
                  <a:solidFill>
                    <a:srgbClr val="002060"/>
                  </a:solidFill>
                </a:rPr>
                <a:t>EDA &amp; Insights</a:t>
              </a:r>
              <a:endParaRPr i="0" u="none" cap="none" strike="noStrike">
                <a:solidFill>
                  <a:srgbClr val="002060"/>
                </a:solidFill>
              </a:endParaRPr>
            </a:p>
          </p:txBody>
        </p:sp>
        <p:sp>
          <p:nvSpPr>
            <p:cNvPr id="494" name="Google Shape;494;g33f5385c820_0_42"/>
            <p:cNvSpPr/>
            <p:nvPr/>
          </p:nvSpPr>
          <p:spPr>
            <a:xfrm>
              <a:off x="4132346"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g33f5385c820_0_42"/>
            <p:cNvSpPr/>
            <p:nvPr/>
          </p:nvSpPr>
          <p:spPr>
            <a:xfrm>
              <a:off x="6197231" y="877098"/>
              <a:ext cx="2294400" cy="917700"/>
            </a:xfrm>
            <a:prstGeom prst="chevron">
              <a:avLst>
                <a:gd fmla="val 50000" name="adj"/>
              </a:avLst>
            </a:prstGeom>
            <a:solidFill>
              <a:srgbClr val="FBB603"/>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g33f5385c820_0_42"/>
            <p:cNvSpPr txBox="1"/>
            <p:nvPr/>
          </p:nvSpPr>
          <p:spPr>
            <a:xfrm>
              <a:off x="6668795" y="973848"/>
              <a:ext cx="1489500" cy="688200"/>
            </a:xfrm>
            <a:prstGeom prst="rect">
              <a:avLst/>
            </a:prstGeom>
            <a:solidFill>
              <a:srgbClr val="FBB603"/>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Campaign Prediction</a:t>
              </a:r>
              <a:endParaRPr i="0" u="none" cap="none" strike="noStrike">
                <a:solidFill>
                  <a:srgbClr val="002060"/>
                </a:solidFill>
              </a:endParaRPr>
            </a:p>
          </p:txBody>
        </p:sp>
        <p:sp>
          <p:nvSpPr>
            <p:cNvPr id="497" name="Google Shape;497;g33f5385c820_0_42"/>
            <p:cNvSpPr/>
            <p:nvPr/>
          </p:nvSpPr>
          <p:spPr>
            <a:xfrm>
              <a:off x="8262115" y="877098"/>
              <a:ext cx="2294400" cy="917700"/>
            </a:xfrm>
            <a:prstGeom prst="chevron">
              <a:avLst>
                <a:gd fmla="val 50000" name="adj"/>
              </a:avLst>
            </a:prstGeom>
            <a:solidFill>
              <a:schemeClr val="lt2"/>
            </a:solidFill>
            <a:ln cap="flat" cmpd="sng" w="158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g33f5385c820_0_42"/>
            <p:cNvSpPr txBox="1"/>
            <p:nvPr/>
          </p:nvSpPr>
          <p:spPr>
            <a:xfrm>
              <a:off x="8648985" y="973811"/>
              <a:ext cx="1489500" cy="724200"/>
            </a:xfrm>
            <a:prstGeom prst="rect">
              <a:avLst/>
            </a:prstGeom>
            <a:solidFill>
              <a:schemeClr val="lt2"/>
            </a:solid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Recommendation</a:t>
              </a:r>
              <a:endParaRPr i="0" u="none" cap="none" strike="noStrike">
                <a:solidFill>
                  <a:srgbClr val="002060"/>
                </a:solidFill>
              </a:endParaRPr>
            </a:p>
          </p:txBody>
        </p:sp>
        <p:sp>
          <p:nvSpPr>
            <p:cNvPr id="499" name="Google Shape;499;g33f5385c820_0_42"/>
            <p:cNvSpPr txBox="1"/>
            <p:nvPr/>
          </p:nvSpPr>
          <p:spPr>
            <a:xfrm>
              <a:off x="4550363" y="955709"/>
              <a:ext cx="1489500" cy="724200"/>
            </a:xfrm>
            <a:prstGeom prst="rect">
              <a:avLst/>
            </a:prstGeom>
            <a:noFill/>
            <a:ln>
              <a:noFill/>
            </a:ln>
          </p:spPr>
          <p:txBody>
            <a:bodyPr anchorCtr="0" anchor="ctr" bIns="24000" lIns="72000" spcFirstLastPara="1" rIns="24000" wrap="square" tIns="24000">
              <a:noAutofit/>
            </a:bodyPr>
            <a:lstStyle/>
            <a:p>
              <a:pPr indent="0" lvl="0" marL="0" marR="0" rtl="0" algn="ctr">
                <a:lnSpc>
                  <a:spcPct val="90000"/>
                </a:lnSpc>
                <a:spcBef>
                  <a:spcPts val="0"/>
                </a:spcBef>
                <a:spcAft>
                  <a:spcPts val="0"/>
                </a:spcAft>
                <a:buNone/>
              </a:pPr>
              <a:r>
                <a:rPr lang="en-US">
                  <a:solidFill>
                    <a:srgbClr val="002060"/>
                  </a:solidFill>
                </a:rPr>
                <a:t>Clustering &amp; Segmentation</a:t>
              </a:r>
              <a:endParaRPr i="0" u="none" cap="none" strike="noStrike">
                <a:solidFill>
                  <a:srgbClr val="002060"/>
                </a:solidFill>
              </a:endParaRPr>
            </a:p>
          </p:txBody>
        </p:sp>
      </p:grpSp>
      <p:grpSp>
        <p:nvGrpSpPr>
          <p:cNvPr id="500" name="Google Shape;500;g33f5385c820_0_42"/>
          <p:cNvGrpSpPr/>
          <p:nvPr/>
        </p:nvGrpSpPr>
        <p:grpSpPr>
          <a:xfrm>
            <a:off x="1024875" y="1986912"/>
            <a:ext cx="7736399" cy="3353084"/>
            <a:chOff x="0" y="-28575"/>
            <a:chExt cx="1055400" cy="1095600"/>
          </a:xfrm>
        </p:grpSpPr>
        <p:sp>
          <p:nvSpPr>
            <p:cNvPr id="501" name="Google Shape;501;g33f5385c820_0_42"/>
            <p:cNvSpPr/>
            <p:nvPr/>
          </p:nvSpPr>
          <p:spPr>
            <a:xfrm>
              <a:off x="0" y="0"/>
              <a:ext cx="1055394" cy="1066897"/>
            </a:xfrm>
            <a:custGeom>
              <a:rect b="b" l="l" r="r" t="t"/>
              <a:pathLst>
                <a:path extrusionOk="0" h="1066897" w="1055394">
                  <a:moveTo>
                    <a:pt x="0" y="0"/>
                  </a:moveTo>
                  <a:lnTo>
                    <a:pt x="1055394" y="0"/>
                  </a:lnTo>
                  <a:lnTo>
                    <a:pt x="1055394" y="1066897"/>
                  </a:lnTo>
                  <a:lnTo>
                    <a:pt x="0" y="1066897"/>
                  </a:lnTo>
                  <a:close/>
                </a:path>
              </a:pathLst>
            </a:custGeom>
            <a:solidFill>
              <a:srgbClr val="EEE3B1"/>
            </a:solidFill>
            <a:ln>
              <a:noFill/>
            </a:ln>
          </p:spPr>
        </p:sp>
        <p:sp>
          <p:nvSpPr>
            <p:cNvPr id="502" name="Google Shape;502;g33f5385c820_0_42"/>
            <p:cNvSpPr txBox="1"/>
            <p:nvPr/>
          </p:nvSpPr>
          <p:spPr>
            <a:xfrm>
              <a:off x="0" y="-28575"/>
              <a:ext cx="1055400" cy="1095600"/>
            </a:xfrm>
            <a:prstGeom prst="rect">
              <a:avLst/>
            </a:prstGeom>
            <a:solidFill>
              <a:srgbClr val="FFFCF0"/>
            </a:solid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03" name="Google Shape;503;g33f5385c820_0_42"/>
          <p:cNvGrpSpPr/>
          <p:nvPr/>
        </p:nvGrpSpPr>
        <p:grpSpPr>
          <a:xfrm>
            <a:off x="8947975" y="1986925"/>
            <a:ext cx="7736399" cy="3353084"/>
            <a:chOff x="0" y="-28575"/>
            <a:chExt cx="1055400" cy="1095600"/>
          </a:xfrm>
        </p:grpSpPr>
        <p:sp>
          <p:nvSpPr>
            <p:cNvPr id="504" name="Google Shape;504;g33f5385c820_0_42"/>
            <p:cNvSpPr/>
            <p:nvPr/>
          </p:nvSpPr>
          <p:spPr>
            <a:xfrm>
              <a:off x="0" y="0"/>
              <a:ext cx="1055394" cy="1066897"/>
            </a:xfrm>
            <a:custGeom>
              <a:rect b="b" l="l" r="r" t="t"/>
              <a:pathLst>
                <a:path extrusionOk="0" h="1066897" w="1055394">
                  <a:moveTo>
                    <a:pt x="0" y="0"/>
                  </a:moveTo>
                  <a:lnTo>
                    <a:pt x="1055394" y="0"/>
                  </a:lnTo>
                  <a:lnTo>
                    <a:pt x="1055394" y="1066897"/>
                  </a:lnTo>
                  <a:lnTo>
                    <a:pt x="0" y="1066897"/>
                  </a:lnTo>
                  <a:close/>
                </a:path>
              </a:pathLst>
            </a:custGeom>
            <a:solidFill>
              <a:srgbClr val="EEE3B1"/>
            </a:solidFill>
            <a:ln>
              <a:noFill/>
            </a:ln>
          </p:spPr>
        </p:sp>
        <p:sp>
          <p:nvSpPr>
            <p:cNvPr id="505" name="Google Shape;505;g33f5385c820_0_42"/>
            <p:cNvSpPr txBox="1"/>
            <p:nvPr/>
          </p:nvSpPr>
          <p:spPr>
            <a:xfrm>
              <a:off x="0" y="-28575"/>
              <a:ext cx="1055400" cy="1095600"/>
            </a:xfrm>
            <a:prstGeom prst="rect">
              <a:avLst/>
            </a:prstGeom>
            <a:solidFill>
              <a:srgbClr val="FFFCF0"/>
            </a:solid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06" name="Google Shape;506;g33f5385c820_0_42"/>
          <p:cNvGrpSpPr/>
          <p:nvPr/>
        </p:nvGrpSpPr>
        <p:grpSpPr>
          <a:xfrm>
            <a:off x="1024875" y="5567425"/>
            <a:ext cx="7736399" cy="3353084"/>
            <a:chOff x="0" y="-28575"/>
            <a:chExt cx="1055400" cy="1095600"/>
          </a:xfrm>
        </p:grpSpPr>
        <p:sp>
          <p:nvSpPr>
            <p:cNvPr id="507" name="Google Shape;507;g33f5385c820_0_42"/>
            <p:cNvSpPr/>
            <p:nvPr/>
          </p:nvSpPr>
          <p:spPr>
            <a:xfrm>
              <a:off x="0" y="0"/>
              <a:ext cx="1055394" cy="1066897"/>
            </a:xfrm>
            <a:custGeom>
              <a:rect b="b" l="l" r="r" t="t"/>
              <a:pathLst>
                <a:path extrusionOk="0" h="1066897" w="1055394">
                  <a:moveTo>
                    <a:pt x="0" y="0"/>
                  </a:moveTo>
                  <a:lnTo>
                    <a:pt x="1055394" y="0"/>
                  </a:lnTo>
                  <a:lnTo>
                    <a:pt x="1055394" y="1066897"/>
                  </a:lnTo>
                  <a:lnTo>
                    <a:pt x="0" y="1066897"/>
                  </a:lnTo>
                  <a:close/>
                </a:path>
              </a:pathLst>
            </a:custGeom>
            <a:solidFill>
              <a:srgbClr val="EEE3B1"/>
            </a:solidFill>
            <a:ln>
              <a:noFill/>
            </a:ln>
          </p:spPr>
        </p:sp>
        <p:sp>
          <p:nvSpPr>
            <p:cNvPr id="508" name="Google Shape;508;g33f5385c820_0_42"/>
            <p:cNvSpPr txBox="1"/>
            <p:nvPr/>
          </p:nvSpPr>
          <p:spPr>
            <a:xfrm>
              <a:off x="0" y="-28575"/>
              <a:ext cx="1055400" cy="1095600"/>
            </a:xfrm>
            <a:prstGeom prst="rect">
              <a:avLst/>
            </a:prstGeom>
            <a:solidFill>
              <a:srgbClr val="FFFCF0"/>
            </a:solid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09" name="Google Shape;509;g33f5385c820_0_42"/>
          <p:cNvGrpSpPr/>
          <p:nvPr/>
        </p:nvGrpSpPr>
        <p:grpSpPr>
          <a:xfrm>
            <a:off x="8947975" y="5567425"/>
            <a:ext cx="7736399" cy="3353084"/>
            <a:chOff x="0" y="-28575"/>
            <a:chExt cx="1055400" cy="1095600"/>
          </a:xfrm>
        </p:grpSpPr>
        <p:sp>
          <p:nvSpPr>
            <p:cNvPr id="510" name="Google Shape;510;g33f5385c820_0_42"/>
            <p:cNvSpPr/>
            <p:nvPr/>
          </p:nvSpPr>
          <p:spPr>
            <a:xfrm>
              <a:off x="0" y="0"/>
              <a:ext cx="1055394" cy="1066897"/>
            </a:xfrm>
            <a:custGeom>
              <a:rect b="b" l="l" r="r" t="t"/>
              <a:pathLst>
                <a:path extrusionOk="0" h="1066897" w="1055394">
                  <a:moveTo>
                    <a:pt x="0" y="0"/>
                  </a:moveTo>
                  <a:lnTo>
                    <a:pt x="1055394" y="0"/>
                  </a:lnTo>
                  <a:lnTo>
                    <a:pt x="1055394" y="1066897"/>
                  </a:lnTo>
                  <a:lnTo>
                    <a:pt x="0" y="1066897"/>
                  </a:lnTo>
                  <a:close/>
                </a:path>
              </a:pathLst>
            </a:custGeom>
            <a:solidFill>
              <a:srgbClr val="EEE3B1"/>
            </a:solidFill>
            <a:ln>
              <a:noFill/>
            </a:ln>
          </p:spPr>
        </p:sp>
        <p:sp>
          <p:nvSpPr>
            <p:cNvPr id="511" name="Google Shape;511;g33f5385c820_0_42"/>
            <p:cNvSpPr txBox="1"/>
            <p:nvPr/>
          </p:nvSpPr>
          <p:spPr>
            <a:xfrm>
              <a:off x="0" y="-28575"/>
              <a:ext cx="1055400" cy="1095600"/>
            </a:xfrm>
            <a:prstGeom prst="rect">
              <a:avLst/>
            </a:prstGeom>
            <a:solidFill>
              <a:srgbClr val="FFFCF0"/>
            </a:solid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12" name="Google Shape;512;g33f5385c820_0_42"/>
          <p:cNvSpPr txBox="1"/>
          <p:nvPr/>
        </p:nvSpPr>
        <p:spPr>
          <a:xfrm>
            <a:off x="2907000" y="2154300"/>
            <a:ext cx="3744900" cy="4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3000">
                <a:solidFill>
                  <a:srgbClr val="1D5732"/>
                </a:solidFill>
              </a:rPr>
              <a:t>Premium Shoppers</a:t>
            </a:r>
            <a:endParaRPr sz="3000">
              <a:solidFill>
                <a:srgbClr val="1D5732"/>
              </a:solidFill>
            </a:endParaRPr>
          </a:p>
        </p:txBody>
      </p:sp>
      <p:sp>
        <p:nvSpPr>
          <p:cNvPr id="513" name="Google Shape;513;g33f5385c820_0_42"/>
          <p:cNvSpPr txBox="1"/>
          <p:nvPr/>
        </p:nvSpPr>
        <p:spPr>
          <a:xfrm>
            <a:off x="1256200" y="2616000"/>
            <a:ext cx="7216800" cy="2724000"/>
          </a:xfrm>
          <a:prstGeom prst="rect">
            <a:avLst/>
          </a:prstGeom>
          <a:noFill/>
          <a:ln>
            <a:noFill/>
          </a:ln>
        </p:spPr>
        <p:txBody>
          <a:bodyPr anchorCtr="0" anchor="t" bIns="91425" lIns="91425" spcFirstLastPara="1" rIns="91425" wrap="square" tIns="91425">
            <a:noAutofit/>
          </a:bodyPr>
          <a:lstStyle/>
          <a:p>
            <a:pPr indent="-374650" lvl="0" marL="457200" rtl="0" algn="l">
              <a:lnSpc>
                <a:spcPct val="115000"/>
              </a:lnSpc>
              <a:spcBef>
                <a:spcPts val="0"/>
              </a:spcBef>
              <a:spcAft>
                <a:spcPts val="0"/>
              </a:spcAft>
              <a:buClr>
                <a:srgbClr val="1D5732"/>
              </a:buClr>
              <a:buSzPts val="2300"/>
              <a:buFont typeface="Roboto"/>
              <a:buChar char="●"/>
            </a:pPr>
            <a:r>
              <a:rPr b="1" lang="en-US" sz="2300">
                <a:solidFill>
                  <a:srgbClr val="1D5732"/>
                </a:solidFill>
                <a:latin typeface="Roboto"/>
                <a:ea typeface="Roboto"/>
                <a:cs typeface="Roboto"/>
                <a:sym typeface="Roboto"/>
              </a:rPr>
              <a:t>Key Features:</a:t>
            </a:r>
            <a:r>
              <a:rPr lang="en-US" sz="2300">
                <a:solidFill>
                  <a:srgbClr val="1D5732"/>
                </a:solidFill>
                <a:latin typeface="Roboto"/>
                <a:ea typeface="Roboto"/>
                <a:cs typeface="Roboto"/>
                <a:sym typeface="Roboto"/>
              </a:rPr>
              <a:t> Respond well to recent promotions and high-end products.</a:t>
            </a:r>
            <a:endParaRPr sz="2300">
              <a:solidFill>
                <a:srgbClr val="1D5732"/>
              </a:solidFill>
              <a:latin typeface="Roboto"/>
              <a:ea typeface="Roboto"/>
              <a:cs typeface="Roboto"/>
              <a:sym typeface="Roboto"/>
            </a:endParaRPr>
          </a:p>
          <a:p>
            <a:pPr indent="-374650" lvl="0" marL="457200" rtl="0" algn="l">
              <a:lnSpc>
                <a:spcPct val="115000"/>
              </a:lnSpc>
              <a:spcBef>
                <a:spcPts val="0"/>
              </a:spcBef>
              <a:spcAft>
                <a:spcPts val="0"/>
              </a:spcAft>
              <a:buClr>
                <a:srgbClr val="1D5732"/>
              </a:buClr>
              <a:buSzPts val="2300"/>
              <a:buFont typeface="Roboto"/>
              <a:buChar char="●"/>
            </a:pPr>
            <a:r>
              <a:rPr b="1" lang="en-US" sz="2300">
                <a:solidFill>
                  <a:srgbClr val="1D5732"/>
                </a:solidFill>
                <a:latin typeface="Roboto"/>
                <a:ea typeface="Roboto"/>
                <a:cs typeface="Roboto"/>
                <a:sym typeface="Roboto"/>
              </a:rPr>
              <a:t>Strategy: </a:t>
            </a:r>
            <a:r>
              <a:rPr lang="en-US" sz="2300">
                <a:solidFill>
                  <a:srgbClr val="1D5732"/>
                </a:solidFill>
                <a:latin typeface="Roboto"/>
                <a:ea typeface="Roboto"/>
                <a:cs typeface="Roboto"/>
                <a:sym typeface="Roboto"/>
              </a:rPr>
              <a:t>Launch VIP programs, premium bundles, and early-access sales. Use personalized recommendations for luxury products.</a:t>
            </a:r>
            <a:endParaRPr sz="2300">
              <a:solidFill>
                <a:srgbClr val="1D5732"/>
              </a:solidFill>
              <a:latin typeface="Roboto"/>
              <a:ea typeface="Roboto"/>
              <a:cs typeface="Roboto"/>
              <a:sym typeface="Roboto"/>
            </a:endParaRPr>
          </a:p>
          <a:p>
            <a:pPr indent="0" lvl="0" marL="0" rtl="0" algn="l">
              <a:spcBef>
                <a:spcPts val="0"/>
              </a:spcBef>
              <a:spcAft>
                <a:spcPts val="0"/>
              </a:spcAft>
              <a:buNone/>
            </a:pPr>
            <a:r>
              <a:t/>
            </a:r>
            <a:endParaRPr sz="3500">
              <a:solidFill>
                <a:srgbClr val="1D5732"/>
              </a:solidFill>
              <a:latin typeface="Calibri"/>
              <a:ea typeface="Calibri"/>
              <a:cs typeface="Calibri"/>
              <a:sym typeface="Calibri"/>
            </a:endParaRPr>
          </a:p>
        </p:txBody>
      </p:sp>
      <p:sp>
        <p:nvSpPr>
          <p:cNvPr id="514" name="Google Shape;514;g33f5385c820_0_42"/>
          <p:cNvSpPr txBox="1"/>
          <p:nvPr/>
        </p:nvSpPr>
        <p:spPr>
          <a:xfrm>
            <a:off x="10632950" y="2154300"/>
            <a:ext cx="5187900" cy="4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3000">
                <a:solidFill>
                  <a:srgbClr val="1D5732"/>
                </a:solidFill>
              </a:rPr>
              <a:t>Budget-Conscious Young</a:t>
            </a:r>
            <a:endParaRPr b="1" sz="3000">
              <a:solidFill>
                <a:srgbClr val="1D5732"/>
              </a:solidFill>
            </a:endParaRPr>
          </a:p>
        </p:txBody>
      </p:sp>
      <p:sp>
        <p:nvSpPr>
          <p:cNvPr id="515" name="Google Shape;515;g33f5385c820_0_42"/>
          <p:cNvSpPr txBox="1"/>
          <p:nvPr/>
        </p:nvSpPr>
        <p:spPr>
          <a:xfrm>
            <a:off x="9131050" y="2729713"/>
            <a:ext cx="7698900" cy="2724000"/>
          </a:xfrm>
          <a:prstGeom prst="rect">
            <a:avLst/>
          </a:prstGeom>
          <a:noFill/>
          <a:ln>
            <a:noFill/>
          </a:ln>
        </p:spPr>
        <p:txBody>
          <a:bodyPr anchorCtr="0" anchor="t" bIns="91425" lIns="91425" spcFirstLastPara="1" rIns="91425" wrap="square" tIns="91425">
            <a:noAutofit/>
          </a:bodyPr>
          <a:lstStyle/>
          <a:p>
            <a:pPr indent="-374650" lvl="0" marL="457200" marR="0" rtl="0" algn="l">
              <a:lnSpc>
                <a:spcPct val="115000"/>
              </a:lnSpc>
              <a:spcBef>
                <a:spcPts val="300"/>
              </a:spcBef>
              <a:spcAft>
                <a:spcPts val="0"/>
              </a:spcAft>
              <a:buClr>
                <a:srgbClr val="1D5732"/>
              </a:buClr>
              <a:buSzPts val="2300"/>
              <a:buFont typeface="Roboto"/>
              <a:buChar char="●"/>
            </a:pPr>
            <a:r>
              <a:rPr b="1" lang="en-US" sz="2300">
                <a:solidFill>
                  <a:srgbClr val="1D5732"/>
                </a:solidFill>
                <a:latin typeface="Roboto"/>
                <a:ea typeface="Roboto"/>
                <a:cs typeface="Roboto"/>
                <a:sym typeface="Roboto"/>
              </a:rPr>
              <a:t>Key Features: </a:t>
            </a:r>
            <a:r>
              <a:rPr lang="en-US" sz="2300">
                <a:solidFill>
                  <a:srgbClr val="1D5732"/>
                </a:solidFill>
                <a:latin typeface="Roboto"/>
                <a:ea typeface="Roboto"/>
                <a:cs typeface="Roboto"/>
                <a:sym typeface="Roboto"/>
              </a:rPr>
              <a:t>Shop frequently for discounts, both online and offline.</a:t>
            </a:r>
            <a:endParaRPr sz="2300">
              <a:solidFill>
                <a:srgbClr val="1D5732"/>
              </a:solidFill>
              <a:latin typeface="Roboto"/>
              <a:ea typeface="Roboto"/>
              <a:cs typeface="Roboto"/>
              <a:sym typeface="Roboto"/>
            </a:endParaRPr>
          </a:p>
          <a:p>
            <a:pPr indent="-374650" lvl="0" marL="457200" marR="0" rtl="0" algn="l">
              <a:lnSpc>
                <a:spcPct val="115000"/>
              </a:lnSpc>
              <a:spcBef>
                <a:spcPts val="0"/>
              </a:spcBef>
              <a:spcAft>
                <a:spcPts val="0"/>
              </a:spcAft>
              <a:buClr>
                <a:srgbClr val="1D5732"/>
              </a:buClr>
              <a:buSzPts val="2300"/>
              <a:buFont typeface="Roboto"/>
              <a:buChar char="●"/>
            </a:pPr>
            <a:r>
              <a:rPr b="1" lang="en-US" sz="2300">
                <a:solidFill>
                  <a:srgbClr val="1D5732"/>
                </a:solidFill>
                <a:latin typeface="Roboto"/>
                <a:ea typeface="Roboto"/>
                <a:cs typeface="Roboto"/>
                <a:sym typeface="Roboto"/>
              </a:rPr>
              <a:t>Strategy:</a:t>
            </a:r>
            <a:r>
              <a:rPr lang="en-US" sz="2300">
                <a:solidFill>
                  <a:srgbClr val="1D5732"/>
                </a:solidFill>
                <a:latin typeface="Roboto"/>
                <a:ea typeface="Roboto"/>
                <a:cs typeface="Roboto"/>
                <a:sym typeface="Roboto"/>
              </a:rPr>
              <a:t> Offer family bundles, discount promotions, and free shipping to attract price-sensitive shoppers.</a:t>
            </a:r>
            <a:endParaRPr sz="2300">
              <a:solidFill>
                <a:srgbClr val="1D5732"/>
              </a:solidFill>
              <a:latin typeface="Roboto"/>
              <a:ea typeface="Roboto"/>
              <a:cs typeface="Roboto"/>
              <a:sym typeface="Roboto"/>
            </a:endParaRPr>
          </a:p>
        </p:txBody>
      </p:sp>
      <p:sp>
        <p:nvSpPr>
          <p:cNvPr id="516" name="Google Shape;516;g33f5385c820_0_42"/>
          <p:cNvSpPr txBox="1"/>
          <p:nvPr/>
        </p:nvSpPr>
        <p:spPr>
          <a:xfrm>
            <a:off x="2907000" y="5773263"/>
            <a:ext cx="3744900" cy="4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3000">
                <a:solidFill>
                  <a:srgbClr val="1D5732"/>
                </a:solidFill>
              </a:rPr>
              <a:t>Senior Deal Hunters</a:t>
            </a:r>
            <a:endParaRPr sz="3000">
              <a:solidFill>
                <a:srgbClr val="1D5732"/>
              </a:solidFill>
            </a:endParaRPr>
          </a:p>
        </p:txBody>
      </p:sp>
      <p:sp>
        <p:nvSpPr>
          <p:cNvPr id="517" name="Google Shape;517;g33f5385c820_0_42"/>
          <p:cNvSpPr txBox="1"/>
          <p:nvPr/>
        </p:nvSpPr>
        <p:spPr>
          <a:xfrm>
            <a:off x="1384375" y="6329450"/>
            <a:ext cx="7327200" cy="2724000"/>
          </a:xfrm>
          <a:prstGeom prst="rect">
            <a:avLst/>
          </a:prstGeom>
          <a:noFill/>
          <a:ln>
            <a:noFill/>
          </a:ln>
        </p:spPr>
        <p:txBody>
          <a:bodyPr anchorCtr="0" anchor="t" bIns="91425" lIns="91425" spcFirstLastPara="1" rIns="91425" wrap="square" tIns="91425">
            <a:noAutofit/>
          </a:bodyPr>
          <a:lstStyle/>
          <a:p>
            <a:pPr indent="-374650" lvl="0" marL="457200" marR="0" rtl="0" algn="l">
              <a:lnSpc>
                <a:spcPct val="115000"/>
              </a:lnSpc>
              <a:spcBef>
                <a:spcPts val="300"/>
              </a:spcBef>
              <a:spcAft>
                <a:spcPts val="0"/>
              </a:spcAft>
              <a:buClr>
                <a:srgbClr val="1D5732"/>
              </a:buClr>
              <a:buSzPts val="2300"/>
              <a:buFont typeface="Roboto"/>
              <a:buChar char="●"/>
            </a:pPr>
            <a:r>
              <a:rPr b="1" lang="en-US" sz="2300">
                <a:solidFill>
                  <a:srgbClr val="1D5732"/>
                </a:solidFill>
                <a:latin typeface="Roboto"/>
                <a:ea typeface="Roboto"/>
                <a:cs typeface="Roboto"/>
                <a:sym typeface="Roboto"/>
              </a:rPr>
              <a:t>Key Features:</a:t>
            </a:r>
            <a:r>
              <a:rPr lang="en-US" sz="2300">
                <a:solidFill>
                  <a:srgbClr val="1D5732"/>
                </a:solidFill>
                <a:latin typeface="Roboto"/>
                <a:ea typeface="Roboto"/>
                <a:cs typeface="Roboto"/>
                <a:sym typeface="Roboto"/>
              </a:rPr>
              <a:t> Prefer discounted essentials and shop through catalogs and online.</a:t>
            </a:r>
            <a:endParaRPr sz="2300">
              <a:solidFill>
                <a:srgbClr val="1D5732"/>
              </a:solidFill>
              <a:latin typeface="Roboto"/>
              <a:ea typeface="Roboto"/>
              <a:cs typeface="Roboto"/>
              <a:sym typeface="Roboto"/>
            </a:endParaRPr>
          </a:p>
          <a:p>
            <a:pPr indent="-374650" lvl="0" marL="457200" marR="0" rtl="0" algn="l">
              <a:lnSpc>
                <a:spcPct val="115000"/>
              </a:lnSpc>
              <a:spcBef>
                <a:spcPts val="0"/>
              </a:spcBef>
              <a:spcAft>
                <a:spcPts val="0"/>
              </a:spcAft>
              <a:buClr>
                <a:srgbClr val="1D5732"/>
              </a:buClr>
              <a:buSzPts val="2300"/>
              <a:buFont typeface="Roboto"/>
              <a:buChar char="●"/>
            </a:pPr>
            <a:r>
              <a:rPr b="1" lang="en-US" sz="2300">
                <a:solidFill>
                  <a:srgbClr val="1D5732"/>
                </a:solidFill>
                <a:latin typeface="Roboto"/>
                <a:ea typeface="Roboto"/>
                <a:cs typeface="Roboto"/>
                <a:sym typeface="Roboto"/>
              </a:rPr>
              <a:t>Strategy: </a:t>
            </a:r>
            <a:r>
              <a:rPr lang="en-US" sz="2300">
                <a:solidFill>
                  <a:srgbClr val="1D5732"/>
                </a:solidFill>
                <a:latin typeface="Roboto"/>
                <a:ea typeface="Roboto"/>
                <a:cs typeface="Roboto"/>
                <a:sym typeface="Roboto"/>
              </a:rPr>
              <a:t>Provide senior discounts, simplify online checkout, and promote deals through multiple channels.</a:t>
            </a:r>
            <a:endParaRPr sz="2300">
              <a:solidFill>
                <a:srgbClr val="1D5732"/>
              </a:solidFill>
              <a:latin typeface="Roboto"/>
              <a:ea typeface="Roboto"/>
              <a:cs typeface="Roboto"/>
              <a:sym typeface="Roboto"/>
            </a:endParaRPr>
          </a:p>
          <a:p>
            <a:pPr indent="0" lvl="0" marL="0" rtl="0" algn="l">
              <a:spcBef>
                <a:spcPts val="0"/>
              </a:spcBef>
              <a:spcAft>
                <a:spcPts val="0"/>
              </a:spcAft>
              <a:buNone/>
            </a:pPr>
            <a:r>
              <a:t/>
            </a:r>
            <a:endParaRPr sz="2400">
              <a:solidFill>
                <a:schemeClr val="dk1"/>
              </a:solidFill>
              <a:latin typeface="Calibri"/>
              <a:ea typeface="Calibri"/>
              <a:cs typeface="Calibri"/>
              <a:sym typeface="Calibri"/>
            </a:endParaRPr>
          </a:p>
        </p:txBody>
      </p:sp>
      <p:sp>
        <p:nvSpPr>
          <p:cNvPr id="518" name="Google Shape;518;g33f5385c820_0_42"/>
          <p:cNvSpPr txBox="1"/>
          <p:nvPr/>
        </p:nvSpPr>
        <p:spPr>
          <a:xfrm>
            <a:off x="10841000" y="5752875"/>
            <a:ext cx="6236700" cy="461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3000">
                <a:solidFill>
                  <a:srgbClr val="1D5732"/>
                </a:solidFill>
              </a:rPr>
              <a:t>Balanced</a:t>
            </a:r>
            <a:r>
              <a:rPr b="1" lang="en-US" sz="3000">
                <a:solidFill>
                  <a:srgbClr val="1D5732"/>
                </a:solidFill>
              </a:rPr>
              <a:t> Shoppers</a:t>
            </a:r>
            <a:endParaRPr sz="3000">
              <a:solidFill>
                <a:srgbClr val="1D5732"/>
              </a:solidFill>
            </a:endParaRPr>
          </a:p>
        </p:txBody>
      </p:sp>
      <p:sp>
        <p:nvSpPr>
          <p:cNvPr id="519" name="Google Shape;519;g33f5385c820_0_42"/>
          <p:cNvSpPr txBox="1"/>
          <p:nvPr/>
        </p:nvSpPr>
        <p:spPr>
          <a:xfrm>
            <a:off x="9184225" y="6286100"/>
            <a:ext cx="7263900" cy="2724000"/>
          </a:xfrm>
          <a:prstGeom prst="rect">
            <a:avLst/>
          </a:prstGeom>
          <a:noFill/>
          <a:ln>
            <a:noFill/>
          </a:ln>
        </p:spPr>
        <p:txBody>
          <a:bodyPr anchorCtr="0" anchor="t" bIns="91425" lIns="91425" spcFirstLastPara="1" rIns="91425" wrap="square" tIns="91425">
            <a:noAutofit/>
          </a:bodyPr>
          <a:lstStyle/>
          <a:p>
            <a:pPr indent="-374650" lvl="0" marL="457200" marR="0" rtl="0" algn="l">
              <a:lnSpc>
                <a:spcPct val="115000"/>
              </a:lnSpc>
              <a:spcBef>
                <a:spcPts val="300"/>
              </a:spcBef>
              <a:spcAft>
                <a:spcPts val="0"/>
              </a:spcAft>
              <a:buClr>
                <a:srgbClr val="1D5732"/>
              </a:buClr>
              <a:buSzPts val="2300"/>
              <a:buFont typeface="Roboto"/>
              <a:buChar char="●"/>
            </a:pPr>
            <a:r>
              <a:rPr b="1" lang="en-US" sz="2300">
                <a:solidFill>
                  <a:srgbClr val="1D5732"/>
                </a:solidFill>
                <a:latin typeface="Roboto"/>
                <a:ea typeface="Roboto"/>
                <a:cs typeface="Roboto"/>
                <a:sym typeface="Roboto"/>
              </a:rPr>
              <a:t>Key Fe</a:t>
            </a:r>
            <a:r>
              <a:rPr b="1" lang="en-US" sz="2300">
                <a:solidFill>
                  <a:srgbClr val="1D5732"/>
                </a:solidFill>
                <a:latin typeface="Roboto"/>
                <a:ea typeface="Roboto"/>
                <a:cs typeface="Roboto"/>
                <a:sym typeface="Roboto"/>
              </a:rPr>
              <a:t>atures:</a:t>
            </a:r>
            <a:r>
              <a:rPr lang="en-US" sz="2300">
                <a:solidFill>
                  <a:srgbClr val="1D5732"/>
                </a:solidFill>
                <a:latin typeface="Roboto"/>
                <a:ea typeface="Roboto"/>
                <a:cs typeface="Roboto"/>
                <a:sym typeface="Roboto"/>
              </a:rPr>
              <a:t> Shop f</a:t>
            </a:r>
            <a:r>
              <a:rPr lang="en-US" sz="2300">
                <a:solidFill>
                  <a:srgbClr val="1D5732"/>
                </a:solidFill>
                <a:latin typeface="Roboto"/>
                <a:ea typeface="Roboto"/>
                <a:cs typeface="Roboto"/>
                <a:sym typeface="Roboto"/>
              </a:rPr>
              <a:t>lexibly across channels and prefer diverse products.</a:t>
            </a:r>
            <a:endParaRPr sz="2300">
              <a:solidFill>
                <a:srgbClr val="1D5732"/>
              </a:solidFill>
              <a:latin typeface="Roboto"/>
              <a:ea typeface="Roboto"/>
              <a:cs typeface="Roboto"/>
              <a:sym typeface="Roboto"/>
            </a:endParaRPr>
          </a:p>
          <a:p>
            <a:pPr indent="-374650" lvl="0" marL="457200" marR="0" rtl="0" algn="l">
              <a:lnSpc>
                <a:spcPct val="115000"/>
              </a:lnSpc>
              <a:spcBef>
                <a:spcPts val="0"/>
              </a:spcBef>
              <a:spcAft>
                <a:spcPts val="0"/>
              </a:spcAft>
              <a:buClr>
                <a:srgbClr val="1D5732"/>
              </a:buClr>
              <a:buSzPts val="2300"/>
              <a:buFont typeface="Roboto"/>
              <a:buChar char="●"/>
            </a:pPr>
            <a:r>
              <a:rPr b="1" lang="en-US" sz="2300">
                <a:solidFill>
                  <a:srgbClr val="1D5732"/>
                </a:solidFill>
                <a:latin typeface="Roboto"/>
                <a:ea typeface="Roboto"/>
                <a:cs typeface="Roboto"/>
                <a:sym typeface="Roboto"/>
              </a:rPr>
              <a:t>Strategy:</a:t>
            </a:r>
            <a:r>
              <a:rPr lang="en-US" sz="2300">
                <a:solidFill>
                  <a:srgbClr val="1D5732"/>
                </a:solidFill>
                <a:latin typeface="Roboto"/>
                <a:ea typeface="Roboto"/>
                <a:cs typeface="Roboto"/>
                <a:sym typeface="Roboto"/>
              </a:rPr>
              <a:t> Use hybrid promotions, personalized offers, and cross-channel discounts to enhance shopping convenience.</a:t>
            </a:r>
            <a:endParaRPr sz="2400">
              <a:solidFill>
                <a:schemeClr val="dk1"/>
              </a:solidFill>
              <a:latin typeface="Calibri"/>
              <a:ea typeface="Calibri"/>
              <a:cs typeface="Calibri"/>
              <a:sym typeface="Calibri"/>
            </a:endParaRPr>
          </a:p>
        </p:txBody>
      </p:sp>
      <p:sp>
        <p:nvSpPr>
          <p:cNvPr id="520" name="Google Shape;520;g33f5385c820_0_42"/>
          <p:cNvSpPr txBox="1"/>
          <p:nvPr/>
        </p:nvSpPr>
        <p:spPr>
          <a:xfrm>
            <a:off x="566425" y="561625"/>
            <a:ext cx="116958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6000">
                <a:solidFill>
                  <a:srgbClr val="1D5732"/>
                </a:solidFill>
              </a:rPr>
              <a:t>Recommendation</a:t>
            </a:r>
            <a:endParaRPr sz="6000">
              <a:solidFill>
                <a:srgbClr val="1D573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3B1"/>
        </a:solidFill>
      </p:bgPr>
    </p:bg>
    <p:spTree>
      <p:nvGrpSpPr>
        <p:cNvPr id="524" name="Shape 524"/>
        <p:cNvGrpSpPr/>
        <p:nvPr/>
      </p:nvGrpSpPr>
      <p:grpSpPr>
        <a:xfrm>
          <a:off x="0" y="0"/>
          <a:ext cx="0" cy="0"/>
          <a:chOff x="0" y="0"/>
          <a:chExt cx="0" cy="0"/>
        </a:xfrm>
      </p:grpSpPr>
      <p:grpSp>
        <p:nvGrpSpPr>
          <p:cNvPr id="525" name="Google Shape;525;g33f5385c820_0_90"/>
          <p:cNvGrpSpPr/>
          <p:nvPr/>
        </p:nvGrpSpPr>
        <p:grpSpPr>
          <a:xfrm>
            <a:off x="0" y="3419315"/>
            <a:ext cx="18288118" cy="7401848"/>
            <a:chOff x="0" y="-28575"/>
            <a:chExt cx="4816592" cy="1949445"/>
          </a:xfrm>
        </p:grpSpPr>
        <p:sp>
          <p:nvSpPr>
            <p:cNvPr id="526" name="Google Shape;526;g33f5385c820_0_90"/>
            <p:cNvSpPr/>
            <p:nvPr/>
          </p:nvSpPr>
          <p:spPr>
            <a:xfrm>
              <a:off x="0" y="0"/>
              <a:ext cx="4816592" cy="1920870"/>
            </a:xfrm>
            <a:custGeom>
              <a:rect b="b" l="l" r="r" t="t"/>
              <a:pathLst>
                <a:path extrusionOk="0" h="1920870" w="4816592">
                  <a:moveTo>
                    <a:pt x="0" y="0"/>
                  </a:moveTo>
                  <a:lnTo>
                    <a:pt x="4816592" y="0"/>
                  </a:lnTo>
                  <a:lnTo>
                    <a:pt x="4816592" y="1920870"/>
                  </a:lnTo>
                  <a:lnTo>
                    <a:pt x="0" y="1920870"/>
                  </a:lnTo>
                  <a:close/>
                </a:path>
              </a:pathLst>
            </a:custGeom>
            <a:solidFill>
              <a:srgbClr val="1D5732"/>
            </a:solidFill>
            <a:ln>
              <a:noFill/>
            </a:ln>
          </p:spPr>
        </p:sp>
        <p:sp>
          <p:nvSpPr>
            <p:cNvPr id="527" name="Google Shape;527;g33f5385c820_0_90"/>
            <p:cNvSpPr txBox="1"/>
            <p:nvPr/>
          </p:nvSpPr>
          <p:spPr>
            <a:xfrm>
              <a:off x="0" y="-28575"/>
              <a:ext cx="4816500" cy="1949400"/>
            </a:xfrm>
            <a:prstGeom prst="rect">
              <a:avLst/>
            </a:prstGeom>
            <a:noFill/>
            <a:ln>
              <a:noFill/>
            </a:ln>
          </p:spPr>
          <p:txBody>
            <a:bodyPr anchorCtr="0" anchor="ctr" bIns="50800" lIns="50800" spcFirstLastPara="1" rIns="50800" wrap="square" tIns="50800">
              <a:noAutofit/>
            </a:bodyPr>
            <a:lstStyle/>
            <a:p>
              <a:pPr indent="0" lvl="0" marL="0" marR="0" rtl="0" algn="ctr">
                <a:lnSpc>
                  <a:spcPct val="1400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28" name="Google Shape;528;g33f5385c820_0_90"/>
          <p:cNvSpPr txBox="1"/>
          <p:nvPr/>
        </p:nvSpPr>
        <p:spPr>
          <a:xfrm>
            <a:off x="1345442" y="3969750"/>
            <a:ext cx="4279800" cy="554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3600">
                <a:solidFill>
                  <a:srgbClr val="FBB603"/>
                </a:solidFill>
              </a:rPr>
              <a:t>Deployment</a:t>
            </a:r>
            <a:endParaRPr b="1" sz="3600">
              <a:solidFill>
                <a:srgbClr val="FBB603"/>
              </a:solidFill>
            </a:endParaRPr>
          </a:p>
        </p:txBody>
      </p:sp>
      <p:sp>
        <p:nvSpPr>
          <p:cNvPr id="529" name="Google Shape;529;g33f5385c820_0_90"/>
          <p:cNvSpPr txBox="1"/>
          <p:nvPr/>
        </p:nvSpPr>
        <p:spPr>
          <a:xfrm>
            <a:off x="431792" y="4278950"/>
            <a:ext cx="6035700" cy="6410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b="0" i="0" sz="2600" u="none" cap="none" strike="noStrike">
              <a:solidFill>
                <a:srgbClr val="EEE3B1"/>
              </a:solidFill>
              <a:latin typeface="Arial"/>
              <a:ea typeface="Arial"/>
              <a:cs typeface="Arial"/>
              <a:sym typeface="Arial"/>
            </a:endParaRPr>
          </a:p>
          <a:p>
            <a:pPr indent="-400050" lvl="0" marL="457200" rtl="0" algn="l">
              <a:lnSpc>
                <a:spcPct val="115000"/>
              </a:lnSpc>
              <a:spcBef>
                <a:spcPts val="0"/>
              </a:spcBef>
              <a:spcAft>
                <a:spcPts val="0"/>
              </a:spcAft>
              <a:buClr>
                <a:srgbClr val="EEE3B1"/>
              </a:buClr>
              <a:buSzPts val="2700"/>
              <a:buFont typeface="Roboto"/>
              <a:buChar char="●"/>
            </a:pPr>
            <a:r>
              <a:rPr b="1" lang="en-US" sz="2700">
                <a:solidFill>
                  <a:srgbClr val="EEE3B1"/>
                </a:solidFill>
                <a:latin typeface="Roboto"/>
                <a:ea typeface="Roboto"/>
                <a:cs typeface="Roboto"/>
                <a:sym typeface="Roboto"/>
              </a:rPr>
              <a:t>Customer Segmentation</a:t>
            </a:r>
            <a:r>
              <a:rPr lang="en-US" sz="2700">
                <a:solidFill>
                  <a:srgbClr val="EEE3B1"/>
                </a:solidFill>
                <a:latin typeface="Roboto"/>
                <a:ea typeface="Roboto"/>
                <a:cs typeface="Roboto"/>
                <a:sym typeface="Roboto"/>
              </a:rPr>
              <a:t>: </a:t>
            </a:r>
            <a:endParaRPr sz="2700">
              <a:solidFill>
                <a:srgbClr val="EEE3B1"/>
              </a:solidFill>
              <a:latin typeface="Roboto"/>
              <a:ea typeface="Roboto"/>
              <a:cs typeface="Roboto"/>
              <a:sym typeface="Roboto"/>
            </a:endParaRPr>
          </a:p>
          <a:p>
            <a:pPr indent="0" lvl="0" marL="457200" rtl="0" algn="l">
              <a:lnSpc>
                <a:spcPct val="115000"/>
              </a:lnSpc>
              <a:spcBef>
                <a:spcPts val="0"/>
              </a:spcBef>
              <a:spcAft>
                <a:spcPts val="0"/>
              </a:spcAft>
              <a:buNone/>
            </a:pPr>
            <a:r>
              <a:rPr lang="en-US" sz="2700">
                <a:solidFill>
                  <a:srgbClr val="EEE3B1"/>
                </a:solidFill>
                <a:latin typeface="Roboto"/>
                <a:ea typeface="Roboto"/>
                <a:cs typeface="Roboto"/>
                <a:sym typeface="Roboto"/>
              </a:rPr>
              <a:t>Classify customers into clusters for tailored marketing.</a:t>
            </a:r>
            <a:endParaRPr sz="2700">
              <a:solidFill>
                <a:srgbClr val="EEE3B1"/>
              </a:solidFill>
              <a:latin typeface="Roboto"/>
              <a:ea typeface="Roboto"/>
              <a:cs typeface="Roboto"/>
              <a:sym typeface="Roboto"/>
            </a:endParaRPr>
          </a:p>
          <a:p>
            <a:pPr indent="0" lvl="0" marL="457200" rtl="0" algn="l">
              <a:lnSpc>
                <a:spcPct val="115000"/>
              </a:lnSpc>
              <a:spcBef>
                <a:spcPts val="0"/>
              </a:spcBef>
              <a:spcAft>
                <a:spcPts val="0"/>
              </a:spcAft>
              <a:buNone/>
            </a:pPr>
            <a:r>
              <a:t/>
            </a:r>
            <a:endParaRPr sz="2700">
              <a:solidFill>
                <a:srgbClr val="EEE3B1"/>
              </a:solidFill>
              <a:latin typeface="Roboto"/>
              <a:ea typeface="Roboto"/>
              <a:cs typeface="Roboto"/>
              <a:sym typeface="Roboto"/>
            </a:endParaRPr>
          </a:p>
          <a:p>
            <a:pPr indent="-400050" lvl="0" marL="457200" rtl="0" algn="l">
              <a:lnSpc>
                <a:spcPct val="115000"/>
              </a:lnSpc>
              <a:spcBef>
                <a:spcPts val="300"/>
              </a:spcBef>
              <a:spcAft>
                <a:spcPts val="0"/>
              </a:spcAft>
              <a:buClr>
                <a:srgbClr val="EEE3B1"/>
              </a:buClr>
              <a:buSzPts val="2700"/>
              <a:buFont typeface="Roboto"/>
              <a:buChar char="●"/>
            </a:pPr>
            <a:r>
              <a:rPr b="1" lang="en-US" sz="2700">
                <a:solidFill>
                  <a:srgbClr val="EEE3B1"/>
                </a:solidFill>
                <a:latin typeface="Roboto"/>
                <a:ea typeface="Roboto"/>
                <a:cs typeface="Roboto"/>
                <a:sym typeface="Roboto"/>
              </a:rPr>
              <a:t>Product Recommendations</a:t>
            </a:r>
            <a:r>
              <a:rPr lang="en-US" sz="2700">
                <a:solidFill>
                  <a:srgbClr val="EEE3B1"/>
                </a:solidFill>
                <a:latin typeface="Roboto"/>
                <a:ea typeface="Roboto"/>
                <a:cs typeface="Roboto"/>
                <a:sym typeface="Roboto"/>
              </a:rPr>
              <a:t>: </a:t>
            </a:r>
            <a:endParaRPr sz="2700">
              <a:solidFill>
                <a:srgbClr val="EEE3B1"/>
              </a:solidFill>
              <a:latin typeface="Roboto"/>
              <a:ea typeface="Roboto"/>
              <a:cs typeface="Roboto"/>
              <a:sym typeface="Roboto"/>
            </a:endParaRPr>
          </a:p>
          <a:p>
            <a:pPr indent="0" lvl="0" marL="457200" rtl="0" algn="l">
              <a:lnSpc>
                <a:spcPct val="115000"/>
              </a:lnSpc>
              <a:spcBef>
                <a:spcPts val="300"/>
              </a:spcBef>
              <a:spcAft>
                <a:spcPts val="0"/>
              </a:spcAft>
              <a:buNone/>
            </a:pPr>
            <a:r>
              <a:rPr lang="en-US" sz="2700">
                <a:solidFill>
                  <a:srgbClr val="EEE3B1"/>
                </a:solidFill>
                <a:latin typeface="Roboto"/>
                <a:ea typeface="Roboto"/>
                <a:cs typeface="Roboto"/>
                <a:sym typeface="Roboto"/>
              </a:rPr>
              <a:t>Use cluster insights to recommend </a:t>
            </a:r>
            <a:r>
              <a:rPr lang="en-US" sz="2700">
                <a:solidFill>
                  <a:srgbClr val="EEE3B1"/>
                </a:solidFill>
                <a:latin typeface="Roboto"/>
                <a:ea typeface="Roboto"/>
                <a:cs typeface="Roboto"/>
                <a:sym typeface="Roboto"/>
              </a:rPr>
              <a:t>relevant products.</a:t>
            </a:r>
            <a:endParaRPr sz="2700">
              <a:solidFill>
                <a:srgbClr val="EEE3B1"/>
              </a:solidFill>
              <a:latin typeface="Roboto"/>
              <a:ea typeface="Roboto"/>
              <a:cs typeface="Roboto"/>
              <a:sym typeface="Roboto"/>
            </a:endParaRPr>
          </a:p>
          <a:p>
            <a:pPr indent="0" lvl="0" marL="457200" rtl="0" algn="l">
              <a:lnSpc>
                <a:spcPct val="115000"/>
              </a:lnSpc>
              <a:spcBef>
                <a:spcPts val="300"/>
              </a:spcBef>
              <a:spcAft>
                <a:spcPts val="0"/>
              </a:spcAft>
              <a:buNone/>
            </a:pPr>
            <a:r>
              <a:t/>
            </a:r>
            <a:endParaRPr sz="2700">
              <a:solidFill>
                <a:srgbClr val="EEE3B1"/>
              </a:solidFill>
              <a:latin typeface="Roboto"/>
              <a:ea typeface="Roboto"/>
              <a:cs typeface="Roboto"/>
              <a:sym typeface="Roboto"/>
            </a:endParaRPr>
          </a:p>
          <a:p>
            <a:pPr indent="-400050" lvl="0" marL="457200" rtl="0" algn="l">
              <a:lnSpc>
                <a:spcPct val="115000"/>
              </a:lnSpc>
              <a:spcBef>
                <a:spcPts val="300"/>
              </a:spcBef>
              <a:spcAft>
                <a:spcPts val="0"/>
              </a:spcAft>
              <a:buClr>
                <a:srgbClr val="EEE3B1"/>
              </a:buClr>
              <a:buSzPts val="2700"/>
              <a:buFont typeface="Roboto"/>
              <a:buChar char="●"/>
            </a:pPr>
            <a:r>
              <a:rPr b="1" lang="en-US" sz="2700">
                <a:solidFill>
                  <a:srgbClr val="EEE3B1"/>
                </a:solidFill>
                <a:latin typeface="Roboto"/>
                <a:ea typeface="Roboto"/>
                <a:cs typeface="Roboto"/>
                <a:sym typeface="Roboto"/>
              </a:rPr>
              <a:t>Pricing &amp; Promotions</a:t>
            </a:r>
            <a:r>
              <a:rPr lang="en-US" sz="2700">
                <a:solidFill>
                  <a:srgbClr val="EEE3B1"/>
                </a:solidFill>
                <a:latin typeface="Roboto"/>
                <a:ea typeface="Roboto"/>
                <a:cs typeface="Roboto"/>
                <a:sym typeface="Roboto"/>
              </a:rPr>
              <a:t>: </a:t>
            </a:r>
            <a:endParaRPr sz="2700">
              <a:solidFill>
                <a:srgbClr val="EEE3B1"/>
              </a:solidFill>
              <a:latin typeface="Roboto"/>
              <a:ea typeface="Roboto"/>
              <a:cs typeface="Roboto"/>
              <a:sym typeface="Roboto"/>
            </a:endParaRPr>
          </a:p>
          <a:p>
            <a:pPr indent="0" lvl="0" marL="457200" rtl="0" algn="l">
              <a:lnSpc>
                <a:spcPct val="115000"/>
              </a:lnSpc>
              <a:spcBef>
                <a:spcPts val="300"/>
              </a:spcBef>
              <a:spcAft>
                <a:spcPts val="0"/>
              </a:spcAft>
              <a:buNone/>
            </a:pPr>
            <a:r>
              <a:rPr lang="en-US" sz="2700">
                <a:solidFill>
                  <a:srgbClr val="EEE3B1"/>
                </a:solidFill>
                <a:latin typeface="Roboto"/>
                <a:ea typeface="Roboto"/>
                <a:cs typeface="Roboto"/>
                <a:sym typeface="Roboto"/>
              </a:rPr>
              <a:t>Optimize pricing and promotions based on cluster responses.</a:t>
            </a:r>
            <a:endParaRPr sz="2700">
              <a:solidFill>
                <a:srgbClr val="EEE3B1"/>
              </a:solidFill>
              <a:latin typeface="Roboto"/>
              <a:ea typeface="Roboto"/>
              <a:cs typeface="Roboto"/>
              <a:sym typeface="Roboto"/>
            </a:endParaRPr>
          </a:p>
          <a:p>
            <a:pPr indent="0" lvl="0" marL="0" marR="0" rtl="0" algn="ctr">
              <a:lnSpc>
                <a:spcPct val="140000"/>
              </a:lnSpc>
              <a:spcBef>
                <a:spcPts val="0"/>
              </a:spcBef>
              <a:spcAft>
                <a:spcPts val="0"/>
              </a:spcAft>
              <a:buNone/>
            </a:pPr>
            <a:r>
              <a:t/>
            </a:r>
            <a:endParaRPr sz="2600">
              <a:solidFill>
                <a:srgbClr val="EEE3B1"/>
              </a:solidFill>
            </a:endParaRPr>
          </a:p>
        </p:txBody>
      </p:sp>
      <p:sp>
        <p:nvSpPr>
          <p:cNvPr id="530" name="Google Shape;530;g33f5385c820_0_90"/>
          <p:cNvSpPr/>
          <p:nvPr/>
        </p:nvSpPr>
        <p:spPr>
          <a:xfrm>
            <a:off x="1406605" y="-338488"/>
            <a:ext cx="870958" cy="1074704"/>
          </a:xfrm>
          <a:custGeom>
            <a:rect b="b" l="l" r="r" t="t"/>
            <a:pathLst>
              <a:path extrusionOk="0" h="1074704" w="870958">
                <a:moveTo>
                  <a:pt x="0" y="0"/>
                </a:moveTo>
                <a:lnTo>
                  <a:pt x="870958" y="0"/>
                </a:lnTo>
                <a:lnTo>
                  <a:pt x="870958" y="1074704"/>
                </a:lnTo>
                <a:lnTo>
                  <a:pt x="0" y="1074704"/>
                </a:lnTo>
                <a:lnTo>
                  <a:pt x="0" y="0"/>
                </a:lnTo>
                <a:close/>
              </a:path>
            </a:pathLst>
          </a:custGeom>
          <a:blipFill rotWithShape="1">
            <a:blip r:embed="rId3">
              <a:alphaModFix/>
            </a:blip>
            <a:stretch>
              <a:fillRect b="0" l="0" r="0" t="0"/>
            </a:stretch>
          </a:blipFill>
          <a:ln>
            <a:noFill/>
          </a:ln>
        </p:spPr>
      </p:sp>
      <p:sp>
        <p:nvSpPr>
          <p:cNvPr id="531" name="Google Shape;531;g33f5385c820_0_90"/>
          <p:cNvSpPr/>
          <p:nvPr/>
        </p:nvSpPr>
        <p:spPr>
          <a:xfrm>
            <a:off x="7361138" y="-338488"/>
            <a:ext cx="870958" cy="1074704"/>
          </a:xfrm>
          <a:custGeom>
            <a:rect b="b" l="l" r="r" t="t"/>
            <a:pathLst>
              <a:path extrusionOk="0" h="1074704" w="870958">
                <a:moveTo>
                  <a:pt x="0" y="0"/>
                </a:moveTo>
                <a:lnTo>
                  <a:pt x="870958" y="0"/>
                </a:lnTo>
                <a:lnTo>
                  <a:pt x="870958" y="1074704"/>
                </a:lnTo>
                <a:lnTo>
                  <a:pt x="0" y="1074704"/>
                </a:lnTo>
                <a:lnTo>
                  <a:pt x="0" y="0"/>
                </a:lnTo>
                <a:close/>
              </a:path>
            </a:pathLst>
          </a:custGeom>
          <a:blipFill rotWithShape="1">
            <a:blip r:embed="rId3">
              <a:alphaModFix/>
            </a:blip>
            <a:stretch>
              <a:fillRect b="0" l="0" r="0" t="0"/>
            </a:stretch>
          </a:blipFill>
          <a:ln>
            <a:noFill/>
          </a:ln>
        </p:spPr>
      </p:sp>
      <p:sp>
        <p:nvSpPr>
          <p:cNvPr id="532" name="Google Shape;532;g33f5385c820_0_90"/>
          <p:cNvSpPr/>
          <p:nvPr/>
        </p:nvSpPr>
        <p:spPr>
          <a:xfrm>
            <a:off x="12010102" y="-46004"/>
            <a:ext cx="870958" cy="1074704"/>
          </a:xfrm>
          <a:custGeom>
            <a:rect b="b" l="l" r="r" t="t"/>
            <a:pathLst>
              <a:path extrusionOk="0" h="1074704" w="870958">
                <a:moveTo>
                  <a:pt x="0" y="0"/>
                </a:moveTo>
                <a:lnTo>
                  <a:pt x="870957" y="0"/>
                </a:lnTo>
                <a:lnTo>
                  <a:pt x="870957" y="1074704"/>
                </a:lnTo>
                <a:lnTo>
                  <a:pt x="0" y="1074704"/>
                </a:lnTo>
                <a:lnTo>
                  <a:pt x="0" y="0"/>
                </a:lnTo>
                <a:close/>
              </a:path>
            </a:pathLst>
          </a:custGeom>
          <a:blipFill rotWithShape="1">
            <a:blip r:embed="rId3">
              <a:alphaModFix/>
            </a:blip>
            <a:stretch>
              <a:fillRect b="0" l="0" r="0" t="0"/>
            </a:stretch>
          </a:blipFill>
          <a:ln>
            <a:noFill/>
          </a:ln>
        </p:spPr>
      </p:sp>
      <p:sp>
        <p:nvSpPr>
          <p:cNvPr id="533" name="Google Shape;533;g33f5385c820_0_90"/>
          <p:cNvSpPr/>
          <p:nvPr/>
        </p:nvSpPr>
        <p:spPr>
          <a:xfrm rot="1282585">
            <a:off x="982179" y="840920"/>
            <a:ext cx="1351560" cy="1393361"/>
          </a:xfrm>
          <a:custGeom>
            <a:rect b="b" l="l" r="r" t="t"/>
            <a:pathLst>
              <a:path extrusionOk="0" h="1391427" w="1349684">
                <a:moveTo>
                  <a:pt x="0" y="0"/>
                </a:moveTo>
                <a:lnTo>
                  <a:pt x="1349684" y="0"/>
                </a:lnTo>
                <a:lnTo>
                  <a:pt x="1349684" y="1391426"/>
                </a:lnTo>
                <a:lnTo>
                  <a:pt x="0" y="1391426"/>
                </a:lnTo>
                <a:lnTo>
                  <a:pt x="0" y="0"/>
                </a:lnTo>
                <a:close/>
              </a:path>
            </a:pathLst>
          </a:custGeom>
          <a:blipFill rotWithShape="1">
            <a:blip r:embed="rId4">
              <a:alphaModFix/>
            </a:blip>
            <a:stretch>
              <a:fillRect b="0" l="0" r="0" t="0"/>
            </a:stretch>
          </a:blipFill>
          <a:ln>
            <a:noFill/>
          </a:ln>
        </p:spPr>
      </p:sp>
      <p:sp>
        <p:nvSpPr>
          <p:cNvPr id="534" name="Google Shape;534;g33f5385c820_0_90"/>
          <p:cNvSpPr/>
          <p:nvPr/>
        </p:nvSpPr>
        <p:spPr>
          <a:xfrm rot="1282585">
            <a:off x="5732166" y="123257"/>
            <a:ext cx="1351560" cy="1393361"/>
          </a:xfrm>
          <a:custGeom>
            <a:rect b="b" l="l" r="r" t="t"/>
            <a:pathLst>
              <a:path extrusionOk="0" h="1391427" w="1349684">
                <a:moveTo>
                  <a:pt x="0" y="0"/>
                </a:moveTo>
                <a:lnTo>
                  <a:pt x="1349684" y="0"/>
                </a:lnTo>
                <a:lnTo>
                  <a:pt x="1349684" y="1391427"/>
                </a:lnTo>
                <a:lnTo>
                  <a:pt x="0" y="1391427"/>
                </a:lnTo>
                <a:lnTo>
                  <a:pt x="0" y="0"/>
                </a:lnTo>
                <a:close/>
              </a:path>
            </a:pathLst>
          </a:custGeom>
          <a:blipFill rotWithShape="1">
            <a:blip r:embed="rId4">
              <a:alphaModFix/>
            </a:blip>
            <a:stretch>
              <a:fillRect b="0" l="0" r="0" t="0"/>
            </a:stretch>
          </a:blipFill>
          <a:ln>
            <a:noFill/>
          </a:ln>
        </p:spPr>
      </p:sp>
      <p:sp>
        <p:nvSpPr>
          <p:cNvPr id="535" name="Google Shape;535;g33f5385c820_0_90"/>
          <p:cNvSpPr/>
          <p:nvPr/>
        </p:nvSpPr>
        <p:spPr>
          <a:xfrm rot="1282585">
            <a:off x="10888175" y="1115731"/>
            <a:ext cx="1351560" cy="1393361"/>
          </a:xfrm>
          <a:custGeom>
            <a:rect b="b" l="l" r="r" t="t"/>
            <a:pathLst>
              <a:path extrusionOk="0" h="1391427" w="1349684">
                <a:moveTo>
                  <a:pt x="0" y="0"/>
                </a:moveTo>
                <a:lnTo>
                  <a:pt x="1349684" y="0"/>
                </a:lnTo>
                <a:lnTo>
                  <a:pt x="1349684" y="1391427"/>
                </a:lnTo>
                <a:lnTo>
                  <a:pt x="0" y="1391427"/>
                </a:lnTo>
                <a:lnTo>
                  <a:pt x="0" y="0"/>
                </a:lnTo>
                <a:close/>
              </a:path>
            </a:pathLst>
          </a:custGeom>
          <a:blipFill rotWithShape="1">
            <a:blip r:embed="rId4">
              <a:alphaModFix/>
            </a:blip>
            <a:stretch>
              <a:fillRect b="0" l="0" r="0" t="0"/>
            </a:stretch>
          </a:blipFill>
          <a:ln>
            <a:noFill/>
          </a:ln>
        </p:spPr>
      </p:sp>
      <p:sp>
        <p:nvSpPr>
          <p:cNvPr id="536" name="Google Shape;536;g33f5385c820_0_90"/>
          <p:cNvSpPr/>
          <p:nvPr/>
        </p:nvSpPr>
        <p:spPr>
          <a:xfrm rot="1282585">
            <a:off x="15291474" y="-560343"/>
            <a:ext cx="1351560" cy="1393361"/>
          </a:xfrm>
          <a:custGeom>
            <a:rect b="b" l="l" r="r" t="t"/>
            <a:pathLst>
              <a:path extrusionOk="0" h="1391427" w="1349684">
                <a:moveTo>
                  <a:pt x="0" y="0"/>
                </a:moveTo>
                <a:lnTo>
                  <a:pt x="1349684" y="0"/>
                </a:lnTo>
                <a:lnTo>
                  <a:pt x="1349684" y="1391427"/>
                </a:lnTo>
                <a:lnTo>
                  <a:pt x="0" y="1391427"/>
                </a:lnTo>
                <a:lnTo>
                  <a:pt x="0" y="0"/>
                </a:lnTo>
                <a:close/>
              </a:path>
            </a:pathLst>
          </a:custGeom>
          <a:blipFill rotWithShape="1">
            <a:blip r:embed="rId4">
              <a:alphaModFix/>
            </a:blip>
            <a:stretch>
              <a:fillRect b="0" l="0" r="0" t="0"/>
            </a:stretch>
          </a:blipFill>
          <a:ln>
            <a:noFill/>
          </a:ln>
        </p:spPr>
      </p:sp>
      <p:sp>
        <p:nvSpPr>
          <p:cNvPr id="537" name="Google Shape;537;g33f5385c820_0_90"/>
          <p:cNvSpPr/>
          <p:nvPr/>
        </p:nvSpPr>
        <p:spPr>
          <a:xfrm>
            <a:off x="-482184" y="1712300"/>
            <a:ext cx="1258008" cy="1289163"/>
          </a:xfrm>
          <a:custGeom>
            <a:rect b="b" l="l" r="r" t="t"/>
            <a:pathLst>
              <a:path extrusionOk="0" h="1289163" w="1258008">
                <a:moveTo>
                  <a:pt x="0" y="0"/>
                </a:moveTo>
                <a:lnTo>
                  <a:pt x="1258008" y="0"/>
                </a:lnTo>
                <a:lnTo>
                  <a:pt x="1258008" y="1289162"/>
                </a:lnTo>
                <a:lnTo>
                  <a:pt x="0" y="1289162"/>
                </a:lnTo>
                <a:lnTo>
                  <a:pt x="0" y="0"/>
                </a:lnTo>
                <a:close/>
              </a:path>
            </a:pathLst>
          </a:custGeom>
          <a:blipFill rotWithShape="1">
            <a:blip r:embed="rId5">
              <a:alphaModFix/>
            </a:blip>
            <a:stretch>
              <a:fillRect b="0" l="0" r="0" t="0"/>
            </a:stretch>
          </a:blipFill>
          <a:ln>
            <a:noFill/>
          </a:ln>
        </p:spPr>
      </p:sp>
      <p:sp>
        <p:nvSpPr>
          <p:cNvPr id="538" name="Google Shape;538;g33f5385c820_0_90"/>
          <p:cNvSpPr/>
          <p:nvPr/>
        </p:nvSpPr>
        <p:spPr>
          <a:xfrm>
            <a:off x="8807249" y="917341"/>
            <a:ext cx="1258008" cy="1289163"/>
          </a:xfrm>
          <a:custGeom>
            <a:rect b="b" l="l" r="r" t="t"/>
            <a:pathLst>
              <a:path extrusionOk="0" h="1289163" w="1258008">
                <a:moveTo>
                  <a:pt x="0" y="0"/>
                </a:moveTo>
                <a:lnTo>
                  <a:pt x="1258008" y="0"/>
                </a:lnTo>
                <a:lnTo>
                  <a:pt x="1258008" y="1289162"/>
                </a:lnTo>
                <a:lnTo>
                  <a:pt x="0" y="1289162"/>
                </a:lnTo>
                <a:lnTo>
                  <a:pt x="0" y="0"/>
                </a:lnTo>
                <a:close/>
              </a:path>
            </a:pathLst>
          </a:custGeom>
          <a:blipFill rotWithShape="1">
            <a:blip r:embed="rId5">
              <a:alphaModFix/>
            </a:blip>
            <a:stretch>
              <a:fillRect b="0" l="0" r="0" t="0"/>
            </a:stretch>
          </a:blipFill>
          <a:ln>
            <a:noFill/>
          </a:ln>
        </p:spPr>
      </p:sp>
      <p:sp>
        <p:nvSpPr>
          <p:cNvPr id="539" name="Google Shape;539;g33f5385c820_0_90"/>
          <p:cNvSpPr/>
          <p:nvPr/>
        </p:nvSpPr>
        <p:spPr>
          <a:xfrm>
            <a:off x="14394446" y="817668"/>
            <a:ext cx="1258008" cy="1289163"/>
          </a:xfrm>
          <a:custGeom>
            <a:rect b="b" l="l" r="r" t="t"/>
            <a:pathLst>
              <a:path extrusionOk="0" h="1289163" w="1258008">
                <a:moveTo>
                  <a:pt x="0" y="0"/>
                </a:moveTo>
                <a:lnTo>
                  <a:pt x="1258007" y="0"/>
                </a:lnTo>
                <a:lnTo>
                  <a:pt x="1258007" y="1289162"/>
                </a:lnTo>
                <a:lnTo>
                  <a:pt x="0" y="1289162"/>
                </a:lnTo>
                <a:lnTo>
                  <a:pt x="0" y="0"/>
                </a:lnTo>
                <a:close/>
              </a:path>
            </a:pathLst>
          </a:custGeom>
          <a:blipFill rotWithShape="1">
            <a:blip r:embed="rId5">
              <a:alphaModFix/>
            </a:blip>
            <a:stretch>
              <a:fillRect b="0" l="0" r="0" t="0"/>
            </a:stretch>
          </a:blipFill>
          <a:ln>
            <a:noFill/>
          </a:ln>
        </p:spPr>
      </p:sp>
      <p:sp>
        <p:nvSpPr>
          <p:cNvPr id="540" name="Google Shape;540;g33f5385c820_0_90"/>
          <p:cNvSpPr/>
          <p:nvPr/>
        </p:nvSpPr>
        <p:spPr>
          <a:xfrm>
            <a:off x="-252876" y="-338488"/>
            <a:ext cx="1459264" cy="1962035"/>
          </a:xfrm>
          <a:custGeom>
            <a:rect b="b" l="l" r="r" t="t"/>
            <a:pathLst>
              <a:path extrusionOk="0" h="1962035" w="1459264">
                <a:moveTo>
                  <a:pt x="0" y="0"/>
                </a:moveTo>
                <a:lnTo>
                  <a:pt x="1459263" y="0"/>
                </a:lnTo>
                <a:lnTo>
                  <a:pt x="1459263" y="1962035"/>
                </a:lnTo>
                <a:lnTo>
                  <a:pt x="0" y="1962035"/>
                </a:lnTo>
                <a:lnTo>
                  <a:pt x="0" y="0"/>
                </a:lnTo>
                <a:close/>
              </a:path>
            </a:pathLst>
          </a:custGeom>
          <a:blipFill rotWithShape="1">
            <a:blip r:embed="rId6">
              <a:alphaModFix/>
            </a:blip>
            <a:stretch>
              <a:fillRect b="0" l="0" r="0" t="0"/>
            </a:stretch>
          </a:blipFill>
          <a:ln>
            <a:noFill/>
          </a:ln>
        </p:spPr>
      </p:sp>
      <p:sp>
        <p:nvSpPr>
          <p:cNvPr id="541" name="Google Shape;541;g33f5385c820_0_90"/>
          <p:cNvSpPr/>
          <p:nvPr/>
        </p:nvSpPr>
        <p:spPr>
          <a:xfrm>
            <a:off x="4163735" y="-621237"/>
            <a:ext cx="1439377" cy="1935296"/>
          </a:xfrm>
          <a:custGeom>
            <a:rect b="b" l="l" r="r" t="t"/>
            <a:pathLst>
              <a:path extrusionOk="0" h="1935296" w="1439377">
                <a:moveTo>
                  <a:pt x="0" y="0"/>
                </a:moveTo>
                <a:lnTo>
                  <a:pt x="1439377" y="0"/>
                </a:lnTo>
                <a:lnTo>
                  <a:pt x="1439377" y="1935296"/>
                </a:lnTo>
                <a:lnTo>
                  <a:pt x="0" y="1935296"/>
                </a:lnTo>
                <a:lnTo>
                  <a:pt x="0" y="0"/>
                </a:lnTo>
                <a:close/>
              </a:path>
            </a:pathLst>
          </a:custGeom>
          <a:blipFill rotWithShape="1">
            <a:blip r:embed="rId6">
              <a:alphaModFix/>
            </a:blip>
            <a:stretch>
              <a:fillRect b="0" l="0" r="0" t="0"/>
            </a:stretch>
          </a:blipFill>
          <a:ln>
            <a:noFill/>
          </a:ln>
        </p:spPr>
      </p:sp>
      <p:sp>
        <p:nvSpPr>
          <p:cNvPr id="542" name="Google Shape;542;g33f5385c820_0_90"/>
          <p:cNvSpPr/>
          <p:nvPr/>
        </p:nvSpPr>
        <p:spPr>
          <a:xfrm>
            <a:off x="10051593" y="-603809"/>
            <a:ext cx="1439377" cy="1935296"/>
          </a:xfrm>
          <a:custGeom>
            <a:rect b="b" l="l" r="r" t="t"/>
            <a:pathLst>
              <a:path extrusionOk="0" h="1935296" w="1439377">
                <a:moveTo>
                  <a:pt x="0" y="0"/>
                </a:moveTo>
                <a:lnTo>
                  <a:pt x="1439376" y="0"/>
                </a:lnTo>
                <a:lnTo>
                  <a:pt x="1439376" y="1935296"/>
                </a:lnTo>
                <a:lnTo>
                  <a:pt x="0" y="1935296"/>
                </a:lnTo>
                <a:lnTo>
                  <a:pt x="0" y="0"/>
                </a:lnTo>
                <a:close/>
              </a:path>
            </a:pathLst>
          </a:custGeom>
          <a:blipFill rotWithShape="1">
            <a:blip r:embed="rId6">
              <a:alphaModFix/>
            </a:blip>
            <a:stretch>
              <a:fillRect b="0" l="0" r="0" t="0"/>
            </a:stretch>
          </a:blipFill>
          <a:ln>
            <a:noFill/>
          </a:ln>
        </p:spPr>
      </p:sp>
      <p:sp>
        <p:nvSpPr>
          <p:cNvPr id="543" name="Google Shape;543;g33f5385c820_0_90"/>
          <p:cNvSpPr/>
          <p:nvPr/>
        </p:nvSpPr>
        <p:spPr>
          <a:xfrm flipH="1">
            <a:off x="2277563" y="-224519"/>
            <a:ext cx="1743297" cy="1141860"/>
          </a:xfrm>
          <a:custGeom>
            <a:rect b="b" l="l" r="r" t="t"/>
            <a:pathLst>
              <a:path extrusionOk="0" h="1141860" w="1743297">
                <a:moveTo>
                  <a:pt x="1743297" y="0"/>
                </a:moveTo>
                <a:lnTo>
                  <a:pt x="0" y="0"/>
                </a:lnTo>
                <a:lnTo>
                  <a:pt x="0" y="1141860"/>
                </a:lnTo>
                <a:lnTo>
                  <a:pt x="1743297" y="1141860"/>
                </a:lnTo>
                <a:lnTo>
                  <a:pt x="1743297" y="0"/>
                </a:lnTo>
                <a:close/>
              </a:path>
            </a:pathLst>
          </a:custGeom>
          <a:blipFill rotWithShape="1">
            <a:blip r:embed="rId7">
              <a:alphaModFix/>
            </a:blip>
            <a:stretch>
              <a:fillRect b="0" l="0" r="0" t="0"/>
            </a:stretch>
          </a:blipFill>
          <a:ln>
            <a:noFill/>
          </a:ln>
        </p:spPr>
      </p:sp>
      <p:sp>
        <p:nvSpPr>
          <p:cNvPr id="544" name="Google Shape;544;g33f5385c820_0_90"/>
          <p:cNvSpPr/>
          <p:nvPr/>
        </p:nvSpPr>
        <p:spPr>
          <a:xfrm flipH="1">
            <a:off x="8232096" y="-224519"/>
            <a:ext cx="1743297" cy="1141860"/>
          </a:xfrm>
          <a:custGeom>
            <a:rect b="b" l="l" r="r" t="t"/>
            <a:pathLst>
              <a:path extrusionOk="0" h="1141860" w="1743297">
                <a:moveTo>
                  <a:pt x="1743297" y="0"/>
                </a:moveTo>
                <a:lnTo>
                  <a:pt x="0" y="0"/>
                </a:lnTo>
                <a:lnTo>
                  <a:pt x="0" y="1141860"/>
                </a:lnTo>
                <a:lnTo>
                  <a:pt x="1743297" y="1141860"/>
                </a:lnTo>
                <a:lnTo>
                  <a:pt x="1743297" y="0"/>
                </a:lnTo>
                <a:close/>
              </a:path>
            </a:pathLst>
          </a:custGeom>
          <a:blipFill rotWithShape="1">
            <a:blip r:embed="rId7">
              <a:alphaModFix/>
            </a:blip>
            <a:stretch>
              <a:fillRect b="0" l="0" r="0" t="0"/>
            </a:stretch>
          </a:blipFill>
          <a:ln>
            <a:noFill/>
          </a:ln>
        </p:spPr>
      </p:sp>
      <p:sp>
        <p:nvSpPr>
          <p:cNvPr id="545" name="Google Shape;545;g33f5385c820_0_90"/>
          <p:cNvSpPr/>
          <p:nvPr/>
        </p:nvSpPr>
        <p:spPr>
          <a:xfrm flipH="1">
            <a:off x="12817947" y="-224519"/>
            <a:ext cx="1743297" cy="1141860"/>
          </a:xfrm>
          <a:custGeom>
            <a:rect b="b" l="l" r="r" t="t"/>
            <a:pathLst>
              <a:path extrusionOk="0" h="1141860" w="1743297">
                <a:moveTo>
                  <a:pt x="1743297" y="0"/>
                </a:moveTo>
                <a:lnTo>
                  <a:pt x="0" y="0"/>
                </a:lnTo>
                <a:lnTo>
                  <a:pt x="0" y="1141860"/>
                </a:lnTo>
                <a:lnTo>
                  <a:pt x="1743297" y="1141860"/>
                </a:lnTo>
                <a:lnTo>
                  <a:pt x="1743297" y="0"/>
                </a:lnTo>
                <a:close/>
              </a:path>
            </a:pathLst>
          </a:custGeom>
          <a:blipFill rotWithShape="1">
            <a:blip r:embed="rId7">
              <a:alphaModFix/>
            </a:blip>
            <a:stretch>
              <a:fillRect b="0" l="0" r="0" t="0"/>
            </a:stretch>
          </a:blipFill>
          <a:ln>
            <a:noFill/>
          </a:ln>
        </p:spPr>
      </p:sp>
      <p:sp>
        <p:nvSpPr>
          <p:cNvPr id="546" name="Google Shape;546;g33f5385c820_0_90"/>
          <p:cNvSpPr/>
          <p:nvPr/>
        </p:nvSpPr>
        <p:spPr>
          <a:xfrm flipH="1" rot="1293721">
            <a:off x="2587916" y="986565"/>
            <a:ext cx="1123212" cy="1100748"/>
          </a:xfrm>
          <a:custGeom>
            <a:rect b="b" l="l" r="r" t="t"/>
            <a:pathLst>
              <a:path extrusionOk="0" h="1100772" w="1123237">
                <a:moveTo>
                  <a:pt x="1123237" y="0"/>
                </a:moveTo>
                <a:lnTo>
                  <a:pt x="0" y="0"/>
                </a:lnTo>
                <a:lnTo>
                  <a:pt x="0" y="1100772"/>
                </a:lnTo>
                <a:lnTo>
                  <a:pt x="1123237" y="1100772"/>
                </a:lnTo>
                <a:lnTo>
                  <a:pt x="1123237" y="0"/>
                </a:lnTo>
                <a:close/>
              </a:path>
            </a:pathLst>
          </a:custGeom>
          <a:blipFill rotWithShape="1">
            <a:blip r:embed="rId8">
              <a:alphaModFix/>
            </a:blip>
            <a:stretch>
              <a:fillRect b="0" l="0" r="0" t="0"/>
            </a:stretch>
          </a:blipFill>
          <a:ln>
            <a:noFill/>
          </a:ln>
        </p:spPr>
      </p:sp>
      <p:sp>
        <p:nvSpPr>
          <p:cNvPr id="547" name="Google Shape;547;g33f5385c820_0_90"/>
          <p:cNvSpPr/>
          <p:nvPr/>
        </p:nvSpPr>
        <p:spPr>
          <a:xfrm flipH="1" rot="1293721">
            <a:off x="7235321" y="986565"/>
            <a:ext cx="1123212" cy="1100748"/>
          </a:xfrm>
          <a:custGeom>
            <a:rect b="b" l="l" r="r" t="t"/>
            <a:pathLst>
              <a:path extrusionOk="0" h="1100772" w="1123237">
                <a:moveTo>
                  <a:pt x="1123237" y="0"/>
                </a:moveTo>
                <a:lnTo>
                  <a:pt x="0" y="0"/>
                </a:lnTo>
                <a:lnTo>
                  <a:pt x="0" y="1100772"/>
                </a:lnTo>
                <a:lnTo>
                  <a:pt x="1123237" y="1100772"/>
                </a:lnTo>
                <a:lnTo>
                  <a:pt x="1123237" y="0"/>
                </a:lnTo>
                <a:close/>
              </a:path>
            </a:pathLst>
          </a:custGeom>
          <a:blipFill rotWithShape="1">
            <a:blip r:embed="rId8">
              <a:alphaModFix/>
            </a:blip>
            <a:stretch>
              <a:fillRect b="0" l="0" r="0" t="0"/>
            </a:stretch>
          </a:blipFill>
          <a:ln>
            <a:noFill/>
          </a:ln>
        </p:spPr>
      </p:sp>
      <p:sp>
        <p:nvSpPr>
          <p:cNvPr id="548" name="Google Shape;548;g33f5385c820_0_90"/>
          <p:cNvSpPr/>
          <p:nvPr/>
        </p:nvSpPr>
        <p:spPr>
          <a:xfrm flipH="1" rot="1293721">
            <a:off x="12709775" y="1088622"/>
            <a:ext cx="1123212" cy="1100748"/>
          </a:xfrm>
          <a:custGeom>
            <a:rect b="b" l="l" r="r" t="t"/>
            <a:pathLst>
              <a:path extrusionOk="0" h="1100772" w="1123237">
                <a:moveTo>
                  <a:pt x="1123237" y="0"/>
                </a:moveTo>
                <a:lnTo>
                  <a:pt x="0" y="0"/>
                </a:lnTo>
                <a:lnTo>
                  <a:pt x="0" y="1100772"/>
                </a:lnTo>
                <a:lnTo>
                  <a:pt x="1123237" y="1100772"/>
                </a:lnTo>
                <a:lnTo>
                  <a:pt x="1123237" y="0"/>
                </a:lnTo>
                <a:close/>
              </a:path>
            </a:pathLst>
          </a:custGeom>
          <a:blipFill rotWithShape="1">
            <a:blip r:embed="rId8">
              <a:alphaModFix/>
            </a:blip>
            <a:stretch>
              <a:fillRect b="0" l="0" r="0" t="0"/>
            </a:stretch>
          </a:blipFill>
          <a:ln>
            <a:noFill/>
          </a:ln>
        </p:spPr>
      </p:sp>
      <p:sp>
        <p:nvSpPr>
          <p:cNvPr id="549" name="Google Shape;549;g33f5385c820_0_90"/>
          <p:cNvSpPr txBox="1"/>
          <p:nvPr/>
        </p:nvSpPr>
        <p:spPr>
          <a:xfrm>
            <a:off x="1206400" y="2332588"/>
            <a:ext cx="116958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6000">
                <a:solidFill>
                  <a:srgbClr val="1D5732"/>
                </a:solidFill>
              </a:rPr>
              <a:t>Improvement</a:t>
            </a:r>
            <a:endParaRPr b="1" sz="6000">
              <a:solidFill>
                <a:srgbClr val="1D5732"/>
              </a:solidFill>
            </a:endParaRPr>
          </a:p>
        </p:txBody>
      </p:sp>
      <p:sp>
        <p:nvSpPr>
          <p:cNvPr id="550" name="Google Shape;550;g33f5385c820_0_90"/>
          <p:cNvSpPr txBox="1"/>
          <p:nvPr/>
        </p:nvSpPr>
        <p:spPr>
          <a:xfrm>
            <a:off x="6573492" y="4671250"/>
            <a:ext cx="5973300" cy="4416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300"/>
              </a:spcBef>
              <a:spcAft>
                <a:spcPts val="0"/>
              </a:spcAft>
              <a:buNone/>
            </a:pPr>
            <a:r>
              <a:t/>
            </a:r>
            <a:endParaRPr sz="2700">
              <a:solidFill>
                <a:srgbClr val="EEE3B1"/>
              </a:solidFill>
              <a:latin typeface="Roboto"/>
              <a:ea typeface="Roboto"/>
              <a:cs typeface="Roboto"/>
              <a:sym typeface="Roboto"/>
            </a:endParaRPr>
          </a:p>
          <a:p>
            <a:pPr indent="-400050" lvl="0" marL="457200" marR="0" rtl="0" algn="l">
              <a:lnSpc>
                <a:spcPct val="115000"/>
              </a:lnSpc>
              <a:spcBef>
                <a:spcPts val="300"/>
              </a:spcBef>
              <a:spcAft>
                <a:spcPts val="0"/>
              </a:spcAft>
              <a:buClr>
                <a:srgbClr val="EEE3B1"/>
              </a:buClr>
              <a:buSzPts val="2700"/>
              <a:buFont typeface="Roboto"/>
              <a:buChar char="●"/>
            </a:pPr>
            <a:r>
              <a:rPr b="1" lang="en-US" sz="2700">
                <a:solidFill>
                  <a:srgbClr val="EEE3B1"/>
                </a:solidFill>
                <a:latin typeface="Roboto"/>
                <a:ea typeface="Roboto"/>
                <a:cs typeface="Roboto"/>
                <a:sym typeface="Roboto"/>
              </a:rPr>
              <a:t>Data &amp; Feature Engineering:</a:t>
            </a:r>
            <a:r>
              <a:rPr lang="en-US" sz="2700">
                <a:solidFill>
                  <a:srgbClr val="EEE3B1"/>
                </a:solidFill>
                <a:latin typeface="Roboto"/>
                <a:ea typeface="Roboto"/>
                <a:cs typeface="Roboto"/>
                <a:sym typeface="Roboto"/>
              </a:rPr>
              <a:t> </a:t>
            </a:r>
            <a:endParaRPr sz="2700">
              <a:solidFill>
                <a:srgbClr val="EEE3B1"/>
              </a:solidFill>
              <a:latin typeface="Roboto"/>
              <a:ea typeface="Roboto"/>
              <a:cs typeface="Roboto"/>
              <a:sym typeface="Roboto"/>
            </a:endParaRPr>
          </a:p>
          <a:p>
            <a:pPr indent="0" lvl="0" marL="457200" marR="0" rtl="0" algn="l">
              <a:lnSpc>
                <a:spcPct val="115000"/>
              </a:lnSpc>
              <a:spcBef>
                <a:spcPts val="300"/>
              </a:spcBef>
              <a:spcAft>
                <a:spcPts val="0"/>
              </a:spcAft>
              <a:buNone/>
            </a:pPr>
            <a:r>
              <a:rPr lang="en-US" sz="2700">
                <a:solidFill>
                  <a:srgbClr val="EEE3B1"/>
                </a:solidFill>
                <a:latin typeface="Roboto"/>
                <a:ea typeface="Roboto"/>
                <a:cs typeface="Roboto"/>
                <a:sym typeface="Roboto"/>
              </a:rPr>
              <a:t>Continuously update data and features to reflect trends.</a:t>
            </a:r>
            <a:endParaRPr sz="2700">
              <a:solidFill>
                <a:srgbClr val="EEE3B1"/>
              </a:solidFill>
              <a:latin typeface="Roboto"/>
              <a:ea typeface="Roboto"/>
              <a:cs typeface="Roboto"/>
              <a:sym typeface="Roboto"/>
            </a:endParaRPr>
          </a:p>
          <a:p>
            <a:pPr indent="0" lvl="0" marL="0" marR="0" rtl="0" algn="l">
              <a:lnSpc>
                <a:spcPct val="115000"/>
              </a:lnSpc>
              <a:spcBef>
                <a:spcPts val="300"/>
              </a:spcBef>
              <a:spcAft>
                <a:spcPts val="0"/>
              </a:spcAft>
              <a:buNone/>
            </a:pPr>
            <a:r>
              <a:t/>
            </a:r>
            <a:endParaRPr sz="2700">
              <a:solidFill>
                <a:srgbClr val="EEE3B1"/>
              </a:solidFill>
              <a:latin typeface="Roboto"/>
              <a:ea typeface="Roboto"/>
              <a:cs typeface="Roboto"/>
              <a:sym typeface="Roboto"/>
            </a:endParaRPr>
          </a:p>
          <a:p>
            <a:pPr indent="-400050" lvl="0" marL="457200" marR="0" rtl="0" algn="l">
              <a:lnSpc>
                <a:spcPct val="115000"/>
              </a:lnSpc>
              <a:spcBef>
                <a:spcPts val="300"/>
              </a:spcBef>
              <a:spcAft>
                <a:spcPts val="0"/>
              </a:spcAft>
              <a:buClr>
                <a:srgbClr val="EEE3B1"/>
              </a:buClr>
              <a:buSzPts val="2700"/>
              <a:buFont typeface="Roboto"/>
              <a:buChar char="●"/>
            </a:pPr>
            <a:r>
              <a:rPr b="1" lang="en-US" sz="2700">
                <a:solidFill>
                  <a:srgbClr val="EEE3B1"/>
                </a:solidFill>
                <a:latin typeface="Roboto"/>
                <a:ea typeface="Roboto"/>
                <a:cs typeface="Roboto"/>
                <a:sym typeface="Roboto"/>
              </a:rPr>
              <a:t>Model Refinement:</a:t>
            </a:r>
            <a:r>
              <a:rPr lang="en-US" sz="2700">
                <a:solidFill>
                  <a:srgbClr val="EEE3B1"/>
                </a:solidFill>
                <a:latin typeface="Roboto"/>
                <a:ea typeface="Roboto"/>
                <a:cs typeface="Roboto"/>
                <a:sym typeface="Roboto"/>
              </a:rPr>
              <a:t> </a:t>
            </a:r>
            <a:endParaRPr sz="2700">
              <a:solidFill>
                <a:srgbClr val="EEE3B1"/>
              </a:solidFill>
              <a:latin typeface="Roboto"/>
              <a:ea typeface="Roboto"/>
              <a:cs typeface="Roboto"/>
              <a:sym typeface="Roboto"/>
            </a:endParaRPr>
          </a:p>
          <a:p>
            <a:pPr indent="0" lvl="0" marL="457200" marR="0" rtl="0" algn="l">
              <a:lnSpc>
                <a:spcPct val="115000"/>
              </a:lnSpc>
              <a:spcBef>
                <a:spcPts val="300"/>
              </a:spcBef>
              <a:spcAft>
                <a:spcPts val="0"/>
              </a:spcAft>
              <a:buNone/>
            </a:pPr>
            <a:r>
              <a:rPr lang="en-US" sz="2700">
                <a:solidFill>
                  <a:srgbClr val="EEE3B1"/>
                </a:solidFill>
                <a:latin typeface="Roboto"/>
                <a:ea typeface="Roboto"/>
                <a:cs typeface="Roboto"/>
                <a:sym typeface="Roboto"/>
              </a:rPr>
              <a:t>Regularly evaluate and retrain the model for better performance.</a:t>
            </a:r>
            <a:endParaRPr sz="2700">
              <a:solidFill>
                <a:srgbClr val="EEE3B1"/>
              </a:solidFill>
              <a:latin typeface="Roboto"/>
              <a:ea typeface="Roboto"/>
              <a:cs typeface="Roboto"/>
              <a:sym typeface="Roboto"/>
            </a:endParaRPr>
          </a:p>
          <a:p>
            <a:pPr indent="0" lvl="0" marL="0" marR="0" rtl="0" algn="l">
              <a:lnSpc>
                <a:spcPct val="140000"/>
              </a:lnSpc>
              <a:spcBef>
                <a:spcPts val="0"/>
              </a:spcBef>
              <a:spcAft>
                <a:spcPts val="0"/>
              </a:spcAft>
              <a:buNone/>
            </a:pPr>
            <a:r>
              <a:t/>
            </a:r>
            <a:endParaRPr sz="2600">
              <a:solidFill>
                <a:srgbClr val="EEE3B1"/>
              </a:solidFill>
            </a:endParaRPr>
          </a:p>
        </p:txBody>
      </p:sp>
      <p:sp>
        <p:nvSpPr>
          <p:cNvPr id="551" name="Google Shape;551;g33f5385c820_0_90"/>
          <p:cNvSpPr txBox="1"/>
          <p:nvPr/>
        </p:nvSpPr>
        <p:spPr>
          <a:xfrm>
            <a:off x="12899192" y="5072200"/>
            <a:ext cx="4937700" cy="3915000"/>
          </a:xfrm>
          <a:prstGeom prst="rect">
            <a:avLst/>
          </a:prstGeom>
          <a:noFill/>
          <a:ln>
            <a:noFill/>
          </a:ln>
        </p:spPr>
        <p:txBody>
          <a:bodyPr anchorCtr="0" anchor="t" bIns="0" lIns="0" spcFirstLastPara="1" rIns="0" wrap="square" tIns="0">
            <a:spAutoFit/>
          </a:bodyPr>
          <a:lstStyle/>
          <a:p>
            <a:pPr indent="-400050" lvl="0" marL="457200" marR="0" rtl="0" algn="l">
              <a:lnSpc>
                <a:spcPct val="115000"/>
              </a:lnSpc>
              <a:spcBef>
                <a:spcPts val="300"/>
              </a:spcBef>
              <a:spcAft>
                <a:spcPts val="0"/>
              </a:spcAft>
              <a:buClr>
                <a:srgbClr val="EEE3B1"/>
              </a:buClr>
              <a:buSzPts val="2700"/>
              <a:buFont typeface="Roboto"/>
              <a:buChar char="●"/>
            </a:pPr>
            <a:r>
              <a:rPr b="1" lang="en-US" sz="2700">
                <a:solidFill>
                  <a:srgbClr val="EEE3B1"/>
                </a:solidFill>
                <a:latin typeface="Roboto"/>
                <a:ea typeface="Roboto"/>
                <a:cs typeface="Roboto"/>
                <a:sym typeface="Roboto"/>
              </a:rPr>
              <a:t>Dynamic Monitoring: </a:t>
            </a:r>
            <a:endParaRPr b="1" sz="2700">
              <a:solidFill>
                <a:srgbClr val="EEE3B1"/>
              </a:solidFill>
              <a:latin typeface="Roboto"/>
              <a:ea typeface="Roboto"/>
              <a:cs typeface="Roboto"/>
              <a:sym typeface="Roboto"/>
            </a:endParaRPr>
          </a:p>
          <a:p>
            <a:pPr indent="0" lvl="0" marL="457200" marR="0" rtl="0" algn="l">
              <a:lnSpc>
                <a:spcPct val="115000"/>
              </a:lnSpc>
              <a:spcBef>
                <a:spcPts val="300"/>
              </a:spcBef>
              <a:spcAft>
                <a:spcPts val="0"/>
              </a:spcAft>
              <a:buNone/>
            </a:pPr>
            <a:r>
              <a:rPr lang="en-US" sz="2700">
                <a:solidFill>
                  <a:srgbClr val="EEE3B1"/>
                </a:solidFill>
                <a:latin typeface="Roboto"/>
                <a:ea typeface="Roboto"/>
                <a:cs typeface="Roboto"/>
                <a:sym typeface="Roboto"/>
              </a:rPr>
              <a:t>Track changes in feature importance over time.</a:t>
            </a:r>
            <a:endParaRPr sz="2700">
              <a:solidFill>
                <a:srgbClr val="EEE3B1"/>
              </a:solidFill>
              <a:latin typeface="Roboto"/>
              <a:ea typeface="Roboto"/>
              <a:cs typeface="Roboto"/>
              <a:sym typeface="Roboto"/>
            </a:endParaRPr>
          </a:p>
          <a:p>
            <a:pPr indent="0" lvl="0" marL="457200" marR="0" rtl="0" algn="l">
              <a:lnSpc>
                <a:spcPct val="115000"/>
              </a:lnSpc>
              <a:spcBef>
                <a:spcPts val="300"/>
              </a:spcBef>
              <a:spcAft>
                <a:spcPts val="0"/>
              </a:spcAft>
              <a:buNone/>
            </a:pPr>
            <a:r>
              <a:t/>
            </a:r>
            <a:endParaRPr sz="2700">
              <a:solidFill>
                <a:srgbClr val="EEE3B1"/>
              </a:solidFill>
              <a:latin typeface="Roboto"/>
              <a:ea typeface="Roboto"/>
              <a:cs typeface="Roboto"/>
              <a:sym typeface="Roboto"/>
            </a:endParaRPr>
          </a:p>
          <a:p>
            <a:pPr indent="-400050" lvl="0" marL="457200" marR="0" rtl="0" algn="l">
              <a:lnSpc>
                <a:spcPct val="115000"/>
              </a:lnSpc>
              <a:spcBef>
                <a:spcPts val="300"/>
              </a:spcBef>
              <a:spcAft>
                <a:spcPts val="0"/>
              </a:spcAft>
              <a:buClr>
                <a:srgbClr val="EEE3B1"/>
              </a:buClr>
              <a:buSzPts val="2700"/>
              <a:buFont typeface="Roboto"/>
              <a:buChar char="●"/>
            </a:pPr>
            <a:r>
              <a:rPr b="1" lang="en-US" sz="2700">
                <a:solidFill>
                  <a:srgbClr val="EEE3B1"/>
                </a:solidFill>
                <a:latin typeface="Roboto"/>
                <a:ea typeface="Roboto"/>
                <a:cs typeface="Roboto"/>
                <a:sym typeface="Roboto"/>
              </a:rPr>
              <a:t>Contextual Analysis: </a:t>
            </a:r>
            <a:endParaRPr b="1" sz="2700">
              <a:solidFill>
                <a:srgbClr val="EEE3B1"/>
              </a:solidFill>
              <a:latin typeface="Roboto"/>
              <a:ea typeface="Roboto"/>
              <a:cs typeface="Roboto"/>
              <a:sym typeface="Roboto"/>
            </a:endParaRPr>
          </a:p>
          <a:p>
            <a:pPr indent="0" lvl="0" marL="457200" marR="0" rtl="0" algn="l">
              <a:lnSpc>
                <a:spcPct val="115000"/>
              </a:lnSpc>
              <a:spcBef>
                <a:spcPts val="300"/>
              </a:spcBef>
              <a:spcAft>
                <a:spcPts val="0"/>
              </a:spcAft>
              <a:buNone/>
            </a:pPr>
            <a:r>
              <a:rPr lang="en-US" sz="2700">
                <a:solidFill>
                  <a:srgbClr val="EEE3B1"/>
                </a:solidFill>
                <a:latin typeface="Roboto"/>
                <a:ea typeface="Roboto"/>
                <a:cs typeface="Roboto"/>
                <a:sym typeface="Roboto"/>
              </a:rPr>
              <a:t>Assess feature importance in different scenarios for deeper insights.</a:t>
            </a:r>
            <a:endParaRPr sz="2700">
              <a:solidFill>
                <a:srgbClr val="EEE3B1"/>
              </a:solidFill>
              <a:latin typeface="Roboto"/>
              <a:ea typeface="Roboto"/>
              <a:cs typeface="Roboto"/>
              <a:sym typeface="Roboto"/>
            </a:endParaRPr>
          </a:p>
        </p:txBody>
      </p:sp>
      <p:sp>
        <p:nvSpPr>
          <p:cNvPr id="552" name="Google Shape;552;g33f5385c820_0_90"/>
          <p:cNvSpPr txBox="1"/>
          <p:nvPr/>
        </p:nvSpPr>
        <p:spPr>
          <a:xfrm>
            <a:off x="5286092" y="3489450"/>
            <a:ext cx="7932000" cy="1514700"/>
          </a:xfrm>
          <a:prstGeom prst="rect">
            <a:avLst/>
          </a:prstGeom>
          <a:noFill/>
          <a:ln>
            <a:noFill/>
          </a:ln>
        </p:spPr>
        <p:txBody>
          <a:bodyPr anchorCtr="0" anchor="ctr" bIns="91425" lIns="91425" spcFirstLastPara="1" rIns="91425" wrap="square" tIns="91425">
            <a:noAutofit/>
          </a:bodyPr>
          <a:lstStyle/>
          <a:p>
            <a:pPr indent="0" lvl="0" marL="0" rtl="0" algn="ctr">
              <a:lnSpc>
                <a:spcPct val="140000"/>
              </a:lnSpc>
              <a:spcBef>
                <a:spcPts val="0"/>
              </a:spcBef>
              <a:spcAft>
                <a:spcPts val="0"/>
              </a:spcAft>
              <a:buNone/>
            </a:pPr>
            <a:r>
              <a:rPr b="1" lang="en-US" sz="3600">
                <a:solidFill>
                  <a:srgbClr val="FBB603"/>
                </a:solidFill>
              </a:rPr>
              <a:t>Model Development </a:t>
            </a:r>
            <a:endParaRPr b="1" sz="3600">
              <a:solidFill>
                <a:srgbClr val="FBB603"/>
              </a:solidFill>
            </a:endParaRPr>
          </a:p>
        </p:txBody>
      </p:sp>
      <p:sp>
        <p:nvSpPr>
          <p:cNvPr id="553" name="Google Shape;553;g33f5385c820_0_90"/>
          <p:cNvSpPr txBox="1"/>
          <p:nvPr/>
        </p:nvSpPr>
        <p:spPr>
          <a:xfrm>
            <a:off x="12955567" y="3481800"/>
            <a:ext cx="5720400" cy="1530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200"/>
              </a:spcAft>
              <a:buNone/>
            </a:pPr>
            <a:r>
              <a:rPr b="1" lang="en-US" sz="3600">
                <a:solidFill>
                  <a:srgbClr val="FBB603"/>
                </a:solidFill>
              </a:rPr>
              <a:t>Feature Importance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D5732"/>
        </a:solidFill>
      </p:bgPr>
    </p:bg>
    <p:spTree>
      <p:nvGrpSpPr>
        <p:cNvPr id="557" name="Shape 557"/>
        <p:cNvGrpSpPr/>
        <p:nvPr/>
      </p:nvGrpSpPr>
      <p:grpSpPr>
        <a:xfrm>
          <a:off x="0" y="0"/>
          <a:ext cx="0" cy="0"/>
          <a:chOff x="0" y="0"/>
          <a:chExt cx="0" cy="0"/>
        </a:xfrm>
      </p:grpSpPr>
      <p:sp>
        <p:nvSpPr>
          <p:cNvPr id="558" name="Google Shape;558;g33f545acea5_1_169"/>
          <p:cNvSpPr txBox="1"/>
          <p:nvPr/>
        </p:nvSpPr>
        <p:spPr>
          <a:xfrm>
            <a:off x="2208710" y="4085707"/>
            <a:ext cx="12369900" cy="17220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1" i="0" lang="en-US" sz="11187" u="none" cap="none" strike="noStrike">
                <a:solidFill>
                  <a:srgbClr val="FBB603"/>
                </a:solidFill>
                <a:latin typeface="Arial"/>
                <a:ea typeface="Arial"/>
                <a:cs typeface="Arial"/>
                <a:sym typeface="Arial"/>
              </a:rPr>
              <a:t>THANK YOU</a:t>
            </a:r>
            <a:endParaRPr/>
          </a:p>
        </p:txBody>
      </p:sp>
      <p:sp>
        <p:nvSpPr>
          <p:cNvPr id="559" name="Google Shape;559;g33f545acea5_1_169"/>
          <p:cNvSpPr/>
          <p:nvPr/>
        </p:nvSpPr>
        <p:spPr>
          <a:xfrm rot="1282585">
            <a:off x="13384292" y="4250019"/>
            <a:ext cx="1351560" cy="1393361"/>
          </a:xfrm>
          <a:custGeom>
            <a:rect b="b" l="l" r="r" t="t"/>
            <a:pathLst>
              <a:path extrusionOk="0" h="1391427" w="1349684">
                <a:moveTo>
                  <a:pt x="0" y="0"/>
                </a:moveTo>
                <a:lnTo>
                  <a:pt x="1349684" y="0"/>
                </a:lnTo>
                <a:lnTo>
                  <a:pt x="1349684" y="1391427"/>
                </a:lnTo>
                <a:lnTo>
                  <a:pt x="0" y="1391427"/>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3B1"/>
        </a:solidFill>
      </p:bgPr>
    </p:bg>
    <p:spTree>
      <p:nvGrpSpPr>
        <p:cNvPr id="563" name="Shape 563"/>
        <p:cNvGrpSpPr/>
        <p:nvPr/>
      </p:nvGrpSpPr>
      <p:grpSpPr>
        <a:xfrm>
          <a:off x="0" y="0"/>
          <a:ext cx="0" cy="0"/>
          <a:chOff x="0" y="0"/>
          <a:chExt cx="0" cy="0"/>
        </a:xfrm>
      </p:grpSpPr>
      <p:sp>
        <p:nvSpPr>
          <p:cNvPr id="564" name="Google Shape;564;g33f545acea5_1_175"/>
          <p:cNvSpPr txBox="1"/>
          <p:nvPr/>
        </p:nvSpPr>
        <p:spPr>
          <a:xfrm>
            <a:off x="566425" y="561625"/>
            <a:ext cx="116958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6000">
                <a:solidFill>
                  <a:srgbClr val="1D5732"/>
                </a:solidFill>
              </a:rPr>
              <a:t>Appendix</a:t>
            </a:r>
            <a:endParaRPr sz="6000">
              <a:solidFill>
                <a:srgbClr val="1D5732"/>
              </a:solidFill>
            </a:endParaRPr>
          </a:p>
        </p:txBody>
      </p:sp>
      <p:sp>
        <p:nvSpPr>
          <p:cNvPr id="565" name="Google Shape;565;g33f545acea5_1_175"/>
          <p:cNvSpPr txBox="1"/>
          <p:nvPr/>
        </p:nvSpPr>
        <p:spPr>
          <a:xfrm>
            <a:off x="15969090" y="962025"/>
            <a:ext cx="1267800" cy="615600"/>
          </a:xfrm>
          <a:prstGeom prst="rect">
            <a:avLst/>
          </a:prstGeom>
          <a:noFill/>
          <a:ln>
            <a:noFill/>
          </a:ln>
        </p:spPr>
        <p:txBody>
          <a:bodyPr anchorCtr="0" anchor="t" bIns="0" lIns="0" spcFirstLastPara="1" rIns="0" wrap="square" tIns="0">
            <a:spAutoFit/>
          </a:bodyPr>
          <a:lstStyle/>
          <a:p>
            <a:pPr indent="0" lvl="0" marL="0" marR="0" rtl="0" algn="r">
              <a:lnSpc>
                <a:spcPct val="140010"/>
              </a:lnSpc>
              <a:spcBef>
                <a:spcPts val="0"/>
              </a:spcBef>
              <a:spcAft>
                <a:spcPts val="0"/>
              </a:spcAft>
              <a:buNone/>
            </a:pPr>
            <a:r>
              <a:rPr b="1" i="0" lang="en-US" sz="3999" u="none" cap="none" strike="noStrike">
                <a:solidFill>
                  <a:srgbClr val="EEE3B1"/>
                </a:solidFill>
                <a:latin typeface="Arial"/>
                <a:ea typeface="Arial"/>
                <a:cs typeface="Arial"/>
                <a:sym typeface="Arial"/>
              </a:rPr>
              <a:t>03</a:t>
            </a:r>
            <a:endParaRPr/>
          </a:p>
        </p:txBody>
      </p:sp>
      <p:sp>
        <p:nvSpPr>
          <p:cNvPr id="566" name="Google Shape;566;g33f545acea5_1_175"/>
          <p:cNvSpPr/>
          <p:nvPr/>
        </p:nvSpPr>
        <p:spPr>
          <a:xfrm>
            <a:off x="12929868" y="398681"/>
            <a:ext cx="870958" cy="1074704"/>
          </a:xfrm>
          <a:custGeom>
            <a:rect b="b" l="l" r="r" t="t"/>
            <a:pathLst>
              <a:path extrusionOk="0" h="1074704" w="870958">
                <a:moveTo>
                  <a:pt x="0" y="0"/>
                </a:moveTo>
                <a:lnTo>
                  <a:pt x="870958" y="0"/>
                </a:lnTo>
                <a:lnTo>
                  <a:pt x="870958" y="1074704"/>
                </a:lnTo>
                <a:lnTo>
                  <a:pt x="0" y="1074704"/>
                </a:lnTo>
                <a:lnTo>
                  <a:pt x="0" y="0"/>
                </a:lnTo>
                <a:close/>
              </a:path>
            </a:pathLst>
          </a:custGeom>
          <a:blipFill rotWithShape="1">
            <a:blip r:embed="rId3">
              <a:alphaModFix/>
            </a:blip>
            <a:stretch>
              <a:fillRect b="0" l="0" r="0" t="0"/>
            </a:stretch>
          </a:blipFill>
          <a:ln>
            <a:noFill/>
          </a:ln>
        </p:spPr>
      </p:sp>
      <p:sp>
        <p:nvSpPr>
          <p:cNvPr id="567" name="Google Shape;567;g33f545acea5_1_175"/>
          <p:cNvSpPr/>
          <p:nvPr/>
        </p:nvSpPr>
        <p:spPr>
          <a:xfrm rot="1282585">
            <a:off x="11287292" y="-106718"/>
            <a:ext cx="1351560" cy="1393361"/>
          </a:xfrm>
          <a:custGeom>
            <a:rect b="b" l="l" r="r" t="t"/>
            <a:pathLst>
              <a:path extrusionOk="0" h="1391427" w="1349684">
                <a:moveTo>
                  <a:pt x="0" y="0"/>
                </a:moveTo>
                <a:lnTo>
                  <a:pt x="1349684" y="0"/>
                </a:lnTo>
                <a:lnTo>
                  <a:pt x="1349684" y="1391427"/>
                </a:lnTo>
                <a:lnTo>
                  <a:pt x="0" y="1391427"/>
                </a:lnTo>
                <a:lnTo>
                  <a:pt x="0" y="0"/>
                </a:lnTo>
                <a:close/>
              </a:path>
            </a:pathLst>
          </a:custGeom>
          <a:blipFill rotWithShape="1">
            <a:blip r:embed="rId4">
              <a:alphaModFix/>
            </a:blip>
            <a:stretch>
              <a:fillRect b="0" l="0" r="0" t="0"/>
            </a:stretch>
          </a:blipFill>
          <a:ln>
            <a:noFill/>
          </a:ln>
        </p:spPr>
      </p:sp>
      <p:sp>
        <p:nvSpPr>
          <p:cNvPr id="568" name="Google Shape;568;g33f545acea5_1_175"/>
          <p:cNvSpPr/>
          <p:nvPr/>
        </p:nvSpPr>
        <p:spPr>
          <a:xfrm>
            <a:off x="14255959" y="132531"/>
            <a:ext cx="1258008" cy="1289163"/>
          </a:xfrm>
          <a:custGeom>
            <a:rect b="b" l="l" r="r" t="t"/>
            <a:pathLst>
              <a:path extrusionOk="0" h="1289163" w="1258008">
                <a:moveTo>
                  <a:pt x="0" y="0"/>
                </a:moveTo>
                <a:lnTo>
                  <a:pt x="1258007" y="0"/>
                </a:lnTo>
                <a:lnTo>
                  <a:pt x="1258007" y="1289162"/>
                </a:lnTo>
                <a:lnTo>
                  <a:pt x="0" y="1289162"/>
                </a:lnTo>
                <a:lnTo>
                  <a:pt x="0" y="0"/>
                </a:lnTo>
                <a:close/>
              </a:path>
            </a:pathLst>
          </a:custGeom>
          <a:blipFill rotWithShape="1">
            <a:blip r:embed="rId5">
              <a:alphaModFix/>
            </a:blip>
            <a:stretch>
              <a:fillRect b="0" l="0" r="0" t="0"/>
            </a:stretch>
          </a:blipFill>
          <a:ln>
            <a:noFill/>
          </a:ln>
        </p:spPr>
      </p:sp>
      <p:sp>
        <p:nvSpPr>
          <p:cNvPr id="569" name="Google Shape;569;g33f545acea5_1_175"/>
          <p:cNvSpPr/>
          <p:nvPr/>
        </p:nvSpPr>
        <p:spPr>
          <a:xfrm>
            <a:off x="15662776" y="-44985"/>
            <a:ext cx="1459264" cy="1962035"/>
          </a:xfrm>
          <a:custGeom>
            <a:rect b="b" l="l" r="r" t="t"/>
            <a:pathLst>
              <a:path extrusionOk="0" h="1962035" w="1459264">
                <a:moveTo>
                  <a:pt x="0" y="0"/>
                </a:moveTo>
                <a:lnTo>
                  <a:pt x="1459264" y="0"/>
                </a:lnTo>
                <a:lnTo>
                  <a:pt x="1459264" y="1962036"/>
                </a:lnTo>
                <a:lnTo>
                  <a:pt x="0" y="1962036"/>
                </a:lnTo>
                <a:lnTo>
                  <a:pt x="0" y="0"/>
                </a:lnTo>
                <a:close/>
              </a:path>
            </a:pathLst>
          </a:custGeom>
          <a:blipFill rotWithShape="1">
            <a:blip r:embed="rId6">
              <a:alphaModFix/>
            </a:blip>
            <a:stretch>
              <a:fillRect b="0" l="0" r="0" t="0"/>
            </a:stretch>
          </a:blipFill>
          <a:ln>
            <a:noFill/>
          </a:ln>
        </p:spPr>
      </p:sp>
      <p:pic>
        <p:nvPicPr>
          <p:cNvPr id="570" name="Google Shape;570;g33f545acea5_1_175"/>
          <p:cNvPicPr preferRelativeResize="0"/>
          <p:nvPr/>
        </p:nvPicPr>
        <p:blipFill rotWithShape="1">
          <a:blip r:embed="rId7">
            <a:alphaModFix/>
          </a:blip>
          <a:srcRect b="1166" l="0" r="0" t="0"/>
          <a:stretch/>
        </p:blipFill>
        <p:spPr>
          <a:xfrm>
            <a:off x="401425" y="1621802"/>
            <a:ext cx="4485060" cy="7506571"/>
          </a:xfrm>
          <a:prstGeom prst="rect">
            <a:avLst/>
          </a:prstGeom>
          <a:noFill/>
          <a:ln>
            <a:noFill/>
          </a:ln>
        </p:spPr>
      </p:pic>
      <p:pic>
        <p:nvPicPr>
          <p:cNvPr id="571" name="Google Shape;571;g33f545acea5_1_175"/>
          <p:cNvPicPr preferRelativeResize="0"/>
          <p:nvPr/>
        </p:nvPicPr>
        <p:blipFill>
          <a:blip r:embed="rId8">
            <a:alphaModFix/>
          </a:blip>
          <a:stretch>
            <a:fillRect/>
          </a:stretch>
        </p:blipFill>
        <p:spPr>
          <a:xfrm>
            <a:off x="9371547" y="1577625"/>
            <a:ext cx="4523928" cy="7594926"/>
          </a:xfrm>
          <a:prstGeom prst="rect">
            <a:avLst/>
          </a:prstGeom>
          <a:noFill/>
          <a:ln>
            <a:noFill/>
          </a:ln>
        </p:spPr>
      </p:pic>
      <p:pic>
        <p:nvPicPr>
          <p:cNvPr id="572" name="Google Shape;572;g33f545acea5_1_175"/>
          <p:cNvPicPr preferRelativeResize="0"/>
          <p:nvPr/>
        </p:nvPicPr>
        <p:blipFill>
          <a:blip r:embed="rId9">
            <a:alphaModFix/>
          </a:blip>
          <a:stretch>
            <a:fillRect/>
          </a:stretch>
        </p:blipFill>
        <p:spPr>
          <a:xfrm>
            <a:off x="4886486" y="1584193"/>
            <a:ext cx="4485060" cy="7581778"/>
          </a:xfrm>
          <a:prstGeom prst="rect">
            <a:avLst/>
          </a:prstGeom>
          <a:noFill/>
          <a:ln>
            <a:noFill/>
          </a:ln>
        </p:spPr>
      </p:pic>
      <p:pic>
        <p:nvPicPr>
          <p:cNvPr id="573" name="Google Shape;573;g33f545acea5_1_175"/>
          <p:cNvPicPr preferRelativeResize="0"/>
          <p:nvPr/>
        </p:nvPicPr>
        <p:blipFill>
          <a:blip r:embed="rId10">
            <a:alphaModFix/>
          </a:blip>
          <a:stretch>
            <a:fillRect/>
          </a:stretch>
        </p:blipFill>
        <p:spPr>
          <a:xfrm>
            <a:off x="13895475" y="1599287"/>
            <a:ext cx="4094520" cy="7551614"/>
          </a:xfrm>
          <a:prstGeom prst="rect">
            <a:avLst/>
          </a:prstGeom>
          <a:noFill/>
          <a:ln>
            <a:noFill/>
          </a:ln>
        </p:spPr>
      </p:pic>
      <p:sp>
        <p:nvSpPr>
          <p:cNvPr id="574" name="Google Shape;574;g33f545acea5_1_175"/>
          <p:cNvSpPr txBox="1"/>
          <p:nvPr/>
        </p:nvSpPr>
        <p:spPr>
          <a:xfrm>
            <a:off x="6522238" y="646225"/>
            <a:ext cx="5599200" cy="754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4900">
                <a:solidFill>
                  <a:srgbClr val="1D5732"/>
                </a:solidFill>
              </a:rPr>
              <a:t>Random Forest</a:t>
            </a:r>
            <a:endParaRPr sz="4900">
              <a:solidFill>
                <a:srgbClr val="1D573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3B1"/>
        </a:solidFill>
      </p:bgPr>
    </p:bg>
    <p:spTree>
      <p:nvGrpSpPr>
        <p:cNvPr id="578" name="Shape 578"/>
        <p:cNvGrpSpPr/>
        <p:nvPr/>
      </p:nvGrpSpPr>
      <p:grpSpPr>
        <a:xfrm>
          <a:off x="0" y="0"/>
          <a:ext cx="0" cy="0"/>
          <a:chOff x="0" y="0"/>
          <a:chExt cx="0" cy="0"/>
        </a:xfrm>
      </p:grpSpPr>
      <p:sp>
        <p:nvSpPr>
          <p:cNvPr id="579" name="Google Shape;579;g33fd9592919_2_18"/>
          <p:cNvSpPr txBox="1"/>
          <p:nvPr/>
        </p:nvSpPr>
        <p:spPr>
          <a:xfrm>
            <a:off x="566425" y="561625"/>
            <a:ext cx="116958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6000">
                <a:solidFill>
                  <a:srgbClr val="1D5732"/>
                </a:solidFill>
              </a:rPr>
              <a:t>Appendix</a:t>
            </a:r>
            <a:endParaRPr sz="6000">
              <a:solidFill>
                <a:srgbClr val="1D5732"/>
              </a:solidFill>
            </a:endParaRPr>
          </a:p>
        </p:txBody>
      </p:sp>
      <p:sp>
        <p:nvSpPr>
          <p:cNvPr id="580" name="Google Shape;580;g33fd9592919_2_18"/>
          <p:cNvSpPr txBox="1"/>
          <p:nvPr/>
        </p:nvSpPr>
        <p:spPr>
          <a:xfrm>
            <a:off x="15969090" y="962025"/>
            <a:ext cx="1267800" cy="615600"/>
          </a:xfrm>
          <a:prstGeom prst="rect">
            <a:avLst/>
          </a:prstGeom>
          <a:noFill/>
          <a:ln>
            <a:noFill/>
          </a:ln>
        </p:spPr>
        <p:txBody>
          <a:bodyPr anchorCtr="0" anchor="t" bIns="0" lIns="0" spcFirstLastPara="1" rIns="0" wrap="square" tIns="0">
            <a:spAutoFit/>
          </a:bodyPr>
          <a:lstStyle/>
          <a:p>
            <a:pPr indent="0" lvl="0" marL="0" marR="0" rtl="0" algn="r">
              <a:lnSpc>
                <a:spcPct val="140010"/>
              </a:lnSpc>
              <a:spcBef>
                <a:spcPts val="0"/>
              </a:spcBef>
              <a:spcAft>
                <a:spcPts val="0"/>
              </a:spcAft>
              <a:buNone/>
            </a:pPr>
            <a:r>
              <a:rPr b="1" i="0" lang="en-US" sz="3999" u="none" cap="none" strike="noStrike">
                <a:solidFill>
                  <a:srgbClr val="EEE3B1"/>
                </a:solidFill>
                <a:latin typeface="Arial"/>
                <a:ea typeface="Arial"/>
                <a:cs typeface="Arial"/>
                <a:sym typeface="Arial"/>
              </a:rPr>
              <a:t>03</a:t>
            </a:r>
            <a:endParaRPr/>
          </a:p>
        </p:txBody>
      </p:sp>
      <p:sp>
        <p:nvSpPr>
          <p:cNvPr id="581" name="Google Shape;581;g33fd9592919_2_18"/>
          <p:cNvSpPr/>
          <p:nvPr/>
        </p:nvSpPr>
        <p:spPr>
          <a:xfrm>
            <a:off x="12929868" y="398681"/>
            <a:ext cx="870958" cy="1074704"/>
          </a:xfrm>
          <a:custGeom>
            <a:rect b="b" l="l" r="r" t="t"/>
            <a:pathLst>
              <a:path extrusionOk="0" h="1074704" w="870958">
                <a:moveTo>
                  <a:pt x="0" y="0"/>
                </a:moveTo>
                <a:lnTo>
                  <a:pt x="870958" y="0"/>
                </a:lnTo>
                <a:lnTo>
                  <a:pt x="870958" y="1074704"/>
                </a:lnTo>
                <a:lnTo>
                  <a:pt x="0" y="1074704"/>
                </a:lnTo>
                <a:lnTo>
                  <a:pt x="0" y="0"/>
                </a:lnTo>
                <a:close/>
              </a:path>
            </a:pathLst>
          </a:custGeom>
          <a:blipFill rotWithShape="1">
            <a:blip r:embed="rId3">
              <a:alphaModFix/>
            </a:blip>
            <a:stretch>
              <a:fillRect b="0" l="0" r="0" t="0"/>
            </a:stretch>
          </a:blipFill>
          <a:ln>
            <a:noFill/>
          </a:ln>
        </p:spPr>
      </p:sp>
      <p:sp>
        <p:nvSpPr>
          <p:cNvPr id="582" name="Google Shape;582;g33fd9592919_2_18"/>
          <p:cNvSpPr/>
          <p:nvPr/>
        </p:nvSpPr>
        <p:spPr>
          <a:xfrm rot="1282585">
            <a:off x="11287292" y="-106718"/>
            <a:ext cx="1351560" cy="1393361"/>
          </a:xfrm>
          <a:custGeom>
            <a:rect b="b" l="l" r="r" t="t"/>
            <a:pathLst>
              <a:path extrusionOk="0" h="1391427" w="1349684">
                <a:moveTo>
                  <a:pt x="0" y="0"/>
                </a:moveTo>
                <a:lnTo>
                  <a:pt x="1349684" y="0"/>
                </a:lnTo>
                <a:lnTo>
                  <a:pt x="1349684" y="1391427"/>
                </a:lnTo>
                <a:lnTo>
                  <a:pt x="0" y="1391427"/>
                </a:lnTo>
                <a:lnTo>
                  <a:pt x="0" y="0"/>
                </a:lnTo>
                <a:close/>
              </a:path>
            </a:pathLst>
          </a:custGeom>
          <a:blipFill rotWithShape="1">
            <a:blip r:embed="rId4">
              <a:alphaModFix/>
            </a:blip>
            <a:stretch>
              <a:fillRect b="0" l="0" r="0" t="0"/>
            </a:stretch>
          </a:blipFill>
          <a:ln>
            <a:noFill/>
          </a:ln>
        </p:spPr>
      </p:sp>
      <p:sp>
        <p:nvSpPr>
          <p:cNvPr id="583" name="Google Shape;583;g33fd9592919_2_18"/>
          <p:cNvSpPr/>
          <p:nvPr/>
        </p:nvSpPr>
        <p:spPr>
          <a:xfrm>
            <a:off x="14255959" y="132531"/>
            <a:ext cx="1258008" cy="1289163"/>
          </a:xfrm>
          <a:custGeom>
            <a:rect b="b" l="l" r="r" t="t"/>
            <a:pathLst>
              <a:path extrusionOk="0" h="1289163" w="1258008">
                <a:moveTo>
                  <a:pt x="0" y="0"/>
                </a:moveTo>
                <a:lnTo>
                  <a:pt x="1258007" y="0"/>
                </a:lnTo>
                <a:lnTo>
                  <a:pt x="1258007" y="1289162"/>
                </a:lnTo>
                <a:lnTo>
                  <a:pt x="0" y="1289162"/>
                </a:lnTo>
                <a:lnTo>
                  <a:pt x="0" y="0"/>
                </a:lnTo>
                <a:close/>
              </a:path>
            </a:pathLst>
          </a:custGeom>
          <a:blipFill rotWithShape="1">
            <a:blip r:embed="rId5">
              <a:alphaModFix/>
            </a:blip>
            <a:stretch>
              <a:fillRect b="0" l="0" r="0" t="0"/>
            </a:stretch>
          </a:blipFill>
          <a:ln>
            <a:noFill/>
          </a:ln>
        </p:spPr>
      </p:sp>
      <p:sp>
        <p:nvSpPr>
          <p:cNvPr id="584" name="Google Shape;584;g33fd9592919_2_18"/>
          <p:cNvSpPr/>
          <p:nvPr/>
        </p:nvSpPr>
        <p:spPr>
          <a:xfrm>
            <a:off x="15662776" y="-44985"/>
            <a:ext cx="1459264" cy="1962035"/>
          </a:xfrm>
          <a:custGeom>
            <a:rect b="b" l="l" r="r" t="t"/>
            <a:pathLst>
              <a:path extrusionOk="0" h="1962035" w="1459264">
                <a:moveTo>
                  <a:pt x="0" y="0"/>
                </a:moveTo>
                <a:lnTo>
                  <a:pt x="1459264" y="0"/>
                </a:lnTo>
                <a:lnTo>
                  <a:pt x="1459264" y="1962036"/>
                </a:lnTo>
                <a:lnTo>
                  <a:pt x="0" y="1962036"/>
                </a:lnTo>
                <a:lnTo>
                  <a:pt x="0" y="0"/>
                </a:lnTo>
                <a:close/>
              </a:path>
            </a:pathLst>
          </a:custGeom>
          <a:blipFill rotWithShape="1">
            <a:blip r:embed="rId6">
              <a:alphaModFix/>
            </a:blip>
            <a:stretch>
              <a:fillRect b="0" l="0" r="0" t="0"/>
            </a:stretch>
          </a:blipFill>
          <a:ln>
            <a:noFill/>
          </a:ln>
        </p:spPr>
      </p:sp>
      <p:sp>
        <p:nvSpPr>
          <p:cNvPr id="585" name="Google Shape;585;g33fd9592919_2_18"/>
          <p:cNvSpPr txBox="1"/>
          <p:nvPr/>
        </p:nvSpPr>
        <p:spPr>
          <a:xfrm>
            <a:off x="8642004" y="730825"/>
            <a:ext cx="1659600" cy="7542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4900">
                <a:solidFill>
                  <a:srgbClr val="1D5732"/>
                </a:solidFill>
              </a:rPr>
              <a:t>SVM</a:t>
            </a:r>
            <a:endParaRPr sz="4900">
              <a:solidFill>
                <a:srgbClr val="1D5732"/>
              </a:solidFill>
            </a:endParaRPr>
          </a:p>
        </p:txBody>
      </p:sp>
      <p:pic>
        <p:nvPicPr>
          <p:cNvPr id="586" name="Google Shape;586;g33fd9592919_2_18"/>
          <p:cNvPicPr preferRelativeResize="0"/>
          <p:nvPr/>
        </p:nvPicPr>
        <p:blipFill>
          <a:blip r:embed="rId7">
            <a:alphaModFix/>
          </a:blip>
          <a:stretch>
            <a:fillRect/>
          </a:stretch>
        </p:blipFill>
        <p:spPr>
          <a:xfrm>
            <a:off x="566425" y="1577625"/>
            <a:ext cx="4285899" cy="8183225"/>
          </a:xfrm>
          <a:prstGeom prst="rect">
            <a:avLst/>
          </a:prstGeom>
          <a:noFill/>
          <a:ln>
            <a:noFill/>
          </a:ln>
        </p:spPr>
      </p:pic>
      <p:pic>
        <p:nvPicPr>
          <p:cNvPr id="587" name="Google Shape;587;g33fd9592919_2_18"/>
          <p:cNvPicPr preferRelativeResize="0"/>
          <p:nvPr/>
        </p:nvPicPr>
        <p:blipFill>
          <a:blip r:embed="rId8">
            <a:alphaModFix/>
          </a:blip>
          <a:stretch>
            <a:fillRect/>
          </a:stretch>
        </p:blipFill>
        <p:spPr>
          <a:xfrm>
            <a:off x="9430699" y="1624300"/>
            <a:ext cx="4214423" cy="8089884"/>
          </a:xfrm>
          <a:prstGeom prst="rect">
            <a:avLst/>
          </a:prstGeom>
          <a:noFill/>
          <a:ln>
            <a:noFill/>
          </a:ln>
        </p:spPr>
      </p:pic>
      <p:pic>
        <p:nvPicPr>
          <p:cNvPr id="588" name="Google Shape;588;g33fd9592919_2_18"/>
          <p:cNvPicPr preferRelativeResize="0"/>
          <p:nvPr/>
        </p:nvPicPr>
        <p:blipFill>
          <a:blip r:embed="rId9">
            <a:alphaModFix/>
          </a:blip>
          <a:stretch>
            <a:fillRect/>
          </a:stretch>
        </p:blipFill>
        <p:spPr>
          <a:xfrm>
            <a:off x="4951946" y="1577625"/>
            <a:ext cx="4379131" cy="8497177"/>
          </a:xfrm>
          <a:prstGeom prst="rect">
            <a:avLst/>
          </a:prstGeom>
          <a:noFill/>
          <a:ln>
            <a:noFill/>
          </a:ln>
        </p:spPr>
      </p:pic>
      <p:pic>
        <p:nvPicPr>
          <p:cNvPr id="589" name="Google Shape;589;g33fd9592919_2_18"/>
          <p:cNvPicPr preferRelativeResize="0"/>
          <p:nvPr/>
        </p:nvPicPr>
        <p:blipFill>
          <a:blip r:embed="rId10">
            <a:alphaModFix/>
          </a:blip>
          <a:stretch>
            <a:fillRect/>
          </a:stretch>
        </p:blipFill>
        <p:spPr>
          <a:xfrm>
            <a:off x="13820721" y="1636662"/>
            <a:ext cx="4111426" cy="806515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3B1"/>
        </a:solidFill>
      </p:bgPr>
    </p:bg>
    <p:spTree>
      <p:nvGrpSpPr>
        <p:cNvPr id="593" name="Shape 593"/>
        <p:cNvGrpSpPr/>
        <p:nvPr/>
      </p:nvGrpSpPr>
      <p:grpSpPr>
        <a:xfrm>
          <a:off x="0" y="0"/>
          <a:ext cx="0" cy="0"/>
          <a:chOff x="0" y="0"/>
          <a:chExt cx="0" cy="0"/>
        </a:xfrm>
      </p:grpSpPr>
      <p:sp>
        <p:nvSpPr>
          <p:cNvPr id="594" name="Google Shape;594;g33f91133ea5_0_236"/>
          <p:cNvSpPr txBox="1"/>
          <p:nvPr/>
        </p:nvSpPr>
        <p:spPr>
          <a:xfrm>
            <a:off x="566425" y="561625"/>
            <a:ext cx="116958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6000">
                <a:solidFill>
                  <a:srgbClr val="1D5732"/>
                </a:solidFill>
              </a:rPr>
              <a:t>Appendix - K=4</a:t>
            </a:r>
            <a:endParaRPr sz="6000">
              <a:solidFill>
                <a:srgbClr val="1D5732"/>
              </a:solidFill>
            </a:endParaRPr>
          </a:p>
        </p:txBody>
      </p:sp>
      <p:sp>
        <p:nvSpPr>
          <p:cNvPr id="595" name="Google Shape;595;g33f91133ea5_0_236"/>
          <p:cNvSpPr txBox="1"/>
          <p:nvPr/>
        </p:nvSpPr>
        <p:spPr>
          <a:xfrm>
            <a:off x="15969090" y="962025"/>
            <a:ext cx="1267800" cy="615600"/>
          </a:xfrm>
          <a:prstGeom prst="rect">
            <a:avLst/>
          </a:prstGeom>
          <a:noFill/>
          <a:ln>
            <a:noFill/>
          </a:ln>
        </p:spPr>
        <p:txBody>
          <a:bodyPr anchorCtr="0" anchor="t" bIns="0" lIns="0" spcFirstLastPara="1" rIns="0" wrap="square" tIns="0">
            <a:spAutoFit/>
          </a:bodyPr>
          <a:lstStyle/>
          <a:p>
            <a:pPr indent="0" lvl="0" marL="0" marR="0" rtl="0" algn="r">
              <a:lnSpc>
                <a:spcPct val="140010"/>
              </a:lnSpc>
              <a:spcBef>
                <a:spcPts val="0"/>
              </a:spcBef>
              <a:spcAft>
                <a:spcPts val="0"/>
              </a:spcAft>
              <a:buNone/>
            </a:pPr>
            <a:r>
              <a:rPr b="1" i="0" lang="en-US" sz="3999" u="none" cap="none" strike="noStrike">
                <a:solidFill>
                  <a:srgbClr val="EEE3B1"/>
                </a:solidFill>
                <a:latin typeface="Arial"/>
                <a:ea typeface="Arial"/>
                <a:cs typeface="Arial"/>
                <a:sym typeface="Arial"/>
              </a:rPr>
              <a:t>03</a:t>
            </a:r>
            <a:endParaRPr/>
          </a:p>
        </p:txBody>
      </p:sp>
      <p:sp>
        <p:nvSpPr>
          <p:cNvPr id="596" name="Google Shape;596;g33f91133ea5_0_236"/>
          <p:cNvSpPr/>
          <p:nvPr/>
        </p:nvSpPr>
        <p:spPr>
          <a:xfrm>
            <a:off x="12929868" y="398681"/>
            <a:ext cx="870958" cy="1074704"/>
          </a:xfrm>
          <a:custGeom>
            <a:rect b="b" l="l" r="r" t="t"/>
            <a:pathLst>
              <a:path extrusionOk="0" h="1074704" w="870958">
                <a:moveTo>
                  <a:pt x="0" y="0"/>
                </a:moveTo>
                <a:lnTo>
                  <a:pt x="870958" y="0"/>
                </a:lnTo>
                <a:lnTo>
                  <a:pt x="870958" y="1074704"/>
                </a:lnTo>
                <a:lnTo>
                  <a:pt x="0" y="1074704"/>
                </a:lnTo>
                <a:lnTo>
                  <a:pt x="0" y="0"/>
                </a:lnTo>
                <a:close/>
              </a:path>
            </a:pathLst>
          </a:custGeom>
          <a:blipFill rotWithShape="1">
            <a:blip r:embed="rId3">
              <a:alphaModFix/>
            </a:blip>
            <a:stretch>
              <a:fillRect b="0" l="0" r="0" t="0"/>
            </a:stretch>
          </a:blipFill>
          <a:ln>
            <a:noFill/>
          </a:ln>
        </p:spPr>
      </p:sp>
      <p:sp>
        <p:nvSpPr>
          <p:cNvPr id="597" name="Google Shape;597;g33f91133ea5_0_236"/>
          <p:cNvSpPr/>
          <p:nvPr/>
        </p:nvSpPr>
        <p:spPr>
          <a:xfrm rot="1282585">
            <a:off x="11287292" y="-106718"/>
            <a:ext cx="1351560" cy="1393361"/>
          </a:xfrm>
          <a:custGeom>
            <a:rect b="b" l="l" r="r" t="t"/>
            <a:pathLst>
              <a:path extrusionOk="0" h="1391427" w="1349684">
                <a:moveTo>
                  <a:pt x="0" y="0"/>
                </a:moveTo>
                <a:lnTo>
                  <a:pt x="1349684" y="0"/>
                </a:lnTo>
                <a:lnTo>
                  <a:pt x="1349684" y="1391427"/>
                </a:lnTo>
                <a:lnTo>
                  <a:pt x="0" y="1391427"/>
                </a:lnTo>
                <a:lnTo>
                  <a:pt x="0" y="0"/>
                </a:lnTo>
                <a:close/>
              </a:path>
            </a:pathLst>
          </a:custGeom>
          <a:blipFill rotWithShape="1">
            <a:blip r:embed="rId4">
              <a:alphaModFix/>
            </a:blip>
            <a:stretch>
              <a:fillRect b="0" l="0" r="0" t="0"/>
            </a:stretch>
          </a:blipFill>
          <a:ln>
            <a:noFill/>
          </a:ln>
        </p:spPr>
      </p:sp>
      <p:sp>
        <p:nvSpPr>
          <p:cNvPr id="598" name="Google Shape;598;g33f91133ea5_0_236"/>
          <p:cNvSpPr/>
          <p:nvPr/>
        </p:nvSpPr>
        <p:spPr>
          <a:xfrm>
            <a:off x="14255959" y="132531"/>
            <a:ext cx="1258008" cy="1289163"/>
          </a:xfrm>
          <a:custGeom>
            <a:rect b="b" l="l" r="r" t="t"/>
            <a:pathLst>
              <a:path extrusionOk="0" h="1289163" w="1258008">
                <a:moveTo>
                  <a:pt x="0" y="0"/>
                </a:moveTo>
                <a:lnTo>
                  <a:pt x="1258007" y="0"/>
                </a:lnTo>
                <a:lnTo>
                  <a:pt x="1258007" y="1289162"/>
                </a:lnTo>
                <a:lnTo>
                  <a:pt x="0" y="1289162"/>
                </a:lnTo>
                <a:lnTo>
                  <a:pt x="0" y="0"/>
                </a:lnTo>
                <a:close/>
              </a:path>
            </a:pathLst>
          </a:custGeom>
          <a:blipFill rotWithShape="1">
            <a:blip r:embed="rId5">
              <a:alphaModFix/>
            </a:blip>
            <a:stretch>
              <a:fillRect b="0" l="0" r="0" t="0"/>
            </a:stretch>
          </a:blipFill>
          <a:ln>
            <a:noFill/>
          </a:ln>
        </p:spPr>
      </p:sp>
      <p:sp>
        <p:nvSpPr>
          <p:cNvPr id="599" name="Google Shape;599;g33f91133ea5_0_236"/>
          <p:cNvSpPr/>
          <p:nvPr/>
        </p:nvSpPr>
        <p:spPr>
          <a:xfrm>
            <a:off x="15662776" y="-44985"/>
            <a:ext cx="1459264" cy="1962035"/>
          </a:xfrm>
          <a:custGeom>
            <a:rect b="b" l="l" r="r" t="t"/>
            <a:pathLst>
              <a:path extrusionOk="0" h="1962035" w="1459264">
                <a:moveTo>
                  <a:pt x="0" y="0"/>
                </a:moveTo>
                <a:lnTo>
                  <a:pt x="1459264" y="0"/>
                </a:lnTo>
                <a:lnTo>
                  <a:pt x="1459264" y="1962036"/>
                </a:lnTo>
                <a:lnTo>
                  <a:pt x="0" y="1962036"/>
                </a:lnTo>
                <a:lnTo>
                  <a:pt x="0" y="0"/>
                </a:lnTo>
                <a:close/>
              </a:path>
            </a:pathLst>
          </a:custGeom>
          <a:blipFill rotWithShape="1">
            <a:blip r:embed="rId6">
              <a:alphaModFix/>
            </a:blip>
            <a:stretch>
              <a:fillRect b="0" l="0" r="0" t="0"/>
            </a:stretch>
          </a:blipFill>
          <a:ln>
            <a:noFill/>
          </a:ln>
        </p:spPr>
      </p:sp>
      <p:sp>
        <p:nvSpPr>
          <p:cNvPr id="600" name="Google Shape;600;g33f91133ea5_0_236"/>
          <p:cNvSpPr txBox="1"/>
          <p:nvPr/>
        </p:nvSpPr>
        <p:spPr>
          <a:xfrm>
            <a:off x="1374025" y="2381800"/>
            <a:ext cx="133152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u="sng">
                <a:solidFill>
                  <a:schemeClr val="hlink"/>
                </a:solidFill>
                <a:latin typeface="Calibri"/>
                <a:ea typeface="Calibri"/>
                <a:cs typeface="Calibri"/>
                <a:sym typeface="Calibri"/>
                <a:hlinkClick r:id="rId7"/>
              </a:rPr>
              <a:t>https://docs.google.com/spreadsheets/d/1snVPhKFs-buUIon_h7S3_HFifOqQ-O2oSkzyPTm2LVE/edit?usp=drive_link</a:t>
            </a:r>
            <a:endParaRPr sz="3200">
              <a:solidFill>
                <a:schemeClr val="dk1"/>
              </a:solidFill>
              <a:latin typeface="Calibri"/>
              <a:ea typeface="Calibri"/>
              <a:cs typeface="Calibri"/>
              <a:sym typeface="Calibri"/>
            </a:endParaRPr>
          </a:p>
        </p:txBody>
      </p:sp>
      <p:sp>
        <p:nvSpPr>
          <p:cNvPr id="601" name="Google Shape;601;g33f91133ea5_0_236"/>
          <p:cNvSpPr txBox="1"/>
          <p:nvPr/>
        </p:nvSpPr>
        <p:spPr>
          <a:xfrm>
            <a:off x="1374025" y="1577613"/>
            <a:ext cx="10888200" cy="4002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t/>
            </a:r>
            <a:endParaRPr/>
          </a:p>
        </p:txBody>
      </p:sp>
      <p:pic>
        <p:nvPicPr>
          <p:cNvPr id="602" name="Google Shape;602;g33f91133ea5_0_236" title="Screenshot 2025-03-12 at 11.58.05 PM.png"/>
          <p:cNvPicPr preferRelativeResize="0"/>
          <p:nvPr/>
        </p:nvPicPr>
        <p:blipFill>
          <a:blip r:embed="rId8">
            <a:alphaModFix/>
          </a:blip>
          <a:stretch>
            <a:fillRect/>
          </a:stretch>
        </p:blipFill>
        <p:spPr>
          <a:xfrm>
            <a:off x="5324725" y="3779200"/>
            <a:ext cx="7638553" cy="59683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3B1"/>
        </a:solidFill>
      </p:bgPr>
    </p:bg>
    <p:spTree>
      <p:nvGrpSpPr>
        <p:cNvPr id="606" name="Shape 606"/>
        <p:cNvGrpSpPr/>
        <p:nvPr/>
      </p:nvGrpSpPr>
      <p:grpSpPr>
        <a:xfrm>
          <a:off x="0" y="0"/>
          <a:ext cx="0" cy="0"/>
          <a:chOff x="0" y="0"/>
          <a:chExt cx="0" cy="0"/>
        </a:xfrm>
      </p:grpSpPr>
      <p:sp>
        <p:nvSpPr>
          <p:cNvPr id="607" name="Google Shape;607;g3359ef02b44_1_7"/>
          <p:cNvSpPr txBox="1"/>
          <p:nvPr/>
        </p:nvSpPr>
        <p:spPr>
          <a:xfrm>
            <a:off x="566425" y="561625"/>
            <a:ext cx="116958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6000">
                <a:solidFill>
                  <a:srgbClr val="1D5732"/>
                </a:solidFill>
              </a:rPr>
              <a:t>Appendix - K=3</a:t>
            </a:r>
            <a:endParaRPr sz="6000">
              <a:solidFill>
                <a:srgbClr val="1D5732"/>
              </a:solidFill>
            </a:endParaRPr>
          </a:p>
        </p:txBody>
      </p:sp>
      <p:sp>
        <p:nvSpPr>
          <p:cNvPr id="608" name="Google Shape;608;g3359ef02b44_1_7"/>
          <p:cNvSpPr txBox="1"/>
          <p:nvPr/>
        </p:nvSpPr>
        <p:spPr>
          <a:xfrm>
            <a:off x="15969090" y="962025"/>
            <a:ext cx="1267800" cy="615600"/>
          </a:xfrm>
          <a:prstGeom prst="rect">
            <a:avLst/>
          </a:prstGeom>
          <a:noFill/>
          <a:ln>
            <a:noFill/>
          </a:ln>
        </p:spPr>
        <p:txBody>
          <a:bodyPr anchorCtr="0" anchor="t" bIns="0" lIns="0" spcFirstLastPara="1" rIns="0" wrap="square" tIns="0">
            <a:spAutoFit/>
          </a:bodyPr>
          <a:lstStyle/>
          <a:p>
            <a:pPr indent="0" lvl="0" marL="0" marR="0" rtl="0" algn="r">
              <a:lnSpc>
                <a:spcPct val="140010"/>
              </a:lnSpc>
              <a:spcBef>
                <a:spcPts val="0"/>
              </a:spcBef>
              <a:spcAft>
                <a:spcPts val="0"/>
              </a:spcAft>
              <a:buNone/>
            </a:pPr>
            <a:r>
              <a:rPr b="1" i="0" lang="en-US" sz="3999" u="none" cap="none" strike="noStrike">
                <a:solidFill>
                  <a:srgbClr val="EEE3B1"/>
                </a:solidFill>
                <a:latin typeface="Arial"/>
                <a:ea typeface="Arial"/>
                <a:cs typeface="Arial"/>
                <a:sym typeface="Arial"/>
              </a:rPr>
              <a:t>03</a:t>
            </a:r>
            <a:endParaRPr/>
          </a:p>
        </p:txBody>
      </p:sp>
      <p:sp>
        <p:nvSpPr>
          <p:cNvPr id="609" name="Google Shape;609;g3359ef02b44_1_7"/>
          <p:cNvSpPr/>
          <p:nvPr/>
        </p:nvSpPr>
        <p:spPr>
          <a:xfrm>
            <a:off x="12929868" y="398681"/>
            <a:ext cx="870958" cy="1074704"/>
          </a:xfrm>
          <a:custGeom>
            <a:rect b="b" l="l" r="r" t="t"/>
            <a:pathLst>
              <a:path extrusionOk="0" h="1074704" w="870958">
                <a:moveTo>
                  <a:pt x="0" y="0"/>
                </a:moveTo>
                <a:lnTo>
                  <a:pt x="870958" y="0"/>
                </a:lnTo>
                <a:lnTo>
                  <a:pt x="870958" y="1074704"/>
                </a:lnTo>
                <a:lnTo>
                  <a:pt x="0" y="1074704"/>
                </a:lnTo>
                <a:lnTo>
                  <a:pt x="0" y="0"/>
                </a:lnTo>
                <a:close/>
              </a:path>
            </a:pathLst>
          </a:custGeom>
          <a:blipFill rotWithShape="1">
            <a:blip r:embed="rId3">
              <a:alphaModFix/>
            </a:blip>
            <a:stretch>
              <a:fillRect b="0" l="0" r="0" t="0"/>
            </a:stretch>
          </a:blipFill>
          <a:ln>
            <a:noFill/>
          </a:ln>
        </p:spPr>
      </p:sp>
      <p:sp>
        <p:nvSpPr>
          <p:cNvPr id="610" name="Google Shape;610;g3359ef02b44_1_7"/>
          <p:cNvSpPr/>
          <p:nvPr/>
        </p:nvSpPr>
        <p:spPr>
          <a:xfrm rot="1282585">
            <a:off x="11287292" y="-106718"/>
            <a:ext cx="1351560" cy="1393361"/>
          </a:xfrm>
          <a:custGeom>
            <a:rect b="b" l="l" r="r" t="t"/>
            <a:pathLst>
              <a:path extrusionOk="0" h="1391427" w="1349684">
                <a:moveTo>
                  <a:pt x="0" y="0"/>
                </a:moveTo>
                <a:lnTo>
                  <a:pt x="1349684" y="0"/>
                </a:lnTo>
                <a:lnTo>
                  <a:pt x="1349684" y="1391427"/>
                </a:lnTo>
                <a:lnTo>
                  <a:pt x="0" y="1391427"/>
                </a:lnTo>
                <a:lnTo>
                  <a:pt x="0" y="0"/>
                </a:lnTo>
                <a:close/>
              </a:path>
            </a:pathLst>
          </a:custGeom>
          <a:blipFill rotWithShape="1">
            <a:blip r:embed="rId4">
              <a:alphaModFix/>
            </a:blip>
            <a:stretch>
              <a:fillRect b="0" l="0" r="0" t="0"/>
            </a:stretch>
          </a:blipFill>
          <a:ln>
            <a:noFill/>
          </a:ln>
        </p:spPr>
      </p:sp>
      <p:sp>
        <p:nvSpPr>
          <p:cNvPr id="611" name="Google Shape;611;g3359ef02b44_1_7"/>
          <p:cNvSpPr/>
          <p:nvPr/>
        </p:nvSpPr>
        <p:spPr>
          <a:xfrm>
            <a:off x="14255959" y="132531"/>
            <a:ext cx="1258008" cy="1289163"/>
          </a:xfrm>
          <a:custGeom>
            <a:rect b="b" l="l" r="r" t="t"/>
            <a:pathLst>
              <a:path extrusionOk="0" h="1289163" w="1258008">
                <a:moveTo>
                  <a:pt x="0" y="0"/>
                </a:moveTo>
                <a:lnTo>
                  <a:pt x="1258007" y="0"/>
                </a:lnTo>
                <a:lnTo>
                  <a:pt x="1258007" y="1289162"/>
                </a:lnTo>
                <a:lnTo>
                  <a:pt x="0" y="1289162"/>
                </a:lnTo>
                <a:lnTo>
                  <a:pt x="0" y="0"/>
                </a:lnTo>
                <a:close/>
              </a:path>
            </a:pathLst>
          </a:custGeom>
          <a:blipFill rotWithShape="1">
            <a:blip r:embed="rId5">
              <a:alphaModFix/>
            </a:blip>
            <a:stretch>
              <a:fillRect b="0" l="0" r="0" t="0"/>
            </a:stretch>
          </a:blipFill>
          <a:ln>
            <a:noFill/>
          </a:ln>
        </p:spPr>
      </p:sp>
      <p:sp>
        <p:nvSpPr>
          <p:cNvPr id="612" name="Google Shape;612;g3359ef02b44_1_7"/>
          <p:cNvSpPr/>
          <p:nvPr/>
        </p:nvSpPr>
        <p:spPr>
          <a:xfrm>
            <a:off x="15662776" y="-44985"/>
            <a:ext cx="1459264" cy="1962035"/>
          </a:xfrm>
          <a:custGeom>
            <a:rect b="b" l="l" r="r" t="t"/>
            <a:pathLst>
              <a:path extrusionOk="0" h="1962035" w="1459264">
                <a:moveTo>
                  <a:pt x="0" y="0"/>
                </a:moveTo>
                <a:lnTo>
                  <a:pt x="1459264" y="0"/>
                </a:lnTo>
                <a:lnTo>
                  <a:pt x="1459264" y="1962036"/>
                </a:lnTo>
                <a:lnTo>
                  <a:pt x="0" y="1962036"/>
                </a:lnTo>
                <a:lnTo>
                  <a:pt x="0" y="0"/>
                </a:lnTo>
                <a:close/>
              </a:path>
            </a:pathLst>
          </a:custGeom>
          <a:blipFill rotWithShape="1">
            <a:blip r:embed="rId6">
              <a:alphaModFix/>
            </a:blip>
            <a:stretch>
              <a:fillRect b="0" l="0" r="0" t="0"/>
            </a:stretch>
          </a:blipFill>
          <a:ln>
            <a:noFill/>
          </a:ln>
        </p:spPr>
      </p:sp>
      <p:sp>
        <p:nvSpPr>
          <p:cNvPr id="613" name="Google Shape;613;g3359ef02b44_1_7"/>
          <p:cNvSpPr txBox="1"/>
          <p:nvPr/>
        </p:nvSpPr>
        <p:spPr>
          <a:xfrm>
            <a:off x="1374025" y="2381800"/>
            <a:ext cx="133152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u="sng">
                <a:solidFill>
                  <a:schemeClr val="hlink"/>
                </a:solidFill>
                <a:latin typeface="Calibri"/>
                <a:ea typeface="Calibri"/>
                <a:cs typeface="Calibri"/>
                <a:sym typeface="Calibri"/>
                <a:hlinkClick r:id="rId7"/>
              </a:rPr>
              <a:t>https://docs.google.com/spreadsheets/d/1F3KmWcoglkfmJNcTBFIW4pEwhk5vUy5qGL0Qw6lOUuA/edit?usp=drive_link</a:t>
            </a:r>
            <a:endParaRPr sz="3200">
              <a:solidFill>
                <a:schemeClr val="dk1"/>
              </a:solidFill>
              <a:latin typeface="Calibri"/>
              <a:ea typeface="Calibri"/>
              <a:cs typeface="Calibri"/>
              <a:sym typeface="Calibri"/>
            </a:endParaRPr>
          </a:p>
        </p:txBody>
      </p:sp>
      <p:sp>
        <p:nvSpPr>
          <p:cNvPr id="614" name="Google Shape;614;g3359ef02b44_1_7"/>
          <p:cNvSpPr txBox="1"/>
          <p:nvPr/>
        </p:nvSpPr>
        <p:spPr>
          <a:xfrm>
            <a:off x="1374025" y="1577613"/>
            <a:ext cx="10888200" cy="4002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t/>
            </a:r>
            <a:endParaRPr/>
          </a:p>
        </p:txBody>
      </p:sp>
      <p:pic>
        <p:nvPicPr>
          <p:cNvPr id="615" name="Google Shape;615;g3359ef02b44_1_7" title="Screenshot 2025-03-12 at 11.59.40 PM.png"/>
          <p:cNvPicPr preferRelativeResize="0"/>
          <p:nvPr/>
        </p:nvPicPr>
        <p:blipFill>
          <a:blip r:embed="rId8">
            <a:alphaModFix/>
          </a:blip>
          <a:stretch>
            <a:fillRect/>
          </a:stretch>
        </p:blipFill>
        <p:spPr>
          <a:xfrm>
            <a:off x="566425" y="4696175"/>
            <a:ext cx="6229924" cy="4644300"/>
          </a:xfrm>
          <a:prstGeom prst="rect">
            <a:avLst/>
          </a:prstGeom>
          <a:noFill/>
          <a:ln>
            <a:noFill/>
          </a:ln>
        </p:spPr>
      </p:pic>
      <p:pic>
        <p:nvPicPr>
          <p:cNvPr id="616" name="Google Shape;616;g3359ef02b44_1_7" title="Screenshot 2025-03-13 at 12.00.03 AM.png"/>
          <p:cNvPicPr preferRelativeResize="0"/>
          <p:nvPr/>
        </p:nvPicPr>
        <p:blipFill>
          <a:blip r:embed="rId9">
            <a:alphaModFix/>
          </a:blip>
          <a:stretch>
            <a:fillRect/>
          </a:stretch>
        </p:blipFill>
        <p:spPr>
          <a:xfrm>
            <a:off x="6933150" y="4749081"/>
            <a:ext cx="5811801" cy="4538482"/>
          </a:xfrm>
          <a:prstGeom prst="rect">
            <a:avLst/>
          </a:prstGeom>
          <a:noFill/>
          <a:ln>
            <a:noFill/>
          </a:ln>
        </p:spPr>
      </p:pic>
      <p:pic>
        <p:nvPicPr>
          <p:cNvPr id="617" name="Google Shape;617;g3359ef02b44_1_7" title="Screenshot 2025-03-13 at 12.00.41 AM.png"/>
          <p:cNvPicPr preferRelativeResize="0"/>
          <p:nvPr/>
        </p:nvPicPr>
        <p:blipFill>
          <a:blip r:embed="rId10">
            <a:alphaModFix/>
          </a:blip>
          <a:stretch>
            <a:fillRect/>
          </a:stretch>
        </p:blipFill>
        <p:spPr>
          <a:xfrm>
            <a:off x="12929875" y="4749075"/>
            <a:ext cx="5053326" cy="45385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3B1"/>
        </a:solidFill>
      </p:bgPr>
    </p:bg>
    <p:spTree>
      <p:nvGrpSpPr>
        <p:cNvPr id="621" name="Shape 621"/>
        <p:cNvGrpSpPr/>
        <p:nvPr/>
      </p:nvGrpSpPr>
      <p:grpSpPr>
        <a:xfrm>
          <a:off x="0" y="0"/>
          <a:ext cx="0" cy="0"/>
          <a:chOff x="0" y="0"/>
          <a:chExt cx="0" cy="0"/>
        </a:xfrm>
      </p:grpSpPr>
      <p:sp>
        <p:nvSpPr>
          <p:cNvPr id="622" name="Google Shape;622;g3359ef02b44_1_22"/>
          <p:cNvSpPr txBox="1"/>
          <p:nvPr/>
        </p:nvSpPr>
        <p:spPr>
          <a:xfrm>
            <a:off x="566425" y="561625"/>
            <a:ext cx="116958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6000">
                <a:solidFill>
                  <a:srgbClr val="1D5732"/>
                </a:solidFill>
              </a:rPr>
              <a:t>Appendix - C</a:t>
            </a:r>
            <a:r>
              <a:rPr b="1" lang="en-US" sz="6000">
                <a:solidFill>
                  <a:srgbClr val="1D5732"/>
                </a:solidFill>
              </a:rPr>
              <a:t>lustering</a:t>
            </a:r>
            <a:endParaRPr sz="6000">
              <a:solidFill>
                <a:srgbClr val="1D5732"/>
              </a:solidFill>
            </a:endParaRPr>
          </a:p>
        </p:txBody>
      </p:sp>
      <p:sp>
        <p:nvSpPr>
          <p:cNvPr id="623" name="Google Shape;623;g3359ef02b44_1_22"/>
          <p:cNvSpPr txBox="1"/>
          <p:nvPr/>
        </p:nvSpPr>
        <p:spPr>
          <a:xfrm>
            <a:off x="15969090" y="962025"/>
            <a:ext cx="1267800" cy="615600"/>
          </a:xfrm>
          <a:prstGeom prst="rect">
            <a:avLst/>
          </a:prstGeom>
          <a:noFill/>
          <a:ln>
            <a:noFill/>
          </a:ln>
        </p:spPr>
        <p:txBody>
          <a:bodyPr anchorCtr="0" anchor="t" bIns="0" lIns="0" spcFirstLastPara="1" rIns="0" wrap="square" tIns="0">
            <a:spAutoFit/>
          </a:bodyPr>
          <a:lstStyle/>
          <a:p>
            <a:pPr indent="0" lvl="0" marL="0" marR="0" rtl="0" algn="r">
              <a:lnSpc>
                <a:spcPct val="140010"/>
              </a:lnSpc>
              <a:spcBef>
                <a:spcPts val="0"/>
              </a:spcBef>
              <a:spcAft>
                <a:spcPts val="0"/>
              </a:spcAft>
              <a:buNone/>
            </a:pPr>
            <a:r>
              <a:rPr b="1" i="0" lang="en-US" sz="3999" u="none" cap="none" strike="noStrike">
                <a:solidFill>
                  <a:srgbClr val="EEE3B1"/>
                </a:solidFill>
                <a:latin typeface="Arial"/>
                <a:ea typeface="Arial"/>
                <a:cs typeface="Arial"/>
                <a:sym typeface="Arial"/>
              </a:rPr>
              <a:t>03</a:t>
            </a:r>
            <a:endParaRPr/>
          </a:p>
        </p:txBody>
      </p:sp>
      <p:sp>
        <p:nvSpPr>
          <p:cNvPr id="624" name="Google Shape;624;g3359ef02b44_1_22"/>
          <p:cNvSpPr/>
          <p:nvPr/>
        </p:nvSpPr>
        <p:spPr>
          <a:xfrm>
            <a:off x="12929868" y="398681"/>
            <a:ext cx="870958" cy="1074704"/>
          </a:xfrm>
          <a:custGeom>
            <a:rect b="b" l="l" r="r" t="t"/>
            <a:pathLst>
              <a:path extrusionOk="0" h="1074704" w="870958">
                <a:moveTo>
                  <a:pt x="0" y="0"/>
                </a:moveTo>
                <a:lnTo>
                  <a:pt x="870958" y="0"/>
                </a:lnTo>
                <a:lnTo>
                  <a:pt x="870958" y="1074704"/>
                </a:lnTo>
                <a:lnTo>
                  <a:pt x="0" y="1074704"/>
                </a:lnTo>
                <a:lnTo>
                  <a:pt x="0" y="0"/>
                </a:lnTo>
                <a:close/>
              </a:path>
            </a:pathLst>
          </a:custGeom>
          <a:blipFill rotWithShape="1">
            <a:blip r:embed="rId3">
              <a:alphaModFix/>
            </a:blip>
            <a:stretch>
              <a:fillRect b="0" l="0" r="0" t="0"/>
            </a:stretch>
          </a:blipFill>
          <a:ln>
            <a:noFill/>
          </a:ln>
        </p:spPr>
      </p:sp>
      <p:sp>
        <p:nvSpPr>
          <p:cNvPr id="625" name="Google Shape;625;g3359ef02b44_1_22"/>
          <p:cNvSpPr/>
          <p:nvPr/>
        </p:nvSpPr>
        <p:spPr>
          <a:xfrm rot="1282585">
            <a:off x="11287292" y="-106718"/>
            <a:ext cx="1351560" cy="1393361"/>
          </a:xfrm>
          <a:custGeom>
            <a:rect b="b" l="l" r="r" t="t"/>
            <a:pathLst>
              <a:path extrusionOk="0" h="1391427" w="1349684">
                <a:moveTo>
                  <a:pt x="0" y="0"/>
                </a:moveTo>
                <a:lnTo>
                  <a:pt x="1349684" y="0"/>
                </a:lnTo>
                <a:lnTo>
                  <a:pt x="1349684" y="1391427"/>
                </a:lnTo>
                <a:lnTo>
                  <a:pt x="0" y="1391427"/>
                </a:lnTo>
                <a:lnTo>
                  <a:pt x="0" y="0"/>
                </a:lnTo>
                <a:close/>
              </a:path>
            </a:pathLst>
          </a:custGeom>
          <a:blipFill rotWithShape="1">
            <a:blip r:embed="rId4">
              <a:alphaModFix/>
            </a:blip>
            <a:stretch>
              <a:fillRect b="0" l="0" r="0" t="0"/>
            </a:stretch>
          </a:blipFill>
          <a:ln>
            <a:noFill/>
          </a:ln>
        </p:spPr>
      </p:sp>
      <p:sp>
        <p:nvSpPr>
          <p:cNvPr id="626" name="Google Shape;626;g3359ef02b44_1_22"/>
          <p:cNvSpPr/>
          <p:nvPr/>
        </p:nvSpPr>
        <p:spPr>
          <a:xfrm>
            <a:off x="14255959" y="132531"/>
            <a:ext cx="1258008" cy="1289163"/>
          </a:xfrm>
          <a:custGeom>
            <a:rect b="b" l="l" r="r" t="t"/>
            <a:pathLst>
              <a:path extrusionOk="0" h="1289163" w="1258008">
                <a:moveTo>
                  <a:pt x="0" y="0"/>
                </a:moveTo>
                <a:lnTo>
                  <a:pt x="1258007" y="0"/>
                </a:lnTo>
                <a:lnTo>
                  <a:pt x="1258007" y="1289162"/>
                </a:lnTo>
                <a:lnTo>
                  <a:pt x="0" y="1289162"/>
                </a:lnTo>
                <a:lnTo>
                  <a:pt x="0" y="0"/>
                </a:lnTo>
                <a:close/>
              </a:path>
            </a:pathLst>
          </a:custGeom>
          <a:blipFill rotWithShape="1">
            <a:blip r:embed="rId5">
              <a:alphaModFix/>
            </a:blip>
            <a:stretch>
              <a:fillRect b="0" l="0" r="0" t="0"/>
            </a:stretch>
          </a:blipFill>
          <a:ln>
            <a:noFill/>
          </a:ln>
        </p:spPr>
      </p:sp>
      <p:sp>
        <p:nvSpPr>
          <p:cNvPr id="627" name="Google Shape;627;g3359ef02b44_1_22"/>
          <p:cNvSpPr/>
          <p:nvPr/>
        </p:nvSpPr>
        <p:spPr>
          <a:xfrm>
            <a:off x="15662776" y="-44985"/>
            <a:ext cx="1459264" cy="1962035"/>
          </a:xfrm>
          <a:custGeom>
            <a:rect b="b" l="l" r="r" t="t"/>
            <a:pathLst>
              <a:path extrusionOk="0" h="1962035" w="1459264">
                <a:moveTo>
                  <a:pt x="0" y="0"/>
                </a:moveTo>
                <a:lnTo>
                  <a:pt x="1459264" y="0"/>
                </a:lnTo>
                <a:lnTo>
                  <a:pt x="1459264" y="1962036"/>
                </a:lnTo>
                <a:lnTo>
                  <a:pt x="0" y="1962036"/>
                </a:lnTo>
                <a:lnTo>
                  <a:pt x="0" y="0"/>
                </a:lnTo>
                <a:close/>
              </a:path>
            </a:pathLst>
          </a:custGeom>
          <a:blipFill rotWithShape="1">
            <a:blip r:embed="rId6">
              <a:alphaModFix/>
            </a:blip>
            <a:stretch>
              <a:fillRect b="0" l="0" r="0" t="0"/>
            </a:stretch>
          </a:blipFill>
          <a:ln>
            <a:noFill/>
          </a:ln>
        </p:spPr>
      </p:sp>
      <p:sp>
        <p:nvSpPr>
          <p:cNvPr id="628" name="Google Shape;628;g3359ef02b44_1_22"/>
          <p:cNvSpPr txBox="1"/>
          <p:nvPr/>
        </p:nvSpPr>
        <p:spPr>
          <a:xfrm>
            <a:off x="1374025" y="1577613"/>
            <a:ext cx="10888200" cy="4002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t/>
            </a:r>
            <a:endParaRPr/>
          </a:p>
        </p:txBody>
      </p:sp>
      <p:pic>
        <p:nvPicPr>
          <p:cNvPr id="629" name="Google Shape;629;g3359ef02b44_1_22" title="Screenshot 2025-03-13 at 12.04.01 AM.png"/>
          <p:cNvPicPr preferRelativeResize="0"/>
          <p:nvPr/>
        </p:nvPicPr>
        <p:blipFill>
          <a:blip r:embed="rId7">
            <a:alphaModFix/>
          </a:blip>
          <a:stretch>
            <a:fillRect/>
          </a:stretch>
        </p:blipFill>
        <p:spPr>
          <a:xfrm>
            <a:off x="566425" y="1917050"/>
            <a:ext cx="15402675" cy="787356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3B1"/>
        </a:solidFill>
      </p:bgPr>
    </p:bg>
    <p:spTree>
      <p:nvGrpSpPr>
        <p:cNvPr id="633" name="Shape 633"/>
        <p:cNvGrpSpPr/>
        <p:nvPr/>
      </p:nvGrpSpPr>
      <p:grpSpPr>
        <a:xfrm>
          <a:off x="0" y="0"/>
          <a:ext cx="0" cy="0"/>
          <a:chOff x="0" y="0"/>
          <a:chExt cx="0" cy="0"/>
        </a:xfrm>
      </p:grpSpPr>
      <p:sp>
        <p:nvSpPr>
          <p:cNvPr id="634" name="Google Shape;634;g3359ef02b44_1_38"/>
          <p:cNvSpPr txBox="1"/>
          <p:nvPr/>
        </p:nvSpPr>
        <p:spPr>
          <a:xfrm>
            <a:off x="566425" y="561625"/>
            <a:ext cx="11695800" cy="923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lang="en-US" sz="6000">
                <a:solidFill>
                  <a:srgbClr val="1D5732"/>
                </a:solidFill>
              </a:rPr>
              <a:t>Appendix - Clustering</a:t>
            </a:r>
            <a:endParaRPr sz="6000">
              <a:solidFill>
                <a:srgbClr val="1D5732"/>
              </a:solidFill>
            </a:endParaRPr>
          </a:p>
        </p:txBody>
      </p:sp>
      <p:sp>
        <p:nvSpPr>
          <p:cNvPr id="635" name="Google Shape;635;g3359ef02b44_1_38"/>
          <p:cNvSpPr txBox="1"/>
          <p:nvPr/>
        </p:nvSpPr>
        <p:spPr>
          <a:xfrm>
            <a:off x="15969090" y="962025"/>
            <a:ext cx="1267800" cy="615600"/>
          </a:xfrm>
          <a:prstGeom prst="rect">
            <a:avLst/>
          </a:prstGeom>
          <a:noFill/>
          <a:ln>
            <a:noFill/>
          </a:ln>
        </p:spPr>
        <p:txBody>
          <a:bodyPr anchorCtr="0" anchor="t" bIns="0" lIns="0" spcFirstLastPara="1" rIns="0" wrap="square" tIns="0">
            <a:spAutoFit/>
          </a:bodyPr>
          <a:lstStyle/>
          <a:p>
            <a:pPr indent="0" lvl="0" marL="0" marR="0" rtl="0" algn="r">
              <a:lnSpc>
                <a:spcPct val="140010"/>
              </a:lnSpc>
              <a:spcBef>
                <a:spcPts val="0"/>
              </a:spcBef>
              <a:spcAft>
                <a:spcPts val="0"/>
              </a:spcAft>
              <a:buNone/>
            </a:pPr>
            <a:r>
              <a:rPr b="1" i="0" lang="en-US" sz="3999" u="none" cap="none" strike="noStrike">
                <a:solidFill>
                  <a:srgbClr val="EEE3B1"/>
                </a:solidFill>
                <a:latin typeface="Arial"/>
                <a:ea typeface="Arial"/>
                <a:cs typeface="Arial"/>
                <a:sym typeface="Arial"/>
              </a:rPr>
              <a:t>03</a:t>
            </a:r>
            <a:endParaRPr/>
          </a:p>
        </p:txBody>
      </p:sp>
      <p:sp>
        <p:nvSpPr>
          <p:cNvPr id="636" name="Google Shape;636;g3359ef02b44_1_38"/>
          <p:cNvSpPr/>
          <p:nvPr/>
        </p:nvSpPr>
        <p:spPr>
          <a:xfrm>
            <a:off x="12929868" y="398681"/>
            <a:ext cx="870958" cy="1074704"/>
          </a:xfrm>
          <a:custGeom>
            <a:rect b="b" l="l" r="r" t="t"/>
            <a:pathLst>
              <a:path extrusionOk="0" h="1074704" w="870958">
                <a:moveTo>
                  <a:pt x="0" y="0"/>
                </a:moveTo>
                <a:lnTo>
                  <a:pt x="870958" y="0"/>
                </a:lnTo>
                <a:lnTo>
                  <a:pt x="870958" y="1074704"/>
                </a:lnTo>
                <a:lnTo>
                  <a:pt x="0" y="1074704"/>
                </a:lnTo>
                <a:lnTo>
                  <a:pt x="0" y="0"/>
                </a:lnTo>
                <a:close/>
              </a:path>
            </a:pathLst>
          </a:custGeom>
          <a:blipFill rotWithShape="1">
            <a:blip r:embed="rId3">
              <a:alphaModFix/>
            </a:blip>
            <a:stretch>
              <a:fillRect b="0" l="0" r="0" t="0"/>
            </a:stretch>
          </a:blipFill>
          <a:ln>
            <a:noFill/>
          </a:ln>
        </p:spPr>
      </p:sp>
      <p:sp>
        <p:nvSpPr>
          <p:cNvPr id="637" name="Google Shape;637;g3359ef02b44_1_38"/>
          <p:cNvSpPr/>
          <p:nvPr/>
        </p:nvSpPr>
        <p:spPr>
          <a:xfrm rot="1282585">
            <a:off x="11287292" y="-106718"/>
            <a:ext cx="1351560" cy="1393361"/>
          </a:xfrm>
          <a:custGeom>
            <a:rect b="b" l="l" r="r" t="t"/>
            <a:pathLst>
              <a:path extrusionOk="0" h="1391427" w="1349684">
                <a:moveTo>
                  <a:pt x="0" y="0"/>
                </a:moveTo>
                <a:lnTo>
                  <a:pt x="1349684" y="0"/>
                </a:lnTo>
                <a:lnTo>
                  <a:pt x="1349684" y="1391427"/>
                </a:lnTo>
                <a:lnTo>
                  <a:pt x="0" y="1391427"/>
                </a:lnTo>
                <a:lnTo>
                  <a:pt x="0" y="0"/>
                </a:lnTo>
                <a:close/>
              </a:path>
            </a:pathLst>
          </a:custGeom>
          <a:blipFill rotWithShape="1">
            <a:blip r:embed="rId4">
              <a:alphaModFix/>
            </a:blip>
            <a:stretch>
              <a:fillRect b="0" l="0" r="0" t="0"/>
            </a:stretch>
          </a:blipFill>
          <a:ln>
            <a:noFill/>
          </a:ln>
        </p:spPr>
      </p:sp>
      <p:sp>
        <p:nvSpPr>
          <p:cNvPr id="638" name="Google Shape;638;g3359ef02b44_1_38"/>
          <p:cNvSpPr/>
          <p:nvPr/>
        </p:nvSpPr>
        <p:spPr>
          <a:xfrm>
            <a:off x="14255959" y="132531"/>
            <a:ext cx="1258008" cy="1289163"/>
          </a:xfrm>
          <a:custGeom>
            <a:rect b="b" l="l" r="r" t="t"/>
            <a:pathLst>
              <a:path extrusionOk="0" h="1289163" w="1258008">
                <a:moveTo>
                  <a:pt x="0" y="0"/>
                </a:moveTo>
                <a:lnTo>
                  <a:pt x="1258007" y="0"/>
                </a:lnTo>
                <a:lnTo>
                  <a:pt x="1258007" y="1289162"/>
                </a:lnTo>
                <a:lnTo>
                  <a:pt x="0" y="1289162"/>
                </a:lnTo>
                <a:lnTo>
                  <a:pt x="0" y="0"/>
                </a:lnTo>
                <a:close/>
              </a:path>
            </a:pathLst>
          </a:custGeom>
          <a:blipFill rotWithShape="1">
            <a:blip r:embed="rId5">
              <a:alphaModFix/>
            </a:blip>
            <a:stretch>
              <a:fillRect b="0" l="0" r="0" t="0"/>
            </a:stretch>
          </a:blipFill>
          <a:ln>
            <a:noFill/>
          </a:ln>
        </p:spPr>
      </p:sp>
      <p:sp>
        <p:nvSpPr>
          <p:cNvPr id="639" name="Google Shape;639;g3359ef02b44_1_38"/>
          <p:cNvSpPr/>
          <p:nvPr/>
        </p:nvSpPr>
        <p:spPr>
          <a:xfrm>
            <a:off x="15662776" y="-44985"/>
            <a:ext cx="1459264" cy="1962035"/>
          </a:xfrm>
          <a:custGeom>
            <a:rect b="b" l="l" r="r" t="t"/>
            <a:pathLst>
              <a:path extrusionOk="0" h="1962035" w="1459264">
                <a:moveTo>
                  <a:pt x="0" y="0"/>
                </a:moveTo>
                <a:lnTo>
                  <a:pt x="1459264" y="0"/>
                </a:lnTo>
                <a:lnTo>
                  <a:pt x="1459264" y="1962036"/>
                </a:lnTo>
                <a:lnTo>
                  <a:pt x="0" y="1962036"/>
                </a:lnTo>
                <a:lnTo>
                  <a:pt x="0" y="0"/>
                </a:lnTo>
                <a:close/>
              </a:path>
            </a:pathLst>
          </a:custGeom>
          <a:blipFill rotWithShape="1">
            <a:blip r:embed="rId6">
              <a:alphaModFix/>
            </a:blip>
            <a:stretch>
              <a:fillRect b="0" l="0" r="0" t="0"/>
            </a:stretch>
          </a:blipFill>
          <a:ln>
            <a:noFill/>
          </a:ln>
        </p:spPr>
      </p:sp>
      <p:sp>
        <p:nvSpPr>
          <p:cNvPr id="640" name="Google Shape;640;g3359ef02b44_1_38"/>
          <p:cNvSpPr txBox="1"/>
          <p:nvPr/>
        </p:nvSpPr>
        <p:spPr>
          <a:xfrm>
            <a:off x="1374025" y="1577613"/>
            <a:ext cx="10888200" cy="400200"/>
          </a:xfrm>
          <a:prstGeom prst="rect">
            <a:avLst/>
          </a:prstGeom>
          <a:noFill/>
          <a:ln>
            <a:noFill/>
          </a:ln>
        </p:spPr>
        <p:txBody>
          <a:bodyPr anchorCtr="0" anchor="t" bIns="91425" lIns="91425" spcFirstLastPara="1" rIns="91425" wrap="square" tIns="91425">
            <a:spAutoFit/>
          </a:bodyPr>
          <a:lstStyle/>
          <a:p>
            <a:pPr indent="0" lvl="0" marL="0" rtl="0" algn="l">
              <a:lnSpc>
                <a:spcPct val="140000"/>
              </a:lnSpc>
              <a:spcBef>
                <a:spcPts val="0"/>
              </a:spcBef>
              <a:spcAft>
                <a:spcPts val="0"/>
              </a:spcAft>
              <a:buNone/>
            </a:pPr>
            <a:r>
              <a:t/>
            </a:r>
            <a:endParaRPr/>
          </a:p>
        </p:txBody>
      </p:sp>
      <p:pic>
        <p:nvPicPr>
          <p:cNvPr id="641" name="Google Shape;641;g3359ef02b44_1_38" title="Screenshot 2025-03-13 at 12.04.14 AM.png"/>
          <p:cNvPicPr preferRelativeResize="0"/>
          <p:nvPr/>
        </p:nvPicPr>
        <p:blipFill>
          <a:blip r:embed="rId7">
            <a:alphaModFix/>
          </a:blip>
          <a:stretch>
            <a:fillRect/>
          </a:stretch>
        </p:blipFill>
        <p:spPr>
          <a:xfrm>
            <a:off x="222050" y="2958976"/>
            <a:ext cx="17550174" cy="48803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